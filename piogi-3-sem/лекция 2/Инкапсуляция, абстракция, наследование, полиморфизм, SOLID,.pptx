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5" r:id="rId8"/>
    <p:sldId id="260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61" r:id="rId17"/>
    <p:sldId id="273" r:id="rId18"/>
    <p:sldId id="276" r:id="rId19"/>
    <p:sldId id="274" r:id="rId20"/>
    <p:sldId id="277" r:id="rId21"/>
    <p:sldId id="275" r:id="rId22"/>
    <p:sldId id="279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6" r:id="rId37"/>
    <p:sldId id="297" r:id="rId38"/>
    <p:sldId id="292" r:id="rId39"/>
    <p:sldId id="295" r:id="rId40"/>
    <p:sldId id="293" r:id="rId41"/>
    <p:sldId id="294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3" r:id="rId56"/>
    <p:sldId id="312" r:id="rId57"/>
    <p:sldId id="314" r:id="rId58"/>
    <p:sldId id="315" r:id="rId59"/>
    <p:sldId id="316" r:id="rId60"/>
    <p:sldId id="317" r:id="rId61"/>
    <p:sldId id="311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9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8C357-8D4A-6845-F7B8-6DFC3CFEE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5294FD-DB8E-281D-B642-45BA43040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52A078-2BEF-A4C9-2A52-7981D763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87B46D-882D-6DDE-C62B-213DB7BD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1B9325-5848-B23D-18F6-0F42AED2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12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78707E-075F-7020-6783-677A2B85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587091-EBE8-3E39-E1B5-37F33CF08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9A420F-2CA1-1B4E-9BE5-215DE7E1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AE3784-F787-CD83-38EB-A67A374AF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B563A0-EC0A-EDEC-0644-69049487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29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E8BDD1-CD8B-DFDE-A986-DB07CDC29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B705B0-C382-44DA-2CED-6745FDBE7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46A4F2-DC8C-184F-097F-32AC705FD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A70FC4-0FCA-E87F-DEE9-A2A1BF48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0E2DE0-F860-3915-67E6-5E29D0E4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88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8802C-1F8D-7A22-78BC-2CA556A9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75D132-FF7C-F346-E6AA-46C02D580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3AE8B0-9FF0-39A7-9126-0902CC2E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CE6C0A-CEC0-D212-3539-43A5DDED3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7D09B6-CF80-1FFE-93BE-C8812930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7AC9D7-D842-0DAD-A3C8-96E9295E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62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F85F8-0CEE-EEBA-5D54-58E14690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67B3B4-6984-968C-36CA-BEF2BBB2F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29DE63-5031-6EE5-179C-79E19167F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76CE8F-C13A-5943-3161-62DAD7171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8C1B1C3-0825-50E3-3C69-75EA4C189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C59D4BE-745C-A29C-66F2-975F122A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B6456B-8A88-3E60-8C7C-2A8C0CC0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467D81-63F3-959D-07D7-6B0729E2C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024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F75B9-9DC0-678B-D8DD-5382DAC8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36554F-C473-9DBC-8424-14AE08E4C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0417F3-1F22-40B5-E5E3-CB084F07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DD8A83-4FDA-29CA-005A-1663413D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467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209180-131F-771B-2BE9-CB28DBC2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F29EAC8-46DD-8D33-F166-51282366E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F90A14-A3BB-BE76-BF46-E348F197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9397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6D5B83-7009-F27D-0E4F-09777843B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2BBE55-7A85-03A3-612F-72FDFCD4B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4924EB-9399-7333-1519-997C1D238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D5D3B7-5B77-DDB8-D6EB-F2626B05C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ADD656-3768-3F1E-98CD-4788675D7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D76E5E-15F0-5187-F67B-51144605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55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9FA7D2-5385-C659-2614-A5A681352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9F7B1F-49CA-2507-18C9-ABFFA8B9E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49892E-397B-EDF5-2131-E7A555FA8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7DFE2F-75EC-68FD-6A5A-DD3D1B62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9F7038-0F9D-7C6D-8C56-5BA3D2C1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0EF114-A545-E8BF-DF0A-616ED0F3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92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037534-DC4C-8900-6C0B-20D38A61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471255-4E2F-781C-1C88-98D61B843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5A7AB9-A133-19F1-DDDA-CB47FB49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B5C9B5-2F6F-8115-B44D-CA89EC8D1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DA2C38-7713-C17F-5A8F-14B1B7C5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38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CE2952-96B6-7426-EC4F-BA1AD06FA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CE5957-130A-3ED7-01B2-29D1B4488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FE101D-894C-87DD-FE51-B4CD470C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77C79A-43B6-8E7A-284F-0E796849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33BA84-70D0-F6A9-FAAA-4B9C13C8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805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425DE-D998-CE1C-ED8D-CC09BDC4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A774FC-80A4-8535-6606-2BB81CFF3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D85D37-057D-A45A-B391-C8D0A6699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8FF54-9302-4C9D-A80E-E3F78935457A}" type="datetimeFigureOut">
              <a:rPr lang="ru-RU" smtClean="0"/>
              <a:t>16.09.2025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663297-165B-5048-7D04-A9A34CE59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0F9EA1-FEEA-4B0B-29C3-D66B1A14C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6212B-5ED0-4C45-A681-1DA8FA7F5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2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17380-81F9-41A3-159B-2C4156FAA1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Инкапсуляция, абстракция, наследование, полиморфизм,</a:t>
            </a:r>
            <a:br>
              <a:rPr lang="ru-RU" dirty="0"/>
            </a:br>
            <a:r>
              <a:rPr lang="en-US" dirty="0"/>
              <a:t>SOLID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25406A-23B8-A98C-17DD-B1CF2D3462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Будет </a:t>
            </a:r>
            <a:r>
              <a:rPr lang="ru-RU" sz="2000" strike="sngStrike" dirty="0"/>
              <a:t>больно </a:t>
            </a:r>
            <a:r>
              <a:rPr lang="ru-RU" dirty="0"/>
              <a:t>весело</a:t>
            </a:r>
          </a:p>
        </p:txBody>
      </p:sp>
    </p:spTree>
    <p:extLst>
      <p:ext uri="{BB962C8B-B14F-4D97-AF65-F5344CB8AC3E}">
        <p14:creationId xmlns:p14="http://schemas.microsoft.com/office/powerpoint/2010/main" val="78368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84620-166D-96C9-8E9E-F31F06BD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E60131-8E0C-D28C-9E74-E45831BF9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Инкапсуляция</a:t>
            </a:r>
            <a:r>
              <a:rPr lang="ru-RU" dirty="0"/>
              <a:t> в объектно-ориентированном программировании (ООП) - принцип, который объединяет данные и методы, работающие с ними, в единое целое.</a:t>
            </a:r>
          </a:p>
          <a:p>
            <a:pPr marL="0" indent="0">
              <a:buNone/>
            </a:pPr>
            <a:r>
              <a:rPr lang="ru-RU" b="1" i="0" dirty="0">
                <a:effectLst/>
                <a:latin typeface="YS Text"/>
              </a:rPr>
              <a:t>Суть</a:t>
            </a:r>
            <a:r>
              <a:rPr lang="ru-RU" b="0" i="0" dirty="0">
                <a:effectLst/>
                <a:latin typeface="YS Text"/>
              </a:rPr>
              <a:t>: все данные и функции, необходимые для работы объекта, сосредоточены внутри него самого. Объект сам управляет своим состоянием и своими действиями. Внешнему коду доступны только те элементы объекта, которые явно определены как открытые — обычно это отдельные методы или атрибуты. Если данные объекта нужно изменить или получить, это делается через специальные методы, прямой доступ к внутренним данным ограничивается.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489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84620-166D-96C9-8E9E-F31F06BD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 (будь проще)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E60131-8E0C-D28C-9E74-E45831BF9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Принцип "чёрного ящика". Мы жмем на педаль газа, и нам нет разницы, как там работает инжектор (и прочие автомобильные штучки). Все сложности спрятаны внутри, наружу торчит только простой интерфейс (педали и руль). Защита от самого себя из будущего, когда ты забыл как устроен класс.</a:t>
            </a:r>
          </a:p>
        </p:txBody>
      </p:sp>
    </p:spTree>
    <p:extLst>
      <p:ext uri="{BB962C8B-B14F-4D97-AF65-F5344CB8AC3E}">
        <p14:creationId xmlns:p14="http://schemas.microsoft.com/office/powerpoint/2010/main" val="230646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84620-166D-96C9-8E9E-F31F06BD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E60131-8E0C-D28C-9E74-E45831BF9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i="0" dirty="0">
                <a:effectLst/>
                <a:latin typeface="YS Text"/>
              </a:rPr>
              <a:t>Абстракция в объектно-ориентированном программировании (ООП) - </a:t>
            </a:r>
            <a:r>
              <a:rPr lang="ru-RU" i="0" dirty="0">
                <a:effectLst/>
                <a:latin typeface="YS Text"/>
              </a:rPr>
              <a:t>придание объекту характеристик, которые отличают его от всех объектов, чётко определяя его концептуальные границы.</a:t>
            </a:r>
          </a:p>
          <a:p>
            <a:pPr marL="0" indent="0">
              <a:buNone/>
            </a:pPr>
            <a:endParaRPr lang="ru-RU" dirty="0">
              <a:latin typeface="YS Text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YS Text"/>
              </a:rPr>
              <a:t>Абстракция позволяет </a:t>
            </a:r>
            <a:r>
              <a:rPr lang="ru-RU" b="1" i="0" dirty="0">
                <a:effectLst/>
                <a:latin typeface="YS Text"/>
              </a:rPr>
              <a:t>выделить главные и наиболее значимые свойства предмета</a:t>
            </a:r>
            <a:r>
              <a:rPr lang="ru-RU" b="0" i="0" dirty="0">
                <a:effectLst/>
                <a:latin typeface="YS Text"/>
              </a:rPr>
              <a:t> и отбросить второстепенные характеристики и реализацию.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370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884620-166D-96C9-8E9E-F31F06BD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 (будь еще проще)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E60131-8E0C-D28C-9E74-E45831BF9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Принцип «мне неинтересно, как ты это делаешь, просто сделай». Мы создаём контракт (</a:t>
            </a:r>
            <a:r>
              <a:rPr lang="ru-RU" i="0" dirty="0" err="1">
                <a:effectLst/>
                <a:latin typeface="YS Text"/>
              </a:rPr>
              <a:t>abstract</a:t>
            </a:r>
            <a:r>
              <a:rPr lang="ru-RU" i="0" dirty="0">
                <a:effectLst/>
                <a:latin typeface="YS Text"/>
              </a:rPr>
              <a:t> </a:t>
            </a:r>
            <a:r>
              <a:rPr lang="ru-RU" i="0" dirty="0" err="1">
                <a:effectLst/>
                <a:latin typeface="YS Text"/>
              </a:rPr>
              <a:t>class</a:t>
            </a:r>
            <a:r>
              <a:rPr lang="ru-RU" i="0" dirty="0">
                <a:effectLst/>
                <a:latin typeface="YS Text"/>
              </a:rPr>
              <a:t> </a:t>
            </a:r>
            <a:r>
              <a:rPr lang="ru-RU" i="0" dirty="0" err="1">
                <a:effectLst/>
                <a:latin typeface="YS Text"/>
              </a:rPr>
              <a:t>Shape</a:t>
            </a:r>
            <a:r>
              <a:rPr lang="ru-RU" i="0" dirty="0">
                <a:effectLst/>
                <a:latin typeface="YS Text"/>
              </a:rPr>
              <a:t>), который говорит: «Любая фигура обязана уметь рисоваться и считать площадь». </a:t>
            </a:r>
          </a:p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А как именно - решает каждый конкретный наследник. Нельзя создать </a:t>
            </a:r>
            <a:r>
              <a:rPr lang="ru-RU" dirty="0">
                <a:latin typeface="YS Text"/>
              </a:rPr>
              <a:t>«</a:t>
            </a:r>
            <a:r>
              <a:rPr lang="ru-RU" i="0" dirty="0">
                <a:effectLst/>
                <a:latin typeface="YS Text"/>
              </a:rPr>
              <a:t>просто фигуру», которая ничего не умеет.</a:t>
            </a:r>
          </a:p>
        </p:txBody>
      </p:sp>
    </p:spTree>
    <p:extLst>
      <p:ext uri="{BB962C8B-B14F-4D97-AF65-F5344CB8AC3E}">
        <p14:creationId xmlns:p14="http://schemas.microsoft.com/office/powerpoint/2010/main" val="224811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817D7-9D07-E650-2C0E-C007C259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YS Text"/>
              </a:rPr>
              <a:t>Наследование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3323F4-25DB-F8CC-E9D4-80961EA1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Наследование в объектно-ориентированном программировании (ООП) - принцип, который позволяет создавать иерархии классов. Дочерние классы могут наследовать данные и методы от родительских классов.</a:t>
            </a:r>
          </a:p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При этом дочерние классы также могут расширять функциональность родительских - иметь собственные поля и методы.</a:t>
            </a:r>
          </a:p>
          <a:p>
            <a:pPr marL="0" indent="0">
              <a:buNone/>
            </a:pPr>
            <a:endParaRPr lang="ru-RU" dirty="0">
              <a:latin typeface="YS Text"/>
            </a:endParaRPr>
          </a:p>
          <a:p>
            <a:pPr marL="0" indent="0">
              <a:buNone/>
            </a:pPr>
            <a:r>
              <a:rPr lang="ru-RU" b="0" i="0" dirty="0">
                <a:effectLst/>
                <a:latin typeface="YS Text"/>
              </a:rPr>
              <a:t>Наследование помогает </a:t>
            </a:r>
            <a:r>
              <a:rPr lang="ru-RU" b="1" i="0" dirty="0">
                <a:effectLst/>
                <a:latin typeface="YS Text"/>
              </a:rPr>
              <a:t>избежать лишнего дублирования кода.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108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817D7-9D07-E650-2C0E-C007C259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YS Text"/>
              </a:rPr>
              <a:t>Наследование (чуточку проще)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3323F4-25DB-F8CC-E9D4-80961EA1D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Принцип «не изобретай велосипед». Сделал «Транспортное средство», а потом на его основе «Машину» и «Мотоцикл», добавив им уникальные детали, но не переписывая с нуля про колёса и двигатель.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6827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45DF4-FDAD-CFE1-93ED-A6596B21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94C101-0B36-FF10-0DD6-65BFD61C1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Полиморфизм в объектно-ориентированном программировании (ООП) - возможность объектов разных классов использовать один и тот же интерфейс (методы с одинаковым названием), но при этом реализовывать их по-разному. </a:t>
            </a:r>
          </a:p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Слово «полиморфизм» происходит из греческого языка и буквально означает «много форм».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8656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45DF4-FDAD-CFE1-93ED-A6596B21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 (да кто такой этот проще)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94C101-0B36-FF10-0DD6-65BFD61C1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Одна кнопка - разные действия. Убийца </a:t>
            </a:r>
            <a:r>
              <a:rPr lang="ru-RU" i="0" dirty="0" err="1">
                <a:effectLst/>
                <a:latin typeface="YS Text"/>
              </a:rPr>
              <a:t>if-else</a:t>
            </a:r>
            <a:r>
              <a:rPr lang="ru-RU" i="0" dirty="0">
                <a:effectLst/>
                <a:latin typeface="YS Text"/>
              </a:rPr>
              <a:t>. Ты говоришь «Рисуйся» (</a:t>
            </a:r>
            <a:r>
              <a:rPr lang="ru-RU" i="0" dirty="0" err="1">
                <a:effectLst/>
                <a:latin typeface="YS Text"/>
              </a:rPr>
              <a:t>shape.Draw</a:t>
            </a:r>
            <a:r>
              <a:rPr lang="ru-RU" i="0" dirty="0">
                <a:effectLst/>
                <a:latin typeface="YS Text"/>
              </a:rPr>
              <a:t>()) любому объекту, и разницы нет, круг это или квадрат - он сам знает, как себя нарисовать.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818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3D390-97E7-04C4-D0BF-06C34FEE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5FD30-8AE5-4C80-7CFC-5697D02E1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SOLID (</a:t>
            </a:r>
            <a:r>
              <a:rPr lang="ru-RU" dirty="0"/>
              <a:t>сокр. от англ. </a:t>
            </a:r>
            <a:r>
              <a:rPr lang="en-US" dirty="0"/>
              <a:t>single responsibility, open–closed, </a:t>
            </a:r>
            <a:r>
              <a:rPr lang="en-US" dirty="0" err="1"/>
              <a:t>Liskov</a:t>
            </a:r>
            <a:r>
              <a:rPr lang="en-US" dirty="0"/>
              <a:t> substitution, interface segregation </a:t>
            </a:r>
            <a:r>
              <a:rPr lang="ru-RU" dirty="0"/>
              <a:t>и </a:t>
            </a:r>
            <a:r>
              <a:rPr lang="en-US" dirty="0"/>
              <a:t>dependency inversion) </a:t>
            </a:r>
            <a:r>
              <a:rPr lang="ru-RU" dirty="0"/>
              <a:t>в программировании — мнемонический акроним, введённый Майклом </a:t>
            </a:r>
            <a:r>
              <a:rPr lang="ru-RU" dirty="0" err="1"/>
              <a:t>Фэзерсом</a:t>
            </a:r>
            <a:r>
              <a:rPr lang="ru-RU" dirty="0"/>
              <a:t> (</a:t>
            </a:r>
            <a:r>
              <a:rPr lang="en-US" dirty="0"/>
              <a:t>Michael Feathers) </a:t>
            </a:r>
            <a:r>
              <a:rPr lang="ru-RU" dirty="0"/>
              <a:t>для первых пяти принципов, названных Робертом Мартином</a:t>
            </a:r>
            <a:r>
              <a:rPr lang="en-US" dirty="0"/>
              <a:t> </a:t>
            </a:r>
            <a:r>
              <a:rPr lang="ru-RU" dirty="0"/>
              <a:t>в начале 2000-х, которые означали </a:t>
            </a:r>
            <a:r>
              <a:rPr lang="ru-RU" b="1" dirty="0"/>
              <a:t>5 основных принципов объектно-ориентированных проектирования и программирования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i="1" dirty="0"/>
              <a:t>Код - это не слова, это решения проблем. А эти термины - названия для самых лучших решений, которые придумали до вас</a:t>
            </a:r>
          </a:p>
        </p:txBody>
      </p:sp>
    </p:spTree>
    <p:extLst>
      <p:ext uri="{BB962C8B-B14F-4D97-AF65-F5344CB8AC3E}">
        <p14:creationId xmlns:p14="http://schemas.microsoft.com/office/powerpoint/2010/main" val="324555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3D390-97E7-04C4-D0BF-06C34FEE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S – SRP (Single </a:t>
            </a:r>
            <a:r>
              <a:rPr lang="ru-RU" dirty="0" err="1"/>
              <a:t>Responsibility</a:t>
            </a:r>
            <a:r>
              <a:rPr lang="ru-RU" dirty="0"/>
              <a:t> </a:t>
            </a:r>
            <a:r>
              <a:rPr lang="ru-RU" dirty="0" err="1"/>
              <a:t>Principle</a:t>
            </a:r>
            <a:r>
              <a:rPr lang="ru-RU" dirty="0"/>
              <a:t> / Принцип единственной ответственности)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5FD30-8AE5-4C80-7CFC-5697D02E1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Проблема, которую решает: Класс-швейцарский-нож, который ломается от любого чиха. Вся логика написана в одном классе.</a:t>
            </a:r>
          </a:p>
          <a:p>
            <a:pPr marL="0" indent="0">
              <a:buNone/>
            </a:pPr>
            <a:r>
              <a:rPr lang="ru-RU" dirty="0"/>
              <a:t>Суть: Один класс - одна, задача. Класс User хранит данные юзера. Класс </a:t>
            </a:r>
            <a:r>
              <a:rPr lang="ru-RU" dirty="0" err="1"/>
              <a:t>UserDbSaver</a:t>
            </a:r>
            <a:r>
              <a:rPr lang="ru-RU" dirty="0"/>
              <a:t> сохраняет его в базу. Не следует мешать все в одну кучу.</a:t>
            </a:r>
          </a:p>
        </p:txBody>
      </p:sp>
    </p:spTree>
    <p:extLst>
      <p:ext uri="{BB962C8B-B14F-4D97-AF65-F5344CB8AC3E}">
        <p14:creationId xmlns:p14="http://schemas.microsoft.com/office/powerpoint/2010/main" val="990565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3D390-97E7-04C4-D0BF-06C34FEE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 – OCP (Open/</a:t>
            </a:r>
            <a:r>
              <a:rPr lang="ru-RU" dirty="0" err="1"/>
              <a:t>Closed</a:t>
            </a:r>
            <a:r>
              <a:rPr lang="ru-RU" dirty="0"/>
              <a:t> </a:t>
            </a:r>
            <a:r>
              <a:rPr lang="ru-RU" dirty="0" err="1"/>
              <a:t>Principle</a:t>
            </a:r>
            <a:r>
              <a:rPr lang="ru-RU" dirty="0"/>
              <a:t> / Принцип открытости/закрытости)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5FD30-8AE5-4C80-7CFC-5697D02E1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Проблема, которую решает: Страх трогать старый код, потому что всё может сломаться.</a:t>
            </a:r>
          </a:p>
          <a:p>
            <a:pPr marL="0" indent="0">
              <a:buNone/>
            </a:pPr>
            <a:r>
              <a:rPr lang="ru-RU" dirty="0"/>
              <a:t>Суть: Пишем код, как Лего. Мы должны иметь возможность прицепить новую деталь (расширить функционал), но не должен для этого ломать или переплавлять старые детали (изменять рабочий код).</a:t>
            </a:r>
          </a:p>
        </p:txBody>
      </p:sp>
    </p:spTree>
    <p:extLst>
      <p:ext uri="{BB962C8B-B14F-4D97-AF65-F5344CB8AC3E}">
        <p14:creationId xmlns:p14="http://schemas.microsoft.com/office/powerpoint/2010/main" val="2484610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3D390-97E7-04C4-D0BF-06C34FEE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 – LSP (</a:t>
            </a:r>
            <a:r>
              <a:rPr lang="en-US" dirty="0" err="1"/>
              <a:t>Liskov</a:t>
            </a:r>
            <a:r>
              <a:rPr lang="en-US" dirty="0"/>
              <a:t> Substitution Principle / </a:t>
            </a:r>
            <a:r>
              <a:rPr lang="ru-RU" dirty="0"/>
              <a:t>Принцип подстановки Барбары Лисков)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5FD30-8AE5-4C80-7CFC-5697D02E1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Проблема, которую решает: Наследники, которые притворяются родителями, но ведут себя неадекватно.</a:t>
            </a:r>
          </a:p>
          <a:p>
            <a:pPr marL="0" indent="0">
              <a:buNone/>
            </a:pPr>
            <a:r>
              <a:rPr lang="ru-RU" dirty="0"/>
              <a:t>Суть: Если ты меняешь родителя на его потомка, программа не должна этого заметить и упасть. Потомок должен полностью соответствовать «контракту» поведения родителя.</a:t>
            </a:r>
          </a:p>
        </p:txBody>
      </p:sp>
    </p:spTree>
    <p:extLst>
      <p:ext uri="{BB962C8B-B14F-4D97-AF65-F5344CB8AC3E}">
        <p14:creationId xmlns:p14="http://schemas.microsoft.com/office/powerpoint/2010/main" val="4219200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3D390-97E7-04C4-D0BF-06C34FEE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– ISP (Interface Segregation Principle / </a:t>
            </a:r>
            <a:r>
              <a:rPr lang="ru-RU" dirty="0"/>
              <a:t>Принцип разделения интерфейса)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5FD30-8AE5-4C80-7CFC-5697D02E1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Проблема, которую решает: Жирные, бестолковые интерфейсы, которые заставляют реализовывать ненужные методы. Интерфейсы должны быть маленькими и специфическими, а не обширными и обобщёнными.</a:t>
            </a:r>
          </a:p>
          <a:p>
            <a:pPr marL="0" indent="0">
              <a:buNone/>
            </a:pPr>
            <a:r>
              <a:rPr lang="ru-RU" dirty="0"/>
              <a:t>Суть: Лучше много маленьких и конкретных интерфейсов (</a:t>
            </a:r>
            <a:r>
              <a:rPr lang="ru-RU" dirty="0" err="1"/>
              <a:t>IClickable</a:t>
            </a:r>
            <a:r>
              <a:rPr lang="ru-RU" dirty="0"/>
              <a:t>, </a:t>
            </a:r>
            <a:r>
              <a:rPr lang="ru-RU" dirty="0" err="1"/>
              <a:t>IDrawable</a:t>
            </a:r>
            <a:r>
              <a:rPr lang="ru-RU" dirty="0"/>
              <a:t>), чем один большой (</a:t>
            </a:r>
            <a:r>
              <a:rPr lang="ru-RU" dirty="0" err="1"/>
              <a:t>IAllMightyGodObject</a:t>
            </a:r>
            <a:r>
              <a:rPr lang="ru-RU" dirty="0"/>
              <a:t>). Не заставляй класс реализовывать то, что ему не нужно.</a:t>
            </a:r>
          </a:p>
        </p:txBody>
      </p:sp>
    </p:spTree>
    <p:extLst>
      <p:ext uri="{BB962C8B-B14F-4D97-AF65-F5344CB8AC3E}">
        <p14:creationId xmlns:p14="http://schemas.microsoft.com/office/powerpoint/2010/main" val="846997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3D390-97E7-04C4-D0BF-06C34FEEB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 – DIP (Dependency Inversion Principle / </a:t>
            </a:r>
            <a:r>
              <a:rPr lang="ru-RU" dirty="0"/>
              <a:t>Принцип инверсии зависимостей)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B5FD30-8AE5-4C80-7CFC-5697D02E1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Проблема, которую решает: Жестко спаянный код, который невозможно тестировать и менять. </a:t>
            </a:r>
            <a:r>
              <a:rPr lang="ru-RU" b="0" i="0" dirty="0">
                <a:effectLst/>
                <a:latin typeface="YS Text"/>
              </a:rPr>
              <a:t>Модули высокого уровня должны зависеть от абстракций, а не от модулей низкого уровня.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Суть: Зависеть от абстракций (интерфейсов, абстрактных классов), а не от конкретики. Твой модуль не должен знать, что он работает именно с </a:t>
            </a:r>
            <a:r>
              <a:rPr lang="ru-RU" dirty="0" err="1"/>
              <a:t>MySqlDatabase</a:t>
            </a:r>
            <a:r>
              <a:rPr lang="ru-RU" dirty="0"/>
              <a:t>. Он должен знать, что работает с чем-то, что реализует </a:t>
            </a:r>
            <a:r>
              <a:rPr lang="ru-RU" dirty="0" err="1"/>
              <a:t>IDatabase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76891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A3E6A-A94F-FB86-3579-76C58BE4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Это все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95EF61-12EC-208B-61D7-17499721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6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655905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9BB35-E0F6-4181-5524-A6212111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спагетти-кода до </a:t>
            </a:r>
            <a:r>
              <a:rPr lang="en-US" dirty="0"/>
              <a:t>SOLID'</a:t>
            </a:r>
            <a:r>
              <a:rPr lang="ru-RU" dirty="0" err="1"/>
              <a:t>ного</a:t>
            </a:r>
            <a:r>
              <a:rPr lang="ru-RU" dirty="0"/>
              <a:t> блюда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37C356-4399-B66E-E28A-CCA6D7413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Общая идея: Мы пишем убогий графический редактор. На каждом шаге сталкиваемся с </a:t>
            </a:r>
            <a:r>
              <a:rPr lang="en-US" dirty="0"/>
              <a:t>sheet-</a:t>
            </a:r>
            <a:r>
              <a:rPr lang="ru-RU" dirty="0"/>
              <a:t>кодом и </a:t>
            </a:r>
            <a:r>
              <a:rPr lang="ru-RU" dirty="0" err="1"/>
              <a:t>рефакторим</a:t>
            </a:r>
            <a:r>
              <a:rPr lang="ru-RU" dirty="0"/>
              <a:t> его, используя принципы ООП и SOLID, чтобы показать, как они</a:t>
            </a:r>
            <a:r>
              <a:rPr lang="en-US" dirty="0"/>
              <a:t> </a:t>
            </a:r>
            <a:r>
              <a:rPr lang="ru-RU" dirty="0"/>
              <a:t>могут использоваться в реальной жизни.</a:t>
            </a:r>
          </a:p>
        </p:txBody>
      </p:sp>
    </p:spTree>
    <p:extLst>
      <p:ext uri="{BB962C8B-B14F-4D97-AF65-F5344CB8AC3E}">
        <p14:creationId xmlns:p14="http://schemas.microsoft.com/office/powerpoint/2010/main" val="2581407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70B09-978C-5957-E7BC-71E506C1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Начало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84B92D5-18E3-D944-488B-9A9C6CD9DF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5538" y="604010"/>
            <a:ext cx="7351645" cy="6002402"/>
          </a:xfrm>
        </p:spPr>
      </p:pic>
    </p:spTree>
    <p:extLst>
      <p:ext uri="{BB962C8B-B14F-4D97-AF65-F5344CB8AC3E}">
        <p14:creationId xmlns:p14="http://schemas.microsoft.com/office/powerpoint/2010/main" val="4278483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70B09-978C-5957-E7BC-71E506C1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Начало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02E78E-B92C-B726-2DEA-940D615B4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70" y="1690688"/>
            <a:ext cx="11707859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20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70B09-978C-5957-E7BC-71E506C1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7743C2-A1FA-9FFC-109A-F3E98A8ED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928634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57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9A265-1B48-48A2-0B93-A4E095F7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E825DE-39EC-99DF-EF9E-745A8316B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Проблема: В коде выше данные (тип, координаты) и логика (отрисовка) разделены. Любой </a:t>
            </a:r>
            <a:r>
              <a:rPr lang="ru-RU" i="1" dirty="0"/>
              <a:t>художник</a:t>
            </a:r>
            <a:r>
              <a:rPr lang="ru-RU" dirty="0"/>
              <a:t> может залезть и поменять </a:t>
            </a:r>
            <a:r>
              <a:rPr lang="ru-RU" dirty="0" err="1"/>
              <a:t>shape.Type</a:t>
            </a:r>
            <a:r>
              <a:rPr lang="ru-RU" dirty="0"/>
              <a:t> с «</a:t>
            </a:r>
            <a:r>
              <a:rPr lang="ru-RU" dirty="0" err="1"/>
              <a:t>Circle</a:t>
            </a:r>
            <a:r>
              <a:rPr lang="ru-RU" dirty="0"/>
              <a:t>» на «</a:t>
            </a:r>
            <a:r>
              <a:rPr lang="en-US" dirty="0" err="1"/>
              <a:t>Labubu</a:t>
            </a:r>
            <a:r>
              <a:rPr lang="ru-RU" dirty="0"/>
              <a:t>» и всё сломать.</a:t>
            </a:r>
            <a:endParaRPr lang="en-US" dirty="0"/>
          </a:p>
          <a:p>
            <a:r>
              <a:rPr lang="ru-RU" dirty="0"/>
              <a:t>Решение: Создаём классы </a:t>
            </a:r>
            <a:r>
              <a:rPr lang="ru-RU" dirty="0" err="1"/>
              <a:t>Circle</a:t>
            </a:r>
            <a:r>
              <a:rPr lang="ru-RU" dirty="0"/>
              <a:t> и </a:t>
            </a:r>
            <a:r>
              <a:rPr lang="ru-RU" dirty="0" err="1"/>
              <a:t>Rectangle</a:t>
            </a:r>
            <a:r>
              <a:rPr lang="ru-RU" dirty="0"/>
              <a:t>. Прячем данные (координаты, радиус) в </a:t>
            </a:r>
            <a:r>
              <a:rPr lang="ru-RU" dirty="0" err="1"/>
              <a:t>private</a:t>
            </a:r>
            <a:r>
              <a:rPr lang="ru-RU" dirty="0"/>
              <a:t> поля. Доступ </a:t>
            </a:r>
            <a:r>
              <a:rPr lang="en-US" dirty="0"/>
              <a:t>-</a:t>
            </a:r>
            <a:r>
              <a:rPr lang="ru-RU" dirty="0"/>
              <a:t> через </a:t>
            </a:r>
            <a:r>
              <a:rPr lang="ru-RU" dirty="0" err="1"/>
              <a:t>public</a:t>
            </a:r>
            <a:r>
              <a:rPr lang="ru-RU" dirty="0"/>
              <a:t> свойства и методы.</a:t>
            </a:r>
          </a:p>
        </p:txBody>
      </p:sp>
    </p:spTree>
    <p:extLst>
      <p:ext uri="{BB962C8B-B14F-4D97-AF65-F5344CB8AC3E}">
        <p14:creationId xmlns:p14="http://schemas.microsoft.com/office/powerpoint/2010/main" val="1862169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FD23C-2D8C-61FA-8F58-858B8963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FE87B6FF-928F-EC2F-1D16-D88DE8D5E4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7782512" cy="4802187"/>
          </a:xfrm>
        </p:spPr>
      </p:pic>
    </p:spTree>
    <p:extLst>
      <p:ext uri="{BB962C8B-B14F-4D97-AF65-F5344CB8AC3E}">
        <p14:creationId xmlns:p14="http://schemas.microsoft.com/office/powerpoint/2010/main" val="138628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FD23C-2D8C-61FA-8F58-858B8963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D67516-18F1-3C13-4BF6-FE938CDA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10425136" cy="445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91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FD23C-2D8C-61FA-8F58-858B8963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8AED6B-622A-9673-7AB4-506ABB895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7"/>
            <a:ext cx="9990601" cy="374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57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FD23C-2D8C-61FA-8F58-858B8963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DB4284-DC32-7612-E078-02398D8A8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96600"/>
            <a:ext cx="10302757" cy="479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96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733C8-1EFD-8100-07E9-A68DEF9D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4B81A7-084B-0279-80A0-89591E362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Проблема: в наших классах </a:t>
            </a:r>
            <a:r>
              <a:rPr lang="ru-RU" dirty="0" err="1"/>
              <a:t>Circle</a:t>
            </a:r>
            <a:r>
              <a:rPr lang="ru-RU" dirty="0"/>
              <a:t> и </a:t>
            </a:r>
            <a:r>
              <a:rPr lang="ru-RU" dirty="0" err="1"/>
              <a:t>Rectangle</a:t>
            </a:r>
            <a:r>
              <a:rPr lang="ru-RU" dirty="0"/>
              <a:t> есть общие свойства: координаты, цвет, метод </a:t>
            </a:r>
            <a:r>
              <a:rPr lang="en-US" dirty="0"/>
              <a:t>Draw</a:t>
            </a:r>
            <a:r>
              <a:rPr lang="ru-RU" dirty="0"/>
              <a:t>(). Мы дублируем код.</a:t>
            </a:r>
          </a:p>
          <a:p>
            <a:r>
              <a:rPr lang="ru-RU" dirty="0"/>
              <a:t>Решение: создаем базовый класс </a:t>
            </a:r>
            <a:r>
              <a:rPr lang="ru-RU" dirty="0" err="1"/>
              <a:t>Shape</a:t>
            </a:r>
            <a:r>
              <a:rPr lang="ru-RU" dirty="0"/>
              <a:t>. Выносим в него всё общее. </a:t>
            </a:r>
            <a:r>
              <a:rPr lang="ru-RU" dirty="0" err="1"/>
              <a:t>Circle</a:t>
            </a:r>
            <a:r>
              <a:rPr lang="ru-RU" dirty="0"/>
              <a:t> и </a:t>
            </a:r>
            <a:r>
              <a:rPr lang="ru-RU" dirty="0" err="1"/>
              <a:t>Rectangle</a:t>
            </a:r>
            <a:r>
              <a:rPr lang="ru-RU" dirty="0"/>
              <a:t> теперь наследуются от </a:t>
            </a:r>
            <a:r>
              <a:rPr lang="ru-RU" dirty="0" err="1"/>
              <a:t>Shape</a:t>
            </a:r>
            <a:r>
              <a:rPr lang="ru-RU" dirty="0"/>
              <a:t>.</a:t>
            </a:r>
          </a:p>
          <a:p>
            <a:r>
              <a:rPr lang="ru-RU" dirty="0"/>
              <a:t>Суть: «Мы убрали дублирование. Теперь, если захотим добавить всем фигурам, например, прозрачность, мы сделаем это в одном, месте – класс </a:t>
            </a:r>
            <a:r>
              <a:rPr lang="en-US" dirty="0"/>
              <a:t>Shape</a:t>
            </a:r>
            <a:r>
              <a:rPr lang="ru-RU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932844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733C8-1EFD-8100-07E9-A68DEF9D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13D7B85F-3D00-7750-B9FD-A200AA703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832468" cy="2722286"/>
          </a:xfrm>
        </p:spPr>
      </p:pic>
    </p:spTree>
    <p:extLst>
      <p:ext uri="{BB962C8B-B14F-4D97-AF65-F5344CB8AC3E}">
        <p14:creationId xmlns:p14="http://schemas.microsoft.com/office/powerpoint/2010/main" val="2655848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733C8-1EFD-8100-07E9-A68DEF9D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9BEB6A9-B477-09B8-C99C-C701A64D7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6236"/>
            <a:ext cx="10877225" cy="4132685"/>
          </a:xfrm>
        </p:spPr>
      </p:pic>
    </p:spTree>
    <p:extLst>
      <p:ext uri="{BB962C8B-B14F-4D97-AF65-F5344CB8AC3E}">
        <p14:creationId xmlns:p14="http://schemas.microsoft.com/office/powerpoint/2010/main" val="3321927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733C8-1EFD-8100-07E9-A68DEF9D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4F7BA0C-D0EF-AA70-13F5-D9DEE8577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1041016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205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733C8-1EFD-8100-07E9-A68DEF9D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F1C2DA-8F6A-8F65-F56A-F5D5ED9B5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325679" cy="421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733C8-1EFD-8100-07E9-A68DEF9D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7957E7-8CF6-AF2B-EA90-D34E7CAF6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5102"/>
            <a:ext cx="9206948" cy="487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A828E-D200-1921-7A5C-199321E5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150973-0E07-654F-3633-07F160012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Проблема: Наш </a:t>
            </a:r>
            <a:r>
              <a:rPr lang="ru-RU" i="1" dirty="0"/>
              <a:t>фантастический-</a:t>
            </a:r>
            <a:r>
              <a:rPr lang="en-US" i="1" dirty="0"/>
              <a:t>if-else</a:t>
            </a:r>
            <a:r>
              <a:rPr lang="ru-RU" dirty="0"/>
              <a:t> всё ещё жив.</a:t>
            </a:r>
          </a:p>
          <a:p>
            <a:r>
              <a:rPr lang="ru-RU" dirty="0"/>
              <a:t>Решение: В базовый класс </a:t>
            </a:r>
            <a:r>
              <a:rPr lang="en-US" dirty="0"/>
              <a:t>Shape </a:t>
            </a:r>
            <a:r>
              <a:rPr lang="ru-RU" dirty="0"/>
              <a:t>добавляем </a:t>
            </a:r>
            <a:r>
              <a:rPr lang="en-US" dirty="0"/>
              <a:t>public virtual void Draw(). </a:t>
            </a:r>
            <a:r>
              <a:rPr lang="ru-RU" dirty="0"/>
              <a:t>В наследниках </a:t>
            </a:r>
            <a:r>
              <a:rPr lang="en-US" dirty="0"/>
              <a:t>Circle </a:t>
            </a:r>
            <a:r>
              <a:rPr lang="ru-RU" dirty="0"/>
              <a:t>и </a:t>
            </a:r>
            <a:r>
              <a:rPr lang="en-US" dirty="0"/>
              <a:t>Rectangle </a:t>
            </a:r>
            <a:r>
              <a:rPr lang="ru-RU" dirty="0"/>
              <a:t>делаем </a:t>
            </a:r>
            <a:r>
              <a:rPr lang="en-US" dirty="0"/>
              <a:t>public override void Draw().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6034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A828E-D200-1921-7A5C-199321E5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3B87FA3-008C-781D-7BCB-528745B62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8"/>
            <a:ext cx="10953091" cy="4339051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37019D-6822-E228-B22A-73A31BB46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907" y="4585252"/>
            <a:ext cx="7456979" cy="14203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0484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A828E-D200-1921-7A5C-199321E5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E99F27-85C1-3FCB-3089-6E4A68103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1865"/>
            <a:ext cx="10958771" cy="3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864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A828E-D200-1921-7A5C-199321E5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37172A-9624-065D-6661-2D260D1AE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28" y="1690688"/>
            <a:ext cx="11955543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06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A828E-D200-1921-7A5C-199321E5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26BFE0-7168-D3A0-874F-60B2860C1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763606" cy="43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63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A828E-D200-1921-7A5C-199321E5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A9186F-3F65-FB4C-A9B9-4CA19679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7206"/>
            <a:ext cx="12192000" cy="427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056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A828E-D200-1921-7A5C-199321E5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6F418F-852B-0CB4-D758-7BF9A93DB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757520" cy="433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871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A828E-D200-1921-7A5C-199321E5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2B7132-6544-EF22-2D1C-101132F8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4123"/>
            <a:ext cx="10559392" cy="462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97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135E2-56F0-1233-405E-57D69149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247D52-0D0F-F803-40EA-A50AE74DE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Проблема №2. «А что такое </a:t>
            </a:r>
            <a:r>
              <a:rPr lang="ru-RU" i="1" dirty="0"/>
              <a:t>просто фигура</a:t>
            </a:r>
            <a:r>
              <a:rPr lang="ru-RU" dirty="0"/>
              <a:t>?»</a:t>
            </a:r>
          </a:p>
          <a:p>
            <a:endParaRPr lang="ru-RU" dirty="0"/>
          </a:p>
          <a:p>
            <a:r>
              <a:rPr lang="ru-RU" dirty="0"/>
              <a:t>Проблема: Сейчас можно создать объект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Shape</a:t>
            </a:r>
            <a:r>
              <a:rPr lang="ru-RU" dirty="0"/>
              <a:t>(). А как его рисовать? У него нет реализации метода </a:t>
            </a:r>
            <a:r>
              <a:rPr lang="ru-RU" dirty="0" err="1"/>
              <a:t>Draw</a:t>
            </a:r>
            <a:r>
              <a:rPr lang="ru-RU" dirty="0"/>
              <a:t>(). </a:t>
            </a:r>
          </a:p>
          <a:p>
            <a:r>
              <a:rPr lang="ru-RU" dirty="0"/>
              <a:t>Решение: Делаем класс </a:t>
            </a:r>
            <a:r>
              <a:rPr lang="ru-RU" dirty="0" err="1"/>
              <a:t>Shape</a:t>
            </a:r>
            <a:r>
              <a:rPr lang="ru-RU" dirty="0"/>
              <a:t> и его метод </a:t>
            </a:r>
            <a:r>
              <a:rPr lang="ru-RU" dirty="0" err="1"/>
              <a:t>Draw</a:t>
            </a:r>
            <a:r>
              <a:rPr lang="ru-RU" dirty="0"/>
              <a:t>() абстрактными.</a:t>
            </a:r>
          </a:p>
          <a:p>
            <a:r>
              <a:rPr lang="ru-RU" dirty="0"/>
              <a:t>Суть: Мы создали контракт. Теперь нельзя создать бессмысленную 'просто фигуру'. Хочешь быть фигурой? Будь добр, реализуй метод </a:t>
            </a:r>
            <a:r>
              <a:rPr lang="ru-RU" dirty="0" err="1"/>
              <a:t>Draw</a:t>
            </a:r>
            <a:r>
              <a:rPr lang="ru-RU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3861050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135E2-56F0-1233-405E-57D69149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59A8763-205B-1355-B010-D05893648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778149" cy="2682529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DDDE55F-48BD-937C-2E13-8157F45E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73217"/>
            <a:ext cx="8944822" cy="200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482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135E2-56F0-1233-405E-57D691490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Абстракция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FF105B-3FEE-A3DD-D75A-E4EB7473E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760290" cy="415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616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D40C6-0E59-8A8B-124A-85592645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S.R.P. - </a:t>
            </a:r>
            <a:r>
              <a:rPr lang="ru-RU" dirty="0"/>
              <a:t>Принцип единственной ответственности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4556DF-747D-1843-8C66-A139E20E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Проблема: Нам говорят: Теперь фигуры надо сохранять в файл. Возможная первая идея - засунуть метод </a:t>
            </a:r>
            <a:r>
              <a:rPr lang="ru-RU" dirty="0" err="1"/>
              <a:t>SaveToFile</a:t>
            </a:r>
            <a:r>
              <a:rPr lang="ru-RU" dirty="0"/>
              <a:t>() прямо в класс </a:t>
            </a:r>
            <a:r>
              <a:rPr lang="ru-RU" dirty="0" err="1"/>
              <a:t>Shape</a:t>
            </a:r>
            <a:r>
              <a:rPr lang="ru-RU" dirty="0"/>
              <a:t>.</a:t>
            </a:r>
          </a:p>
          <a:p>
            <a:r>
              <a:rPr lang="ru-RU" dirty="0"/>
              <a:t>Почему это плохо: Класс </a:t>
            </a:r>
            <a:r>
              <a:rPr lang="ru-RU" dirty="0" err="1"/>
              <a:t>Shape</a:t>
            </a:r>
            <a:r>
              <a:rPr lang="ru-RU" dirty="0"/>
              <a:t> и его дети отвечают за геометрию и отрисовку. Сохранение - это совершенно другая задача.</a:t>
            </a:r>
          </a:p>
          <a:p>
            <a:r>
              <a:rPr lang="ru-RU" dirty="0"/>
              <a:t>Решение: Создаём отдельный класс </a:t>
            </a:r>
            <a:r>
              <a:rPr lang="ru-RU" dirty="0" err="1"/>
              <a:t>ShapePersistence</a:t>
            </a:r>
            <a:r>
              <a:rPr lang="ru-RU" dirty="0"/>
              <a:t>, который занимается только сохранением и загрузкой.</a:t>
            </a:r>
          </a:p>
          <a:p>
            <a:r>
              <a:rPr lang="ru-RU" i="1" dirty="0"/>
              <a:t>Суть: "Не будь швейцарским ножом-мутантом. Делай что-то одно, но делай это хорошо".</a:t>
            </a:r>
          </a:p>
        </p:txBody>
      </p:sp>
    </p:spTree>
    <p:extLst>
      <p:ext uri="{BB962C8B-B14F-4D97-AF65-F5344CB8AC3E}">
        <p14:creationId xmlns:p14="http://schemas.microsoft.com/office/powerpoint/2010/main" val="23858880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AD40C6-0E59-8A8B-124A-85592645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ru-RU" dirty="0"/>
              <a:t>.</a:t>
            </a:r>
            <a:r>
              <a:rPr lang="en-US" dirty="0"/>
              <a:t>R.P. - </a:t>
            </a:r>
            <a:r>
              <a:rPr lang="ru-RU" dirty="0"/>
              <a:t>Принцип единственной ответственности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D955AB6-C667-AB5B-1F9C-536978391A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1659"/>
            <a:ext cx="10819226" cy="3027906"/>
          </a:xfrm>
        </p:spPr>
      </p:pic>
    </p:spTree>
    <p:extLst>
      <p:ext uri="{BB962C8B-B14F-4D97-AF65-F5344CB8AC3E}">
        <p14:creationId xmlns:p14="http://schemas.microsoft.com/office/powerpoint/2010/main" val="12177464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F8CF2-F69D-80AA-5C07-659D22F2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O.C.P. — Принцип открытости/закрытости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9FF0971C-E045-E6A5-6ACA-F1DB152D6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Проблема: Нам говорят: "Добавьте треугольник".</a:t>
            </a:r>
          </a:p>
          <a:p>
            <a:r>
              <a:rPr lang="ru-RU" dirty="0"/>
              <a:t>Как мы это делаем: Мы просто создаём новый класс </a:t>
            </a:r>
            <a:r>
              <a:rPr lang="ru-RU" dirty="0" err="1"/>
              <a:t>Triangle</a:t>
            </a:r>
            <a:r>
              <a:rPr lang="ru-RU" dirty="0"/>
              <a:t> : </a:t>
            </a:r>
            <a:r>
              <a:rPr lang="ru-RU" dirty="0" err="1"/>
              <a:t>Shape</a:t>
            </a:r>
            <a:r>
              <a:rPr lang="ru-RU" dirty="0"/>
              <a:t>. ВСЁ. Мы не трогаем ни строчки в существующем коде отрисовки (</a:t>
            </a:r>
            <a:r>
              <a:rPr lang="ru-RU" dirty="0" err="1"/>
              <a:t>foreach</a:t>
            </a:r>
            <a:r>
              <a:rPr lang="ru-RU" dirty="0"/>
              <a:t>... </a:t>
            </a:r>
            <a:r>
              <a:rPr lang="ru-RU" dirty="0" err="1"/>
              <a:t>shape.Draw</a:t>
            </a:r>
            <a:r>
              <a:rPr lang="ru-RU" dirty="0"/>
              <a:t>()).</a:t>
            </a:r>
          </a:p>
          <a:p>
            <a:r>
              <a:rPr lang="ru-RU" i="1" dirty="0"/>
              <a:t>Суть: "Наш код готов к появлению нового, но защищён от изменений в старом. Мы добавляем функционал, не рискуя сломать то, что уже работает".</a:t>
            </a:r>
          </a:p>
        </p:txBody>
      </p:sp>
    </p:spTree>
    <p:extLst>
      <p:ext uri="{BB962C8B-B14F-4D97-AF65-F5344CB8AC3E}">
        <p14:creationId xmlns:p14="http://schemas.microsoft.com/office/powerpoint/2010/main" val="25719526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F8CF2-F69D-80AA-5C07-659D22F2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O.C.P. — Принцип открытости/закрытости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725304F-2C52-6B1D-95B9-D90D0C603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00762"/>
            <a:ext cx="10515600" cy="2801064"/>
          </a:xfrm>
        </p:spPr>
      </p:pic>
    </p:spTree>
    <p:extLst>
      <p:ext uri="{BB962C8B-B14F-4D97-AF65-F5344CB8AC3E}">
        <p14:creationId xmlns:p14="http://schemas.microsoft.com/office/powerpoint/2010/main" val="1606695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F8CF2-F69D-80AA-5C07-659D22F2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O.C.P. — Принцип открытости/закрытости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4AC3B97-184E-CE7A-FE58-D0BDBB1E2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0892"/>
            <a:ext cx="6554115" cy="369621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00AFD80-619A-D950-37D0-C921B4B40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224" y="3951545"/>
            <a:ext cx="559957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663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F8CF2-F69D-80AA-5C07-659D22F2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O.C.P. — Принцип открытости/закрытости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9E9A7E9-86A4-A8D4-AE3C-39D837DD7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83735" cy="42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201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1257A-10D1-8A24-9E88-0485D36B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L.S.P. — Принцип подстановки Лисков.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1FE312-946B-5DB1-DEA9-31D6F9124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ter"/>
              </a:rPr>
              <a:t>Проблема (классика): Давайте сделаем Square наследником </a:t>
            </a:r>
            <a:r>
              <a:rPr lang="ru-RU" b="0" i="0" dirty="0" err="1">
                <a:effectLst/>
                <a:latin typeface="Inter"/>
              </a:rPr>
              <a:t>Rectangle</a:t>
            </a:r>
            <a:r>
              <a:rPr lang="ru-RU" b="0" i="0" dirty="0"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  <a:latin typeface="Inter"/>
              </a:rPr>
              <a:t>Почему это плохо. У </a:t>
            </a:r>
            <a:r>
              <a:rPr lang="ru-RU" b="0" i="0" dirty="0" err="1">
                <a:effectLst/>
                <a:latin typeface="Inter"/>
              </a:rPr>
              <a:t>Rectangle</a:t>
            </a:r>
            <a:r>
              <a:rPr lang="ru-RU" b="0" i="0" dirty="0">
                <a:effectLst/>
                <a:latin typeface="Inter"/>
              </a:rPr>
              <a:t> есть </a:t>
            </a:r>
            <a:r>
              <a:rPr lang="ru-RU" b="0" i="0" dirty="0" err="1">
                <a:effectLst/>
                <a:latin typeface="Inter"/>
              </a:rPr>
              <a:t>Width</a:t>
            </a:r>
            <a:r>
              <a:rPr lang="ru-RU" b="0" i="0" dirty="0">
                <a:effectLst/>
                <a:latin typeface="Inter"/>
              </a:rPr>
              <a:t> и </a:t>
            </a:r>
            <a:r>
              <a:rPr lang="ru-RU" b="0" i="0" dirty="0" err="1">
                <a:effectLst/>
                <a:latin typeface="Inter"/>
              </a:rPr>
              <a:t>Height</a:t>
            </a:r>
            <a:r>
              <a:rPr lang="ru-RU" b="0" i="0" dirty="0">
                <a:effectLst/>
                <a:latin typeface="Inter"/>
              </a:rPr>
              <a:t>. Если мы меняем </a:t>
            </a:r>
            <a:r>
              <a:rPr lang="ru-RU" b="0" i="0" dirty="0" err="1">
                <a:effectLst/>
                <a:latin typeface="Inter"/>
              </a:rPr>
              <a:t>square.Width</a:t>
            </a:r>
            <a:r>
              <a:rPr lang="ru-RU" b="0" i="0" dirty="0">
                <a:effectLst/>
                <a:latin typeface="Inter"/>
              </a:rPr>
              <a:t>, то должна меняться и </a:t>
            </a:r>
            <a:r>
              <a:rPr lang="ru-RU" b="0" i="0" dirty="0" err="1">
                <a:effectLst/>
                <a:latin typeface="Inter"/>
              </a:rPr>
              <a:t>Height</a:t>
            </a:r>
            <a:r>
              <a:rPr lang="ru-RU" b="0" i="0" dirty="0">
                <a:effectLst/>
                <a:latin typeface="Inter"/>
              </a:rPr>
              <a:t>, что нарушает поведение родителя. </a:t>
            </a:r>
            <a:r>
              <a:rPr lang="ru-RU" b="0" i="0" dirty="0" err="1">
                <a:effectLst/>
                <a:latin typeface="Inter"/>
              </a:rPr>
              <a:t>square</a:t>
            </a:r>
            <a:r>
              <a:rPr lang="ru-RU" b="0" i="0" dirty="0">
                <a:effectLst/>
                <a:latin typeface="Inter"/>
              </a:rPr>
              <a:t> - это не совсем </a:t>
            </a:r>
            <a:r>
              <a:rPr lang="ru-RU" b="0" i="0" dirty="0" err="1">
                <a:effectLst/>
                <a:latin typeface="Inter"/>
              </a:rPr>
              <a:t>rectangle</a:t>
            </a:r>
            <a:r>
              <a:rPr lang="ru-RU" b="0" i="0" dirty="0">
                <a:effectLst/>
                <a:latin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77813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1257A-10D1-8A24-9E88-0485D36B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L.S.P. — Принцип подстановки Лисков.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C208324-7D3E-B83B-45D5-D7A5A6CA3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65" y="1690688"/>
            <a:ext cx="11965070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206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1257A-10D1-8A24-9E88-0485D36B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L.S.P. — Принцип подстановки Лисков.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32BD11-FD42-00A3-9F9E-F4D9487EC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10759537" cy="400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450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1257A-10D1-8A24-9E88-0485D36B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L.S.P. — Принцип подстановки Лисков.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53BD15A-40FD-8FE9-B4AE-ED690ACDA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91574" cy="428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117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1257A-10D1-8A24-9E88-0485D36B7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L.S.P. — Принцип подстановки Лисков.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799011-DF53-EBF7-8044-B91C763E9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450383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719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B22CB-22AD-1412-E62F-65C1D821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I.S.P. </a:t>
            </a:r>
            <a:r>
              <a:rPr lang="en-US" dirty="0"/>
              <a:t>-</a:t>
            </a:r>
            <a:r>
              <a:rPr lang="ru-RU" dirty="0"/>
              <a:t> Принцип разделения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C78256-F715-B547-A1C4-5C806D09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Проблема: Нам говорят: "Некоторые фигуры должны быть интерактивными, например, кнопка". Мы добавляем в </a:t>
            </a:r>
            <a:r>
              <a:rPr lang="ru-RU" dirty="0" err="1"/>
              <a:t>Shape</a:t>
            </a:r>
            <a:r>
              <a:rPr lang="ru-RU" dirty="0"/>
              <a:t> методы </a:t>
            </a:r>
            <a:r>
              <a:rPr lang="ru-RU" dirty="0" err="1"/>
              <a:t>OnClick</a:t>
            </a:r>
            <a:r>
              <a:rPr lang="ru-RU" dirty="0"/>
              <a:t>(), </a:t>
            </a:r>
            <a:r>
              <a:rPr lang="ru-RU" dirty="0" err="1"/>
              <a:t>OnHover</a:t>
            </a:r>
            <a:r>
              <a:rPr lang="ru-RU" dirty="0"/>
              <a:t>().</a:t>
            </a:r>
          </a:p>
          <a:p>
            <a:r>
              <a:rPr lang="ru-RU" dirty="0"/>
              <a:t>Почему это снова мимо: Теперь у обычного круга или квадрата болтаются бессмысленные пустые методы </a:t>
            </a:r>
            <a:r>
              <a:rPr lang="ru-RU" dirty="0" err="1"/>
              <a:t>OnClick</a:t>
            </a:r>
            <a:r>
              <a:rPr lang="ru-RU" dirty="0"/>
              <a:t>.</a:t>
            </a:r>
          </a:p>
          <a:p>
            <a:r>
              <a:rPr lang="ru-RU" dirty="0"/>
              <a:t>Решение: Создаём тонкие интерфейсы: </a:t>
            </a:r>
            <a:r>
              <a:rPr lang="ru-RU" dirty="0" err="1"/>
              <a:t>IDrawable</a:t>
            </a:r>
            <a:r>
              <a:rPr lang="ru-RU" dirty="0"/>
              <a:t>, </a:t>
            </a:r>
            <a:r>
              <a:rPr lang="ru-RU" dirty="0" err="1"/>
              <a:t>IClickable</a:t>
            </a:r>
            <a:r>
              <a:rPr lang="ru-RU" dirty="0"/>
              <a:t>.</a:t>
            </a:r>
          </a:p>
          <a:p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Button</a:t>
            </a:r>
            <a:r>
              <a:rPr lang="ru-RU" dirty="0"/>
              <a:t> : </a:t>
            </a:r>
            <a:r>
              <a:rPr lang="ru-RU" dirty="0" err="1"/>
              <a:t>IDrawable</a:t>
            </a:r>
            <a:r>
              <a:rPr lang="ru-RU" dirty="0"/>
              <a:t>, </a:t>
            </a:r>
            <a:r>
              <a:rPr lang="ru-RU" dirty="0" err="1"/>
              <a:t>IClickable</a:t>
            </a:r>
            <a:r>
              <a:rPr lang="ru-RU" dirty="0"/>
              <a:t> { ... }</a:t>
            </a:r>
          </a:p>
          <a:p>
            <a:r>
              <a:rPr lang="ru-RU" dirty="0" err="1"/>
              <a:t>class</a:t>
            </a:r>
            <a:r>
              <a:rPr lang="ru-RU" dirty="0"/>
              <a:t> </a:t>
            </a:r>
            <a:r>
              <a:rPr lang="ru-RU" dirty="0" err="1"/>
              <a:t>Circle</a:t>
            </a:r>
            <a:r>
              <a:rPr lang="ru-RU" dirty="0"/>
              <a:t> : </a:t>
            </a:r>
            <a:r>
              <a:rPr lang="ru-RU" dirty="0" err="1"/>
              <a:t>IDrawable</a:t>
            </a:r>
            <a:r>
              <a:rPr lang="ru-RU" dirty="0"/>
              <a:t> { ... }</a:t>
            </a:r>
          </a:p>
          <a:p>
            <a:r>
              <a:rPr lang="ru-RU" i="1" dirty="0"/>
              <a:t>Суть: "Лучше много маленьких и конкретных контрактов, чем один жирный и бестолковый".</a:t>
            </a:r>
          </a:p>
        </p:txBody>
      </p:sp>
    </p:spTree>
    <p:extLst>
      <p:ext uri="{BB962C8B-B14F-4D97-AF65-F5344CB8AC3E}">
        <p14:creationId xmlns:p14="http://schemas.microsoft.com/office/powerpoint/2010/main" val="1600795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B22CB-22AD-1412-E62F-65C1D821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I.S.P. </a:t>
            </a:r>
            <a:r>
              <a:rPr lang="en-US" dirty="0"/>
              <a:t>-</a:t>
            </a:r>
            <a:r>
              <a:rPr lang="ru-RU" dirty="0"/>
              <a:t> Принцип разделения интерфейса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AE51EE7-16EC-E6EF-6456-171370C63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002078" cy="3952041"/>
          </a:xfrm>
        </p:spPr>
      </p:pic>
    </p:spTree>
    <p:extLst>
      <p:ext uri="{BB962C8B-B14F-4D97-AF65-F5344CB8AC3E}">
        <p14:creationId xmlns:p14="http://schemas.microsoft.com/office/powerpoint/2010/main" val="24417973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B22CB-22AD-1412-E62F-65C1D821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I.S.P. </a:t>
            </a:r>
            <a:r>
              <a:rPr lang="en-US" dirty="0"/>
              <a:t>-</a:t>
            </a:r>
            <a:r>
              <a:rPr lang="ru-RU" dirty="0"/>
              <a:t> Принцип разделения интерфейса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551AEE77-6943-141C-8CBB-49A087F32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1225410" cy="3331886"/>
          </a:xfrm>
        </p:spPr>
      </p:pic>
    </p:spTree>
    <p:extLst>
      <p:ext uri="{BB962C8B-B14F-4D97-AF65-F5344CB8AC3E}">
        <p14:creationId xmlns:p14="http://schemas.microsoft.com/office/powerpoint/2010/main" val="20110478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B22CB-22AD-1412-E62F-65C1D821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I.S.P. </a:t>
            </a:r>
            <a:r>
              <a:rPr lang="en-US" dirty="0"/>
              <a:t>-</a:t>
            </a:r>
            <a:r>
              <a:rPr lang="ru-RU" dirty="0"/>
              <a:t> Принцип разделения интерфейса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E6D6C6-66A2-E94C-5028-064F04534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832260" cy="285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8925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B22CB-22AD-1412-E62F-65C1D821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I.S.P. </a:t>
            </a:r>
            <a:r>
              <a:rPr lang="en-US" dirty="0"/>
              <a:t>-</a:t>
            </a:r>
            <a:r>
              <a:rPr lang="ru-RU" dirty="0"/>
              <a:t> Принцип разделения интерфейса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CA31C3-EF08-1F43-CA0B-6C773AE5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1839"/>
            <a:ext cx="6132443" cy="4631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710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B22CB-22AD-1412-E62F-65C1D821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I.S.P. </a:t>
            </a:r>
            <a:r>
              <a:rPr lang="en-US" dirty="0"/>
              <a:t>-</a:t>
            </a:r>
            <a:r>
              <a:rPr lang="ru-RU" dirty="0"/>
              <a:t> Принцип разделения интерфейса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81423F-F372-C80E-B86C-8A348B359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773032" cy="269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346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B22CB-22AD-1412-E62F-65C1D821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I.S.P. </a:t>
            </a:r>
            <a:r>
              <a:rPr lang="en-US" dirty="0"/>
              <a:t>-</a:t>
            </a:r>
            <a:r>
              <a:rPr lang="ru-RU" dirty="0"/>
              <a:t> Принцип разделения интерфейса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189BDD-D2F9-44BC-33E1-15016F39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409350" cy="305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753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ED5-C318-F295-7529-B3AC478E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D.I.P. - Принцип инверсии зависимостей.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15579E-AA66-8B08-EF50-83919C7B4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Проблема: Наш главный класс </a:t>
            </a:r>
            <a:r>
              <a:rPr lang="en-US" dirty="0" err="1"/>
              <a:t>GraphicEditor</a:t>
            </a:r>
            <a:r>
              <a:rPr lang="en-US" dirty="0"/>
              <a:t> </a:t>
            </a:r>
            <a:r>
              <a:rPr lang="ru-RU" dirty="0"/>
              <a:t>создаёт экземпляры фигур прямо внутри себя (</a:t>
            </a:r>
            <a:r>
              <a:rPr lang="en-US" dirty="0"/>
              <a:t>new Circle(), new Rectangle()). </a:t>
            </a:r>
            <a:r>
              <a:rPr lang="ru-RU" dirty="0"/>
              <a:t>Он жестко зависит от конкретных классов. Завтра придет </a:t>
            </a:r>
            <a:r>
              <a:rPr lang="en-US" dirty="0"/>
              <a:t>Triangle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придется лезть в код </a:t>
            </a:r>
            <a:r>
              <a:rPr lang="en-US" dirty="0" err="1"/>
              <a:t>GraphicEditor</a:t>
            </a:r>
            <a:r>
              <a:rPr lang="en-US" dirty="0"/>
              <a:t>.</a:t>
            </a:r>
          </a:p>
          <a:p>
            <a:r>
              <a:rPr lang="ru-RU" dirty="0"/>
              <a:t>Решение: </a:t>
            </a:r>
            <a:r>
              <a:rPr lang="en-US" dirty="0" err="1"/>
              <a:t>GraphicEditor</a:t>
            </a:r>
            <a:r>
              <a:rPr lang="en-US" dirty="0"/>
              <a:t> </a:t>
            </a:r>
            <a:r>
              <a:rPr lang="ru-RU" dirty="0"/>
              <a:t>должен зависеть от абстракции (</a:t>
            </a:r>
            <a:r>
              <a:rPr lang="en-US" dirty="0"/>
              <a:t>Shape), </a:t>
            </a:r>
            <a:r>
              <a:rPr lang="ru-RU" dirty="0"/>
              <a:t>а не от конкретики (</a:t>
            </a:r>
            <a:r>
              <a:rPr lang="en-US" dirty="0"/>
              <a:t>Circle). </a:t>
            </a:r>
            <a:r>
              <a:rPr lang="ru-RU" dirty="0"/>
              <a:t>Конкретные фигуры должны "внедряться" в него извне (</a:t>
            </a:r>
            <a:r>
              <a:rPr lang="en-US" dirty="0"/>
              <a:t>Dependency Injection).</a:t>
            </a:r>
            <a:endParaRPr lang="ru-RU" dirty="0"/>
          </a:p>
          <a:p>
            <a:r>
              <a:rPr lang="ru-RU" dirty="0"/>
              <a:t>Суть: "Модули верхнего уровня не должны зависеть от модулей нижнего. И те, и другие должны зависеть от абстракций. Говоря по-русски: твой главный модуль не должен знать, с какими конкретными пешками он работает, ему достаточно знать, что это 'фигуры’».</a:t>
            </a:r>
          </a:p>
        </p:txBody>
      </p:sp>
    </p:spTree>
    <p:extLst>
      <p:ext uri="{BB962C8B-B14F-4D97-AF65-F5344CB8AC3E}">
        <p14:creationId xmlns:p14="http://schemas.microsoft.com/office/powerpoint/2010/main" val="36057572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ED5-C318-F295-7529-B3AC478E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D.I.P. - Принцип инверсии зависимостей.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D2E5EC7-0BBB-FBB8-8DE1-510D01161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9379226" cy="4442791"/>
          </a:xfrm>
        </p:spPr>
      </p:pic>
    </p:spTree>
    <p:extLst>
      <p:ext uri="{BB962C8B-B14F-4D97-AF65-F5344CB8AC3E}">
        <p14:creationId xmlns:p14="http://schemas.microsoft.com/office/powerpoint/2010/main" val="2265245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ED5-C318-F295-7529-B3AC478E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D.I.P. - Принцип инверсии зависимостей.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E020912-1EAE-A939-24FA-B8564B656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0783105" cy="301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947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ED5-C318-F295-7529-B3AC478E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D.I.P. - Принцип инверсии зависимостей.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A95309-1121-F83D-E818-EDC1746CF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815"/>
            <a:ext cx="12192000" cy="461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129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ED5-C318-F295-7529-B3AC478E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D.I.P. - Принцип инверсии зависимостей.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61DEE3-C74F-A420-B99E-88E84DB2E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44" y="1504533"/>
            <a:ext cx="10864203" cy="419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134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ED5-C318-F295-7529-B3AC478E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D.I.P. - Принцип инверсии зависимостей.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0344CB-9D5F-62F3-80DF-0142131A8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3078"/>
            <a:ext cx="8928652" cy="455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892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ED5-C318-F295-7529-B3AC478E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D.I.P. - Принцип инверсии зависимостей.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BD9916-6F64-7F94-745B-FEC000175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77" y="1513085"/>
            <a:ext cx="10183646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20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ED5-C318-F295-7529-B3AC478E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D.I.P. - Принцип инверсии зависимостей.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935EE0-EF25-05B9-D923-4B177308C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23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8182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0B05F-4CC4-9DC7-0536-35058471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CEF19D-4FFD-248C-7233-AD0CE93CF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26" y="199574"/>
            <a:ext cx="7325747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154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1861</Words>
  <Application>Microsoft Office PowerPoint</Application>
  <PresentationFormat>Широкоэкранный</PresentationFormat>
  <Paragraphs>130</Paragraphs>
  <Slides>69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69</vt:i4>
      </vt:variant>
    </vt:vector>
  </HeadingPairs>
  <TitlesOfParts>
    <vt:vector size="75" baseType="lpstr">
      <vt:lpstr>Aptos</vt:lpstr>
      <vt:lpstr>Aptos Display</vt:lpstr>
      <vt:lpstr>Arial</vt:lpstr>
      <vt:lpstr>Inter</vt:lpstr>
      <vt:lpstr>YS Text</vt:lpstr>
      <vt:lpstr>Тема Office</vt:lpstr>
      <vt:lpstr>Инкапсуляция, абстракция, наследование, полиморфизм, SOLID</vt:lpstr>
      <vt:lpstr>Инкапсуляция</vt:lpstr>
      <vt:lpstr>Инкапсуляция (будь проще)</vt:lpstr>
      <vt:lpstr>Абстракция</vt:lpstr>
      <vt:lpstr>Абстракция (будь еще проще)</vt:lpstr>
      <vt:lpstr>Наследование </vt:lpstr>
      <vt:lpstr>Наследование (чуточку проще) </vt:lpstr>
      <vt:lpstr>Полиморфизм </vt:lpstr>
      <vt:lpstr>Полиморфизм (да кто такой этот проще)</vt:lpstr>
      <vt:lpstr>SOLID</vt:lpstr>
      <vt:lpstr>S – SRP (Single Responsibility Principle / Принцип единственной ответственности)</vt:lpstr>
      <vt:lpstr>O – OCP (Open/Closed Principle / Принцип открытости/закрытости)</vt:lpstr>
      <vt:lpstr>L – LSP (Liskov Substitution Principle / Принцип подстановки Барбары Лисков)</vt:lpstr>
      <vt:lpstr>I – ISP (Interface Segregation Principle / Принцип разделения интерфейса)</vt:lpstr>
      <vt:lpstr>D – DIP (Dependency Inversion Principle / Принцип инверсии зависимостей)</vt:lpstr>
      <vt:lpstr>Это все</vt:lpstr>
      <vt:lpstr>От спагетти-кода до SOLID'ного блюда</vt:lpstr>
      <vt:lpstr>Начало</vt:lpstr>
      <vt:lpstr>Начало</vt:lpstr>
      <vt:lpstr>Начало</vt:lpstr>
      <vt:lpstr>Инкапсуляция</vt:lpstr>
      <vt:lpstr>Инкапсуляция</vt:lpstr>
      <vt:lpstr>Инкапсуляция</vt:lpstr>
      <vt:lpstr>Инкапсуляция</vt:lpstr>
      <vt:lpstr>Инкапсуляция</vt:lpstr>
      <vt:lpstr>Наследование</vt:lpstr>
      <vt:lpstr>Наследование</vt:lpstr>
      <vt:lpstr>Наследование</vt:lpstr>
      <vt:lpstr>Наследование</vt:lpstr>
      <vt:lpstr>Наследование</vt:lpstr>
      <vt:lpstr>Наследование</vt:lpstr>
      <vt:lpstr>Полиморфизм</vt:lpstr>
      <vt:lpstr>Полиморфизм</vt:lpstr>
      <vt:lpstr>Полиморфизм</vt:lpstr>
      <vt:lpstr>Полиморфизм</vt:lpstr>
      <vt:lpstr>Полиморфизм</vt:lpstr>
      <vt:lpstr>Полиморфизм</vt:lpstr>
      <vt:lpstr>Полиморфизм</vt:lpstr>
      <vt:lpstr>Полиморфизм</vt:lpstr>
      <vt:lpstr>Абстракция </vt:lpstr>
      <vt:lpstr>Абстракция</vt:lpstr>
      <vt:lpstr>Абстракция </vt:lpstr>
      <vt:lpstr>S.R.P. - Принцип единственной ответственности</vt:lpstr>
      <vt:lpstr>S.R.P. - Принцип единственной ответственности</vt:lpstr>
      <vt:lpstr>O.C.P. — Принцип открытости/закрытости</vt:lpstr>
      <vt:lpstr>O.C.P. — Принцип открытости/закрытости</vt:lpstr>
      <vt:lpstr>O.C.P. — Принцип открытости/закрытости</vt:lpstr>
      <vt:lpstr>O.C.P. — Принцип открытости/закрытости</vt:lpstr>
      <vt:lpstr>L.S.P. — Принцип подстановки Лисков.</vt:lpstr>
      <vt:lpstr>L.S.P. — Принцип подстановки Лисков.</vt:lpstr>
      <vt:lpstr>L.S.P. — Принцип подстановки Лисков.</vt:lpstr>
      <vt:lpstr>L.S.P. — Принцип подстановки Лисков.</vt:lpstr>
      <vt:lpstr>L.S.P. — Принцип подстановки Лисков.</vt:lpstr>
      <vt:lpstr>I.S.P. - Принцип разделения интерфейса</vt:lpstr>
      <vt:lpstr>I.S.P. - Принцип разделения интерфейса</vt:lpstr>
      <vt:lpstr>I.S.P. - Принцип разделения интерфейса</vt:lpstr>
      <vt:lpstr>I.S.P. - Принцип разделения интерфейса</vt:lpstr>
      <vt:lpstr>I.S.P. - Принцип разделения интерфейса</vt:lpstr>
      <vt:lpstr>I.S.P. - Принцип разделения интерфейса</vt:lpstr>
      <vt:lpstr>I.S.P. - Принцип разделения интерфейса</vt:lpstr>
      <vt:lpstr>D.I.P. - Принцип инверсии зависимостей.</vt:lpstr>
      <vt:lpstr>D.I.P. - Принцип инверсии зависимостей.</vt:lpstr>
      <vt:lpstr>D.I.P. - Принцип инверсии зависимостей.</vt:lpstr>
      <vt:lpstr>D.I.P. - Принцип инверсии зависимостей.</vt:lpstr>
      <vt:lpstr>D.I.P. - Принцип инверсии зависимостей.</vt:lpstr>
      <vt:lpstr>D.I.P. - Принцип инверсии зависимостей.</vt:lpstr>
      <vt:lpstr>D.I.P. - Принцип инверсии зависимостей.</vt:lpstr>
      <vt:lpstr>D.I.P. - Принцип инверсии зависимостей.</vt:lpstr>
      <vt:lpstr>Итог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2</cp:revision>
  <dcterms:created xsi:type="dcterms:W3CDTF">2025-09-15T16:27:34Z</dcterms:created>
  <dcterms:modified xsi:type="dcterms:W3CDTF">2025-09-15T19:30:16Z</dcterms:modified>
</cp:coreProperties>
</file>