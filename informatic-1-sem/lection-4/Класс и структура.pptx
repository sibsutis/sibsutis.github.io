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0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9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4FC15-F7F7-52C2-13F9-A4E8FFAE2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7B6DF3-DEA5-35B1-3001-6E6C3281B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4C3BF4-C491-769A-C611-D73CEE64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0F626F-FF70-64B6-3EEB-1F8AC51F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D5D884-957B-FDE6-3718-D0083952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11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511D3-3FB4-17A0-E8BD-AD2C83F8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E45172-62CF-5B16-CDFB-EC6E6179C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D8E00A-43AA-B026-76AD-E0FB8BF8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A1F251-BFF4-6CE8-F5E5-D620CF81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E727FF-41CB-A395-010C-9A0C6A6D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37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5AF63-8273-8DB9-6C29-467E284F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96956C-8229-6E94-0EDA-27AB06692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2B06D-86AD-7463-5CC0-7963BD7E7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E9C56-2AC9-28EA-D984-7ECD0F5D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8DEFBC-00B6-8133-28E2-4BDD41A4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090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22760-53D9-7A6B-0D5D-B5A3B84F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10B903-2F65-EAE4-2E31-519A2E2BD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09C67C-33D5-D762-7979-561544062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CA34FE-AB07-A4AC-8A3B-64D18852D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4F247D-7C57-9B2D-5F97-56E1CB96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8D1E6D-673C-38D4-33C9-A9C2B2D2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2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0C61C-E895-A9B1-DE18-F7C45E872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E77232-CDA2-2513-2B42-38C9DCA6E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38BF8B-5577-AC57-D954-F83BFF55B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8A9D507-6304-9E0C-75F3-8FFAB6B61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080FF9-0922-78BE-1A7C-53FDD9FE8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745AED9-935F-6AFF-25D5-34FAFE46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BBB599-D4E9-5C9E-4BAC-1E57ACD1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F3C4D0-A957-92FD-F5EC-FE08FF51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72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D50E9-45D6-B33E-2A02-5DDBA5C39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5ACA94-F7A2-098D-75DE-87ABA0C0B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D06EA94-7596-BFD3-ED7D-6F79A49E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0C6AE6-5AA8-4A89-4264-F4189500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28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626AA3-017E-E848-5F31-D368966A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5F5EDF9-2D7C-A44E-30B6-BFB4E331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B85ECD-9EB4-48BB-C36F-183D945B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8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3C6A7-E538-6BA5-CE65-B1D92D8B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2AC933-16BC-9AE1-9736-C7D6F866A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ADF8BB-E8EA-C4E5-1F96-8D8AFBAA0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603F02-A4BB-2E2F-B5C9-CE284EC8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1D2F58-F04D-1AD7-FF8D-C28922A2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DA01E0-8626-3011-A7C5-DC50657F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84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C8033-9AD4-8EDF-CE07-C06AE115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CD1E2E-E3B2-8A52-592E-B26828711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EF7F53-FC99-1D6C-2725-A983C5D62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EF789D-F8E0-99AE-4304-BAD7D229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E6DF2-A688-ECC8-646B-058CD688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C76777-70AC-328D-78FE-10855542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23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BADFA-43A5-78C7-5A79-156BF52AC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725664-E627-27E6-766C-C9899D305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D40EC1-721E-6B95-4E35-760286367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CF55DA-2643-C6C7-83D3-C2D91EA5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8A87BE-35B8-B04E-251E-4C969E67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99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1D315E-BFE1-FCE4-004E-D07EF07C9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5C5DE6-C0A9-A9F8-1CC8-8867E7CEB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53C976-1ED7-65D2-61D0-7D874B36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590187-8DEF-07B0-2189-E0C5B7B6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FDE645-3159-6A32-8A03-A4A42A00B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70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AF335-5146-0489-0EBA-E6AD279D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C554E7-AB21-15BC-CC5A-ED2D4D2A5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A16C79-F2B6-045B-E4F2-ABAB6DCA8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2C5F0-5E33-40DB-988A-168C03E09779}" type="datetimeFigureOut">
              <a:rPr lang="ru-RU" smtClean="0"/>
              <a:t>02.11.2025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0FAEB1-F5DB-2115-1A2F-515BDFEB9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E418DC-23D6-264D-D3A0-C660D931C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51209-6F68-4C14-8817-A15A8934F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50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7430C-4102-7365-5E4B-8901A3C5F2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Класс и структура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2B7F2B-8975-EC15-959B-93DB14727C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Фоменко М.Ю.</a:t>
            </a:r>
          </a:p>
        </p:txBody>
      </p:sp>
    </p:spTree>
    <p:extLst>
      <p:ext uri="{BB962C8B-B14F-4D97-AF65-F5344CB8AC3E}">
        <p14:creationId xmlns:p14="http://schemas.microsoft.com/office/powerpoint/2010/main" val="4036084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61E3C-5C7E-8D62-E124-2C4B59C6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Хламовник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27673B6-15CC-97D9-96F4-5B14DAAB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829" y="0"/>
            <a:ext cx="3345853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5E347B-5F10-DC89-1263-98F11C45E413}"/>
              </a:ext>
            </a:extLst>
          </p:cNvPr>
          <p:cNvSpPr txBox="1"/>
          <p:nvPr/>
        </p:nvSpPr>
        <p:spPr>
          <a:xfrm>
            <a:off x="838200" y="1690688"/>
            <a:ext cx="64107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Красное – основная программа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Желтое – логика «мудростей»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Голубое – реверс строки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Зеленое – предсказание погоды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Белое – логика подсчета чихов Бубы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Розовое – </a:t>
            </a:r>
            <a:r>
              <a:rPr lang="ru-RU" sz="2400" dirty="0" err="1"/>
              <a:t>рисовалка</a:t>
            </a:r>
            <a:r>
              <a:rPr lang="ru-RU" sz="2400" dirty="0"/>
              <a:t> кота в консоли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Коричневое – конвертация огурцов в попугаев (</a:t>
            </a:r>
            <a:r>
              <a:rPr lang="ru-RU" sz="2400" dirty="0" err="1"/>
              <a:t>кринж</a:t>
            </a:r>
            <a:r>
              <a:rPr lang="ru-RU" sz="2400" dirty="0"/>
              <a:t> от </a:t>
            </a:r>
            <a:r>
              <a:rPr lang="ru-RU" sz="2400" dirty="0" err="1"/>
              <a:t>нейронки</a:t>
            </a:r>
            <a:r>
              <a:rPr lang="ru-RU" sz="2400" dirty="0"/>
              <a:t> </a:t>
            </a:r>
            <a:r>
              <a:rPr lang="ru-RU" sz="2400" dirty="0" err="1"/>
              <a:t>чесна</a:t>
            </a:r>
            <a:r>
              <a:rPr lang="ru-RU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r>
              <a:rPr lang="ru-RU" sz="2400" dirty="0"/>
              <a:t>Совершенно разная логика написана в одном </a:t>
            </a:r>
            <a:r>
              <a:rPr lang="ru-RU" sz="2400" b="1" dirty="0"/>
              <a:t>классе</a:t>
            </a:r>
            <a:r>
              <a:rPr lang="ru-RU" sz="2400" dirty="0"/>
              <a:t> (файле, пока что)</a:t>
            </a:r>
          </a:p>
        </p:txBody>
      </p:sp>
    </p:spTree>
    <p:extLst>
      <p:ext uri="{BB962C8B-B14F-4D97-AF65-F5344CB8AC3E}">
        <p14:creationId xmlns:p14="http://schemas.microsoft.com/office/powerpoint/2010/main" val="44551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B18BF-0D57-8798-6E00-48062E2B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Организация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93A43-EF39-B807-97B0-E7F8A7C23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Функции (уже были)</a:t>
            </a:r>
          </a:p>
          <a:p>
            <a:r>
              <a:rPr lang="ru-RU" dirty="0"/>
              <a:t>Паттерны и проектирование (будут потом)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Организация по файлам </a:t>
            </a:r>
          </a:p>
          <a:p>
            <a:r>
              <a:rPr lang="ru-RU" dirty="0"/>
              <a:t>Классы </a:t>
            </a:r>
            <a:r>
              <a:rPr lang="en-US" dirty="0"/>
              <a:t>– class</a:t>
            </a:r>
          </a:p>
          <a:p>
            <a:r>
              <a:rPr lang="ru-RU" dirty="0"/>
              <a:t>Структура – </a:t>
            </a:r>
            <a:r>
              <a:rPr lang="en-US" dirty="0"/>
              <a:t>struct</a:t>
            </a:r>
          </a:p>
        </p:txBody>
      </p:sp>
    </p:spTree>
    <p:extLst>
      <p:ext uri="{BB962C8B-B14F-4D97-AF65-F5344CB8AC3E}">
        <p14:creationId xmlns:p14="http://schemas.microsoft.com/office/powerpoint/2010/main" val="377269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0DD91-3F9C-80ED-EA1F-6EA4D66E0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класс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703F2A-B907-37E5-2C53-F485FA0E6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- </a:t>
            </a:r>
            <a:r>
              <a:rPr lang="ru-RU" dirty="0"/>
              <a:t>тип данных, созданный пользователем</a:t>
            </a:r>
            <a:r>
              <a:rPr lang="en-US" dirty="0"/>
              <a:t>. </a:t>
            </a:r>
            <a:r>
              <a:rPr lang="ru-RU" dirty="0"/>
              <a:t>Класс содержит данные (поля) и код, который управляет этими данными (функции).</a:t>
            </a:r>
          </a:p>
          <a:p>
            <a:r>
              <a:rPr lang="ru-RU" b="0" i="0" dirty="0">
                <a:effectLst/>
                <a:latin typeface="YS Text"/>
              </a:rPr>
              <a:t>Класс это шаблон, по которому определяется форма объекта, но сам класс — абстракция: его объектное представление появится в оперативной памяти лишь после того, как будет создан объект этого класса.</a:t>
            </a:r>
          </a:p>
          <a:p>
            <a:r>
              <a:rPr lang="ru-RU" dirty="0">
                <a:latin typeface="YS Text"/>
              </a:rPr>
              <a:t>Класс – ссылочный тип данных</a:t>
            </a:r>
            <a:endParaRPr lang="ru-RU" b="0" i="0" dirty="0">
              <a:effectLst/>
              <a:latin typeface="YS Text"/>
            </a:endParaRPr>
          </a:p>
          <a:p>
            <a:r>
              <a:rPr lang="ru-RU" b="1" dirty="0">
                <a:latin typeface="YS Text"/>
              </a:rPr>
              <a:t>Класс </a:t>
            </a:r>
            <a:r>
              <a:rPr lang="ru-RU" dirty="0">
                <a:latin typeface="YS Text"/>
              </a:rPr>
              <a:t>и </a:t>
            </a:r>
            <a:r>
              <a:rPr lang="ru-RU" b="1" dirty="0">
                <a:latin typeface="YS Text"/>
              </a:rPr>
              <a:t>объект класса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987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0DD91-3F9C-80ED-EA1F-6EA4D66E0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класс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703F2A-B907-37E5-2C53-F485FA0E6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- </a:t>
            </a:r>
            <a:r>
              <a:rPr lang="ru-RU" dirty="0"/>
              <a:t>тип данных, созданный пользователем</a:t>
            </a:r>
            <a:r>
              <a:rPr lang="en-US" dirty="0"/>
              <a:t>. </a:t>
            </a:r>
            <a:r>
              <a:rPr lang="ru-RU" dirty="0"/>
              <a:t>Класс содержит данные (поля) и код, который управляет этими данными (функции).</a:t>
            </a:r>
          </a:p>
          <a:p>
            <a:r>
              <a:rPr lang="ru-RU" b="0" i="0" dirty="0">
                <a:effectLst/>
                <a:latin typeface="YS Text"/>
              </a:rPr>
              <a:t>Класс это шаблон, по которому определяется форма объекта, но сам класс — абстракция: его объектное представление появится в оперативной памяти лишь после того, как будет создан объект этого класса.</a:t>
            </a:r>
          </a:p>
          <a:p>
            <a:r>
              <a:rPr lang="ru-RU" dirty="0">
                <a:latin typeface="YS Text"/>
              </a:rPr>
              <a:t>Класс – ссылочный тип данных</a:t>
            </a:r>
            <a:endParaRPr lang="ru-RU" b="0" i="0" dirty="0">
              <a:effectLst/>
              <a:latin typeface="YS Text"/>
            </a:endParaRPr>
          </a:p>
          <a:p>
            <a:r>
              <a:rPr lang="ru-RU" b="1" dirty="0">
                <a:latin typeface="YS Text"/>
              </a:rPr>
              <a:t>Класс </a:t>
            </a:r>
            <a:r>
              <a:rPr lang="ru-RU" dirty="0">
                <a:latin typeface="YS Text"/>
              </a:rPr>
              <a:t>и </a:t>
            </a:r>
            <a:r>
              <a:rPr lang="ru-RU" b="1" dirty="0">
                <a:latin typeface="YS Text"/>
              </a:rPr>
              <a:t>объект класса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265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D17B5-451F-F3E8-3385-D3CD6B14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44E37-50D6-6E2D-8595-5D2A9F9F3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null - </a:t>
            </a:r>
            <a:r>
              <a:rPr lang="ru-RU" dirty="0"/>
              <a:t>означает «</a:t>
            </a:r>
            <a:r>
              <a:rPr lang="ru-RU" b="1" dirty="0"/>
              <a:t>нет объекта</a:t>
            </a:r>
            <a:r>
              <a:rPr lang="ru-RU" dirty="0"/>
              <a:t>». Это не встроенная константа, а значение, которое может быть присвоено переменной-указателю. </a:t>
            </a:r>
          </a:p>
        </p:txBody>
      </p:sp>
    </p:spTree>
    <p:extLst>
      <p:ext uri="{BB962C8B-B14F-4D97-AF65-F5344CB8AC3E}">
        <p14:creationId xmlns:p14="http://schemas.microsoft.com/office/powerpoint/2010/main" val="126618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D17B5-451F-F3E8-3385-D3CD6B14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44E37-50D6-6E2D-8595-5D2A9F9F3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null -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5709D7-0DFF-098B-F4A8-6FA4AA78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" y="1690688"/>
            <a:ext cx="10269383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24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D17B5-451F-F3E8-3385-D3CD6B14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44E37-50D6-6E2D-8595-5D2A9F9F3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ru-RU" b="1" dirty="0" err="1"/>
              <a:t>static</a:t>
            </a:r>
            <a:r>
              <a:rPr lang="ru-RU" dirty="0"/>
              <a:t> в языке программирования C# применяется к переменным и методам, делая их принадлежащими не объектам, а самому типу. </a:t>
            </a:r>
            <a:endParaRPr lang="en-US" dirty="0"/>
          </a:p>
          <a:p>
            <a:r>
              <a:rPr lang="ru-RU" dirty="0" err="1"/>
              <a:t>static</a:t>
            </a:r>
            <a:r>
              <a:rPr lang="ru-RU" dirty="0"/>
              <a:t>-элементы существуют независимо от создания экземпляров класса и доступны для использования даже без их создания. </a:t>
            </a:r>
          </a:p>
        </p:txBody>
      </p:sp>
    </p:spTree>
    <p:extLst>
      <p:ext uri="{BB962C8B-B14F-4D97-AF65-F5344CB8AC3E}">
        <p14:creationId xmlns:p14="http://schemas.microsoft.com/office/powerpoint/2010/main" val="410249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0DD91-3F9C-80ED-EA1F-6EA4D66E0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703F2A-B907-37E5-2C53-F485FA0E6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Структура – составной тип данных, который объединяет несколько переменных, часто различных типов, под одним именем. В структуре могут быть собраны различные объекты: переменные, массивы, указатели, другие структуры. </a:t>
            </a:r>
          </a:p>
          <a:p>
            <a:r>
              <a:rPr lang="ru-RU" dirty="0"/>
              <a:t>Объявление структуры создаёт шаблон, который можно использовать для создания её объектов (экземпляров). </a:t>
            </a:r>
          </a:p>
          <a:p>
            <a:r>
              <a:rPr lang="ru-RU" dirty="0"/>
              <a:t>Структура – значимый тип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7377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4440F-CC45-C1B8-4A91-25FF37F6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842BB-9164-D6A9-24F8-E25B5209D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помощью классов мы группируем связанную логику. </a:t>
            </a:r>
          </a:p>
          <a:p>
            <a:r>
              <a:rPr lang="ru-RU" dirty="0"/>
              <a:t>Код становится чище и легче для чтения/поиска.</a:t>
            </a:r>
          </a:p>
          <a:p>
            <a:r>
              <a:rPr lang="ru-RU" dirty="0"/>
              <a:t>Ваши фильтры не засоряют глобальное пространство имен.</a:t>
            </a:r>
          </a:p>
        </p:txBody>
      </p:sp>
    </p:spTree>
    <p:extLst>
      <p:ext uri="{BB962C8B-B14F-4D97-AF65-F5344CB8AC3E}">
        <p14:creationId xmlns:p14="http://schemas.microsoft.com/office/powerpoint/2010/main" val="685321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27D78-8041-2FA3-6784-113D4F54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class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5609-3F8F-A8A0-4E13-6C887E66AE1D}"/>
              </a:ext>
            </a:extLst>
          </p:cNvPr>
          <p:cNvSpPr txBox="1"/>
          <p:nvPr/>
        </p:nvSpPr>
        <p:spPr>
          <a:xfrm>
            <a:off x="569843" y="1431235"/>
            <a:ext cx="690438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Методы из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BasicMath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мы можем использовать написав название класса и название нужного нам метода.</a:t>
            </a:r>
          </a:p>
          <a:p>
            <a:endParaRPr lang="ru-RU" sz="2800" dirty="0">
              <a:solidFill>
                <a:prstClr val="black"/>
              </a:solidFill>
              <a:latin typeface="Aptos" panose="02110004020202020204"/>
            </a:endParaRPr>
          </a:p>
          <a:p>
            <a:r>
              <a:rPr lang="ru-RU" sz="2800" dirty="0">
                <a:solidFill>
                  <a:prstClr val="black"/>
                </a:solidFill>
                <a:latin typeface="Aptos" panose="02110004020202020204"/>
              </a:rPr>
              <a:t>Для использования методов из </a:t>
            </a:r>
            <a:r>
              <a:rPr lang="en-US" sz="2800" dirty="0" err="1">
                <a:solidFill>
                  <a:prstClr val="black"/>
                </a:solidFill>
                <a:latin typeface="Aptos" panose="02110004020202020204"/>
              </a:rPr>
              <a:t>CommonMath</a:t>
            </a:r>
            <a:r>
              <a:rPr lang="en-US" sz="2800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ru-RU" sz="2800" dirty="0">
                <a:solidFill>
                  <a:prstClr val="black"/>
                </a:solidFill>
                <a:latin typeface="Aptos" panose="02110004020202020204"/>
              </a:rPr>
              <a:t>мы должны создать объект класса этой математики (переменная) и в ней мы используем метод.</a:t>
            </a:r>
          </a:p>
          <a:p>
            <a:endParaRPr lang="ru-RU" sz="2800" dirty="0">
              <a:solidFill>
                <a:prstClr val="black"/>
              </a:solidFill>
              <a:latin typeface="Aptos" panose="02110004020202020204"/>
            </a:endParaRPr>
          </a:p>
          <a:p>
            <a:r>
              <a:rPr lang="ru-RU" sz="2800" dirty="0">
                <a:solidFill>
                  <a:prstClr val="black"/>
                </a:solidFill>
                <a:latin typeface="Aptos" panose="02110004020202020204"/>
              </a:rPr>
              <a:t>При работе в</a:t>
            </a:r>
            <a:r>
              <a:rPr lang="en-US" sz="2800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ru-RU" sz="2800" dirty="0">
                <a:solidFill>
                  <a:prstClr val="black"/>
                </a:solidFill>
                <a:latin typeface="Aptos" panose="02110004020202020204"/>
              </a:rPr>
              <a:t>консольных приложениях мы всегда делаем классы и методы статическими</a:t>
            </a:r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DC8F299-C3F6-6FE2-ECBF-2EEC366AC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371" y="0"/>
            <a:ext cx="4141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6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27D78-8041-2FA3-6784-113D4F54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struct</a:t>
            </a:r>
            <a:endParaRPr lang="ru-RU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6C9FDEFB-B643-C669-9FA8-A5E23DC17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3018" y="365125"/>
            <a:ext cx="4917920" cy="6020728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D74E56-EE60-779E-63AC-D88D70293DA9}"/>
              </a:ext>
            </a:extLst>
          </p:cNvPr>
          <p:cNvSpPr txBox="1"/>
          <p:nvPr/>
        </p:nvSpPr>
        <p:spPr>
          <a:xfrm>
            <a:off x="490330" y="1298713"/>
            <a:ext cx="6056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prstClr val="black"/>
                </a:solidFill>
                <a:latin typeface="Aptos" panose="02110004020202020204"/>
              </a:rPr>
              <a:t>Структура тоже может в методы и тоже может быть статичной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27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B537E-DB7F-29CF-DB89-97A0D874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Спойлеры к 4 лабе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B4A91A-D154-97C2-B629-5EBAF5DB3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 как организовывать код в логические модули (</a:t>
            </a:r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class</a:t>
            </a:r>
            <a:r>
              <a:rPr lang="ru-RU" dirty="0"/>
              <a:t>), понять разницу и назначение </a:t>
            </a:r>
            <a:r>
              <a:rPr lang="ru-RU" dirty="0" err="1"/>
              <a:t>struct</a:t>
            </a:r>
            <a:r>
              <a:rPr lang="ru-RU" dirty="0"/>
              <a:t> и </a:t>
            </a:r>
            <a:r>
              <a:rPr lang="ru-RU" dirty="0" err="1"/>
              <a:t>class</a:t>
            </a:r>
            <a:r>
              <a:rPr lang="ru-RU" dirty="0"/>
              <a:t>, и закрепить на практике работу с передачей данных по ссылке (</a:t>
            </a:r>
            <a:r>
              <a:rPr lang="ru-RU" dirty="0" err="1"/>
              <a:t>ref</a:t>
            </a:r>
            <a:r>
              <a:rPr lang="ru-RU" dirty="0"/>
              <a:t> (</a:t>
            </a:r>
            <a:r>
              <a:rPr lang="ru-RU" i="1" dirty="0"/>
              <a:t>да опять </a:t>
            </a:r>
            <a:r>
              <a:rPr lang="ru-RU" i="1" dirty="0" err="1"/>
              <a:t>реф</a:t>
            </a:r>
            <a:r>
              <a:rPr lang="ru-RU" dirty="0"/>
              <a:t>)).</a:t>
            </a:r>
          </a:p>
          <a:p>
            <a:r>
              <a:rPr lang="ru-RU" b="1" dirty="0"/>
              <a:t>Класс Image</a:t>
            </a:r>
            <a:r>
              <a:rPr lang="ru-RU" dirty="0"/>
              <a:t>: Умеет загружать и сохранять картинки, знает свою ширину/высоту и дает доступ к пикселям по координатам </a:t>
            </a:r>
            <a:r>
              <a:rPr lang="ru-RU" dirty="0" err="1"/>
              <a:t>image</a:t>
            </a:r>
            <a:r>
              <a:rPr lang="ru-RU" dirty="0"/>
              <a:t>[x, y].</a:t>
            </a:r>
          </a:p>
          <a:p>
            <a:r>
              <a:rPr lang="ru-RU" b="1" dirty="0"/>
              <a:t>Структура </a:t>
            </a:r>
            <a:r>
              <a:rPr lang="ru-RU" b="1" dirty="0" err="1"/>
              <a:t>Pixel</a:t>
            </a:r>
            <a:r>
              <a:rPr lang="ru-RU" dirty="0"/>
              <a:t>: Хранит три байта R, G, B.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6322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F7186-D3BF-5167-4B88-AACD86F0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лежат данные (куча стек)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50B5CE-CEE0-72F2-2531-F12EC696D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Pixel</a:t>
            </a:r>
            <a:r>
              <a:rPr lang="ru-RU" dirty="0"/>
              <a:t>:</a:t>
            </a:r>
          </a:p>
          <a:p>
            <a:r>
              <a:rPr lang="ru-RU" dirty="0"/>
              <a:t>Наша структура </a:t>
            </a:r>
            <a:r>
              <a:rPr lang="ru-RU" dirty="0" err="1"/>
              <a:t>Pixel</a:t>
            </a:r>
            <a:r>
              <a:rPr lang="ru-RU" dirty="0"/>
              <a:t> хранит всего три байта: R, G, B. Это маленькая порция данных.</a:t>
            </a:r>
          </a:p>
          <a:p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double</a:t>
            </a:r>
            <a:r>
              <a:rPr lang="ru-RU" dirty="0"/>
              <a:t>, </a:t>
            </a:r>
            <a:r>
              <a:rPr lang="ru-RU" dirty="0" err="1"/>
              <a:t>bool</a:t>
            </a:r>
            <a:r>
              <a:rPr lang="ru-RU" dirty="0"/>
              <a:t>. Это всё типы-значения.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Структура расположена в стеке, копирование и передача в функцию аналогично передаче</a:t>
            </a:r>
            <a:r>
              <a:rPr lang="en-US" dirty="0"/>
              <a:t> </a:t>
            </a:r>
            <a:r>
              <a:rPr lang="ru-RU" dirty="0"/>
              <a:t>типов-значений (</a:t>
            </a:r>
            <a:r>
              <a:rPr lang="en-US" dirty="0"/>
              <a:t>int, bool </a:t>
            </a:r>
            <a:r>
              <a:rPr lang="ru-RU" dirty="0"/>
              <a:t>и </a:t>
            </a:r>
            <a:r>
              <a:rPr lang="ru-RU" dirty="0" err="1"/>
              <a:t>тд</a:t>
            </a:r>
            <a:r>
              <a:rPr lang="ru-RU" dirty="0"/>
              <a:t>) – данные копируются.</a:t>
            </a:r>
            <a:r>
              <a:rPr lang="en-US" dirty="0"/>
              <a:t>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409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F7186-D3BF-5167-4B88-AACD86F0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лежат данные (куча стек)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50B5CE-CEE0-72F2-2531-F12EC696D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err="1"/>
              <a:t>Pixel</a:t>
            </a:r>
            <a:r>
              <a:rPr lang="ru-RU" dirty="0"/>
              <a:t>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Плюсы: Быстро, предсказуемо, нет «неожиданных» изменений из других мест.</a:t>
            </a:r>
          </a:p>
          <a:p>
            <a:pPr marL="0" indent="0">
              <a:buNone/>
            </a:pPr>
            <a:r>
              <a:rPr lang="ru-RU" dirty="0"/>
              <a:t>Минусы: Если </a:t>
            </a:r>
            <a:r>
              <a:rPr lang="ru-RU" dirty="0" err="1"/>
              <a:t>struct</a:t>
            </a:r>
            <a:r>
              <a:rPr lang="ru-RU" dirty="0"/>
              <a:t> большой (много полей), копирование может быть медленным.</a:t>
            </a:r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E39091-DB72-9E9A-957F-9346D217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51" y="2653144"/>
            <a:ext cx="10241297" cy="155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87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F7186-D3BF-5167-4B88-AACD86F0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лежат данные (куча стек)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50B5CE-CEE0-72F2-2531-F12EC696D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Объект класса расположена в куче, ссылка хранится на стеке (полная аналогия с массивом)</a:t>
            </a:r>
          </a:p>
          <a:p>
            <a:r>
              <a:rPr lang="ru-RU" dirty="0"/>
              <a:t>Когда вы присваиваете </a:t>
            </a:r>
            <a:r>
              <a:rPr lang="ru-RU" dirty="0" err="1"/>
              <a:t>class</a:t>
            </a:r>
            <a:r>
              <a:rPr lang="ru-RU" dirty="0"/>
              <a:t> одной переменной другой или передаете в метод, копируется только «адрес», где лежит оригинал.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1661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F7186-D3BF-5167-4B88-AACD86F0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лежат данные (куча стек)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50B5CE-CEE0-72F2-2531-F12EC696D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</a:t>
            </a:r>
            <a:r>
              <a:rPr lang="ru-RU" dirty="0"/>
              <a:t>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06DC01-19FB-68D7-9B02-E2A4CEF5F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04" y="2414445"/>
            <a:ext cx="10412896" cy="29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21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F7186-D3BF-5167-4B88-AACD86F0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лежат данные (куча стек)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50B5CE-CEE0-72F2-2531-F12EC696D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</a:t>
            </a:r>
            <a:r>
              <a:rPr lang="ru-RU" dirty="0"/>
              <a:t>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Плюсы: Экономия памяти (копируем только адрес), можно легко менять один объект из разных мест.</a:t>
            </a:r>
          </a:p>
          <a:p>
            <a:pPr marL="0" indent="0">
              <a:buNone/>
            </a:pPr>
            <a:r>
              <a:rPr lang="ru-RU" dirty="0"/>
              <a:t>Минусы: "Неожиданные" изменения, сборщик мусора (GC) может создавать задержки.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6797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49282-C816-D14D-B0DA-1E22B9E8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 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AE01DB-43E6-6914-97A6-69BA1B22F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Пишем метод </a:t>
            </a:r>
            <a:r>
              <a:rPr lang="en-US" dirty="0"/>
              <a:t>void </a:t>
            </a:r>
            <a:r>
              <a:rPr lang="en-US" dirty="0" err="1"/>
              <a:t>ChangePixel</a:t>
            </a:r>
            <a:r>
              <a:rPr lang="en-US" dirty="0"/>
              <a:t>(Pixel p) { </a:t>
            </a:r>
            <a:r>
              <a:rPr lang="en-US" dirty="0" err="1"/>
              <a:t>p.R</a:t>
            </a:r>
            <a:r>
              <a:rPr lang="en-US" dirty="0"/>
              <a:t> = 0; }.</a:t>
            </a:r>
          </a:p>
          <a:p>
            <a:r>
              <a:rPr lang="ru-RU" dirty="0"/>
              <a:t>Вызываем его: </a:t>
            </a:r>
            <a:r>
              <a:rPr lang="en-US" dirty="0"/>
              <a:t>Pixel </a:t>
            </a:r>
            <a:r>
              <a:rPr lang="en-US" dirty="0" err="1"/>
              <a:t>myPixel</a:t>
            </a:r>
            <a:r>
              <a:rPr lang="en-US" dirty="0"/>
              <a:t> = ...; </a:t>
            </a:r>
            <a:r>
              <a:rPr lang="en-US" dirty="0" err="1"/>
              <a:t>ChangePixel</a:t>
            </a:r>
            <a:r>
              <a:rPr lang="en-US" dirty="0"/>
              <a:t>(</a:t>
            </a:r>
            <a:r>
              <a:rPr lang="en-US" dirty="0" err="1"/>
              <a:t>myPixel</a:t>
            </a:r>
            <a:r>
              <a:rPr lang="en-US" dirty="0"/>
              <a:t>);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Что тут не так?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А) в </a:t>
            </a:r>
            <a:r>
              <a:rPr lang="en-US" dirty="0" err="1"/>
              <a:t>myPixel</a:t>
            </a:r>
            <a:r>
              <a:rPr lang="en-US" dirty="0"/>
              <a:t> </a:t>
            </a:r>
            <a:r>
              <a:rPr lang="ru-RU" dirty="0"/>
              <a:t>красный цвет станет 0 – правая рука вверх</a:t>
            </a:r>
          </a:p>
          <a:p>
            <a:pPr marL="0" indent="0">
              <a:buNone/>
            </a:pPr>
            <a:r>
              <a:rPr lang="ru-RU" dirty="0"/>
              <a:t>Б) в </a:t>
            </a:r>
            <a:r>
              <a:rPr lang="en-US" dirty="0" err="1"/>
              <a:t>myPixel</a:t>
            </a:r>
            <a:r>
              <a:rPr lang="en-US" dirty="0"/>
              <a:t> </a:t>
            </a:r>
            <a:r>
              <a:rPr lang="ru-RU" dirty="0"/>
              <a:t>красный цвет не изменится – левая рука вверх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2889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49282-C816-D14D-B0DA-1E22B9E8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 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AE01DB-43E6-6914-97A6-69BA1B22F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Пишем метод </a:t>
            </a:r>
            <a:r>
              <a:rPr lang="en-US" dirty="0"/>
              <a:t>void </a:t>
            </a:r>
            <a:r>
              <a:rPr lang="en-US" dirty="0" err="1"/>
              <a:t>ChangePixel</a:t>
            </a:r>
            <a:r>
              <a:rPr lang="en-US" dirty="0"/>
              <a:t>(Pixel p) { </a:t>
            </a:r>
            <a:r>
              <a:rPr lang="en-US" dirty="0" err="1"/>
              <a:t>p.R</a:t>
            </a:r>
            <a:r>
              <a:rPr lang="en-US" dirty="0"/>
              <a:t> = 0; }.</a:t>
            </a:r>
          </a:p>
          <a:p>
            <a:r>
              <a:rPr lang="ru-RU" dirty="0"/>
              <a:t>Вызываем его: </a:t>
            </a:r>
            <a:r>
              <a:rPr lang="en-US" dirty="0"/>
              <a:t>Pixel </a:t>
            </a:r>
            <a:r>
              <a:rPr lang="en-US" dirty="0" err="1"/>
              <a:t>myPixel</a:t>
            </a:r>
            <a:r>
              <a:rPr lang="en-US" dirty="0"/>
              <a:t> = ...; </a:t>
            </a:r>
            <a:r>
              <a:rPr lang="en-US" dirty="0" err="1"/>
              <a:t>ChangePixel</a:t>
            </a:r>
            <a:r>
              <a:rPr lang="en-US" dirty="0"/>
              <a:t>(</a:t>
            </a:r>
            <a:r>
              <a:rPr lang="en-US" dirty="0" err="1"/>
              <a:t>myPixel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myPixel</a:t>
            </a:r>
            <a:r>
              <a:rPr lang="ru-RU" dirty="0"/>
              <a:t> передается в </a:t>
            </a:r>
            <a:r>
              <a:rPr lang="ru-RU" dirty="0" err="1"/>
              <a:t>ChangePixel</a:t>
            </a:r>
            <a:r>
              <a:rPr lang="ru-RU" dirty="0"/>
              <a:t> по значению, то есть создается КОПИЯ. Метод </a:t>
            </a:r>
            <a:r>
              <a:rPr lang="ru-RU" dirty="0" err="1"/>
              <a:t>ChangePixel</a:t>
            </a:r>
            <a:r>
              <a:rPr lang="ru-RU" dirty="0"/>
              <a:t> меняет копию, а твой </a:t>
            </a:r>
            <a:r>
              <a:rPr lang="ru-RU" dirty="0" err="1"/>
              <a:t>myPixel</a:t>
            </a:r>
            <a:r>
              <a:rPr lang="ru-RU" dirty="0"/>
              <a:t> остается прежним.</a:t>
            </a:r>
          </a:p>
          <a:p>
            <a:pPr marL="0" indent="0">
              <a:buNone/>
            </a:pP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6578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D392A-6D0B-B250-2870-3BC8B65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2EE0C2-A75C-49AA-AC51-40B62773C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Хотите еще раз послушать про </a:t>
            </a:r>
            <a:r>
              <a:rPr lang="en-US" dirty="0"/>
              <a:t>ref? </a:t>
            </a:r>
            <a:r>
              <a:rPr lang="ru-RU" dirty="0"/>
              <a:t>Мб не понятно все еще или как.</a:t>
            </a:r>
          </a:p>
          <a:p>
            <a:endParaRPr lang="ru-RU" dirty="0"/>
          </a:p>
          <a:p>
            <a:r>
              <a:rPr lang="ru-RU" dirty="0"/>
              <a:t>Можно сессию </a:t>
            </a:r>
            <a:r>
              <a:rPr lang="ru-RU" dirty="0" err="1"/>
              <a:t>лайв</a:t>
            </a:r>
            <a:r>
              <a:rPr lang="ru-RU" dirty="0"/>
              <a:t> кода устроить еще.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21090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856</Words>
  <Application>Microsoft Office PowerPoint</Application>
  <PresentationFormat>Широкоэкранный</PresentationFormat>
  <Paragraphs>107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YS Text</vt:lpstr>
      <vt:lpstr>Тема Office</vt:lpstr>
      <vt:lpstr>Класс и структура</vt:lpstr>
      <vt:lpstr>Хламовник</vt:lpstr>
      <vt:lpstr>Организация кода</vt:lpstr>
      <vt:lpstr>Что такое класс</vt:lpstr>
      <vt:lpstr>Что такое класс</vt:lpstr>
      <vt:lpstr>null</vt:lpstr>
      <vt:lpstr>null</vt:lpstr>
      <vt:lpstr>static</vt:lpstr>
      <vt:lpstr>Что такое структура</vt:lpstr>
      <vt:lpstr>А зачем?</vt:lpstr>
      <vt:lpstr>Sample class</vt:lpstr>
      <vt:lpstr>Sample struct</vt:lpstr>
      <vt:lpstr>Спойлеры к 4 лабе</vt:lpstr>
      <vt:lpstr>Где лежат данные (куча стек)</vt:lpstr>
      <vt:lpstr>Где лежат данные (куча стек)</vt:lpstr>
      <vt:lpstr>Где лежат данные (куча стек)</vt:lpstr>
      <vt:lpstr>Где лежат данные (куча стек)</vt:lpstr>
      <vt:lpstr>Где лежат данные (куча стек)</vt:lpstr>
      <vt:lpstr>Мини проблема</vt:lpstr>
      <vt:lpstr>Мини проблема</vt:lpstr>
      <vt:lpstr>Спасибо за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4</cp:revision>
  <dcterms:created xsi:type="dcterms:W3CDTF">2025-11-02T16:49:00Z</dcterms:created>
  <dcterms:modified xsi:type="dcterms:W3CDTF">2025-11-02T19:03:57Z</dcterms:modified>
</cp:coreProperties>
</file>