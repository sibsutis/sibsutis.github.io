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C7F4A-614E-1F25-20E0-400767BF6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A3EC2-058E-15E7-2170-D2DF931AE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68D54C-361C-8A8F-126C-6C1C3380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E4403-7EE8-0E13-8E58-53EF6125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9A128-A4BA-0F0E-966A-D6A10DB4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23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EAD08-DB9E-B1DB-1FA9-C0A5E0F8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52D7D-1EDD-97C8-01B6-AFB0069DB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745074-C78F-764B-F836-592E2D39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43565-5634-73F4-3195-187548FE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11C009-C2A1-EDD1-6B38-58696C2F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5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CFABF-86BF-8E52-0ECA-A73A2003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76AF6-3E62-9571-CAE7-0D5ECA8E9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82B343-D33E-D6C1-40D3-29203145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3710D1-DAA5-420F-B3D4-ACA7803F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40F82D-8854-3AA1-0B8E-5B2BF5E0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33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E77E64-5E75-248A-3862-DDA9ECB4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381DAA-8B0D-799E-BA48-ED2EFA7E7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A6081D-8F1E-8B45-389E-01801302F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61945D-BA39-6828-A7B2-B916B855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A7F0FC-4D27-C95A-C51A-4CDF04A1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95C199-9674-C520-8F65-EFD5840D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32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77ECD-90BB-8B39-409E-4A1789D8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7D4DEA-B22B-180D-2F06-9F5F0D449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969C6B-874E-C02B-1E0D-207A08D57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473368-CDD0-56D0-3E80-D84C850A5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0D018C-0969-6978-93E3-B272BD504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37DE15-9107-E6C5-D0E3-6A54D10F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2A8D59D-2F82-FFD6-1E59-ED742E6A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B1F2AE-B232-69F9-B3F0-3BB3923A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26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A6016-58FF-0127-0177-EAECAD68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91C64F-FF9F-3D57-8F60-5FB663CB4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87334E-615D-E255-B806-FD0DFF90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C92573-FC46-404C-3F44-CB4B2C76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10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808B3D-9539-E35B-5EB3-5C8DC129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33F986-3D5B-28E5-1EB2-66ED547B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0D700C-2256-FEFF-5782-576A1854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835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B284F-1472-414B-B3F6-92F15F0C9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EED8-3C42-0901-5F28-544BC7D75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059AC4-4F3C-414F-7EE1-2952DD1A7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A4DF5E-48D6-8255-51C9-9599B0E8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24DED-922C-B8A1-61C6-56152A30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7C77E1-82BE-EECF-92FE-A2C5AD65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26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000E4-7F38-C72C-E2CC-3CC13FF6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553F37-C6A2-CB94-40DC-021576F44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EA4E67-4AA5-D384-66E2-A2DDC066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C36FAD-9614-CF9F-4495-98C1C083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58AD6E-A708-D87F-12BD-0445F370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4D91FF-AFEF-98D2-F291-7225EB69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09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6043E-173B-5654-28DB-0BC08AA4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C8D431-6B71-0FE5-01A7-82605DF96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097BC4-6510-13A7-89DE-B0CADC08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F00621-C03D-6232-CAA2-B2F19E9A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E35D58-74AA-8E1B-FF7E-BB10B001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77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89BB4B-C26C-E3F1-A5C8-07BEBB9E9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8F2AE4-9AC0-E7F9-3CF6-457C34702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04047-D648-1021-75FB-112E629A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5FD4B7-788F-FDF5-F689-6CD473B9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42B4B4-4F8D-A4C9-3E42-CEB6FFFD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32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E9482-654C-EF7A-E8FF-2EB33428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43F0F4-7622-3AFE-2514-98ADE6FC7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B32A78-EC54-CB84-A98B-443B197B1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72BAE-BC26-4D97-8C94-762BFD856A41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E715F-66C0-CD97-4FE4-39514898B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87B5B9-7138-9DEE-86F2-E6D83976C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63837-1E36-4145-BFAE-37FAF8747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60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DEBBA-25E9-795A-8BD3-297FC0D92E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Декомпозиция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79825E-20F0-FE06-777F-DCA9A2AFD2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Фоменко М.Ю.</a:t>
            </a:r>
          </a:p>
        </p:txBody>
      </p:sp>
    </p:spTree>
    <p:extLst>
      <p:ext uri="{BB962C8B-B14F-4D97-AF65-F5344CB8AC3E}">
        <p14:creationId xmlns:p14="http://schemas.microsoft.com/office/powerpoint/2010/main" val="37247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79F0E-A2ED-0812-ADD3-9308BCFF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задачи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0661ED-E0E4-2C21-5FD3-DD733938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Есть часы</a:t>
            </a:r>
          </a:p>
          <a:p>
            <a:r>
              <a:rPr lang="ru-RU" dirty="0"/>
              <a:t>Мы, как разработчики, должны разобрать их</a:t>
            </a:r>
          </a:p>
          <a:p>
            <a:r>
              <a:rPr lang="ru-RU" dirty="0"/>
              <a:t>Должны собрать такие же своими руками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Вам нужно приобрести навык «не ломаться, когда видите огромную задачу». Ее нужно научиться разделить на части и выполнить каждую маленькую часть.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1090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B1BFF-190F-98EB-C1E3-3CB07EC9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Разбор </a:t>
            </a:r>
            <a:r>
              <a:rPr lang="en-US" dirty="0"/>
              <a:t>List&lt;T&gt;</a:t>
            </a:r>
            <a:r>
              <a:rPr lang="ru-RU" dirty="0"/>
              <a:t> (снова)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976ED20-F513-7D63-4818-AEEB21757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163800" cy="162900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F5B310-D4C4-15DC-294A-6B34826CF183}"/>
              </a:ext>
            </a:extLst>
          </p:cNvPr>
          <p:cNvSpPr txBox="1"/>
          <p:nvPr/>
        </p:nvSpPr>
        <p:spPr>
          <a:xfrm>
            <a:off x="838200" y="3538311"/>
            <a:ext cx="28953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Хранилище данных</a:t>
            </a:r>
          </a:p>
          <a:p>
            <a:r>
              <a:rPr lang="ru-RU" sz="2400" dirty="0"/>
              <a:t>Счетчик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1C10DE-2307-FAE0-2127-87425A351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30" y="1690688"/>
            <a:ext cx="4258269" cy="3324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EE3A22-199F-C115-F775-4584AC4D6C70}"/>
              </a:ext>
            </a:extLst>
          </p:cNvPr>
          <p:cNvSpPr txBox="1"/>
          <p:nvPr/>
        </p:nvSpPr>
        <p:spPr>
          <a:xfrm>
            <a:off x="7412430" y="5086044"/>
            <a:ext cx="3074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Логика (добавление)</a:t>
            </a:r>
          </a:p>
        </p:txBody>
      </p:sp>
    </p:spTree>
    <p:extLst>
      <p:ext uri="{BB962C8B-B14F-4D97-AF65-F5344CB8AC3E}">
        <p14:creationId xmlns:p14="http://schemas.microsoft.com/office/powerpoint/2010/main" val="390436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83406-BCC5-5E76-F047-A2211CF1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Разбор </a:t>
            </a:r>
            <a:r>
              <a:rPr lang="en-US" dirty="0"/>
              <a:t>List&lt;T&gt;</a:t>
            </a:r>
            <a:r>
              <a:rPr lang="ru-RU" dirty="0"/>
              <a:t> (</a:t>
            </a:r>
            <a:r>
              <a:rPr lang="en-US" dirty="0"/>
              <a:t>Add</a:t>
            </a:r>
            <a:r>
              <a:rPr lang="ru-RU" dirty="0"/>
              <a:t>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E8241B7-FB82-3E88-31E2-1257E8098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112026" cy="39912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254ECD-215C-577A-B920-FEE9F4468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226" y="1690688"/>
            <a:ext cx="6068987" cy="26030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7A9E9C-45DF-87D4-240B-AF91DE32F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681957"/>
            <a:ext cx="10035378" cy="6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596F7-48FF-73D3-22F3-7B900744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добавления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9A843-02AC-7DF2-F9D3-0B5B17D6C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 мы работаем с массивом, значит добавление нового элемента в список – быстрая задача?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 что будет если у нас 1024 элемента и мы добавляем 1025ый?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Нам нужно создать новый массив, каким размером?</a:t>
            </a:r>
          </a:p>
          <a:p>
            <a:pPr marL="0" indent="0">
              <a:buNone/>
            </a:pPr>
            <a:r>
              <a:rPr lang="ru-RU" dirty="0"/>
              <a:t>+1, +10, *2, *10?</a:t>
            </a:r>
          </a:p>
        </p:txBody>
      </p:sp>
    </p:spTree>
    <p:extLst>
      <p:ext uri="{BB962C8B-B14F-4D97-AF65-F5344CB8AC3E}">
        <p14:creationId xmlns:p14="http://schemas.microsoft.com/office/powerpoint/2010/main" val="254526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DC06C-6256-0545-026C-0B4562EC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теперь проблема </a:t>
            </a:r>
            <a:r>
              <a:rPr lang="ru-RU" dirty="0" err="1"/>
              <a:t>ресайза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1039AE7-0ED7-B00A-7045-A7B9F69B9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7267" y="1609471"/>
            <a:ext cx="4896533" cy="3639058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D4DD35-5C11-A22C-1B34-6CED7BC40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22" y="5248529"/>
            <a:ext cx="10035378" cy="679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D0938-4E2F-AE69-5726-ED3697829400}"/>
              </a:ext>
            </a:extLst>
          </p:cNvPr>
          <p:cNvSpPr txBox="1"/>
          <p:nvPr/>
        </p:nvSpPr>
        <p:spPr>
          <a:xfrm>
            <a:off x="838200" y="1690688"/>
            <a:ext cx="525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+mj-lt"/>
              </a:rPr>
              <a:t>Увеличение ёмкости массива требует копирования массива в новую ячейку памяти, что отнимает много времени. Чтобы снизить вероятность копирования массивов, список удваивает свою ёмкость.</a:t>
            </a:r>
          </a:p>
          <a:p>
            <a:endParaRPr lang="ru-RU" sz="2400" dirty="0">
              <a:latin typeface="+mj-lt"/>
            </a:endParaRPr>
          </a:p>
          <a:p>
            <a:r>
              <a:rPr lang="ru-RU" sz="2400" dirty="0">
                <a:latin typeface="+mj-lt"/>
              </a:rPr>
              <a:t>Х2 – компромиссное значение между «много» и «часто»</a:t>
            </a:r>
          </a:p>
        </p:txBody>
      </p:sp>
    </p:spTree>
    <p:extLst>
      <p:ext uri="{BB962C8B-B14F-4D97-AF65-F5344CB8AC3E}">
        <p14:creationId xmlns:p14="http://schemas.microsoft.com/office/powerpoint/2010/main" val="376869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2C226-3D18-4D2A-B085-C2A29D25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Все еще проблема </a:t>
            </a:r>
            <a:r>
              <a:rPr lang="ru-RU" dirty="0" err="1"/>
              <a:t>ресайза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918665-1D82-BDFF-7CAB-DF8E08EE5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Копируем поэлементно все элементы из старого массива в новый. Это O(N).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Каждый наш </a:t>
            </a:r>
            <a:r>
              <a:rPr lang="ru-RU" dirty="0" err="1"/>
              <a:t>Add</a:t>
            </a:r>
            <a:r>
              <a:rPr lang="ru-RU" dirty="0"/>
              <a:t>() – лотерея. Мы либо мгновенно вставим новый, либо перетаскиваем старый массив в новый.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en-US" dirty="0"/>
              <a:t>Resize – </a:t>
            </a:r>
            <a:r>
              <a:rPr lang="ru-RU" dirty="0"/>
              <a:t>еще один отдельный модуль. Его задача увеличивать массив.</a:t>
            </a:r>
          </a:p>
        </p:txBody>
      </p:sp>
    </p:spTree>
    <p:extLst>
      <p:ext uri="{BB962C8B-B14F-4D97-AF65-F5344CB8AC3E}">
        <p14:creationId xmlns:p14="http://schemas.microsoft.com/office/powerpoint/2010/main" val="87093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B1D6C-4AC4-5CB2-1E44-677F0788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Скрытие логики (инкапсуляция)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EFC3F5-0160-614D-C176-F4E4AF8A5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Зачем мы прячем _</a:t>
            </a:r>
            <a:r>
              <a:rPr lang="ru-RU" dirty="0" err="1"/>
              <a:t>data</a:t>
            </a:r>
            <a:r>
              <a:rPr lang="ru-RU" dirty="0"/>
              <a:t> и _</a:t>
            </a:r>
            <a:r>
              <a:rPr lang="ru-RU" dirty="0" err="1"/>
              <a:t>count</a:t>
            </a:r>
            <a:r>
              <a:rPr lang="ru-RU" dirty="0"/>
              <a:t>, почему эти поля помечены как </a:t>
            </a:r>
            <a:r>
              <a:rPr lang="en-US" dirty="0"/>
              <a:t>private(internal)?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r>
              <a:rPr lang="ru-RU" i="1" dirty="0"/>
              <a:t>«Да дайте мне прямой доступ к массиву, </a:t>
            </a:r>
            <a:r>
              <a:rPr lang="ru-RU" i="1" dirty="0" err="1"/>
              <a:t>чё</a:t>
            </a:r>
            <a:r>
              <a:rPr lang="ru-RU" i="1" dirty="0"/>
              <a:t> вы?»</a:t>
            </a:r>
          </a:p>
          <a:p>
            <a:r>
              <a:rPr lang="ru-RU" i="1" dirty="0"/>
              <a:t>«Ага, чтобы вы залезли ручками в _</a:t>
            </a:r>
            <a:r>
              <a:rPr lang="ru-RU" i="1" dirty="0" err="1"/>
              <a:t>data</a:t>
            </a:r>
            <a:r>
              <a:rPr lang="ru-RU" i="1" dirty="0"/>
              <a:t>[5] и сломали всю логику счётчика _</a:t>
            </a:r>
            <a:r>
              <a:rPr lang="ru-RU" i="1" dirty="0" err="1"/>
              <a:t>count</a:t>
            </a:r>
            <a:r>
              <a:rPr lang="ru-RU" i="1" dirty="0"/>
              <a:t>? Или изменили размер массива в обход </a:t>
            </a:r>
            <a:r>
              <a:rPr lang="ru-RU" i="1" dirty="0" err="1"/>
              <a:t>Resize</a:t>
            </a:r>
            <a:r>
              <a:rPr lang="ru-RU" i="1" dirty="0"/>
              <a:t>()? Нет, дружок. </a:t>
            </a:r>
            <a:r>
              <a:rPr lang="ru-RU" i="1" dirty="0" err="1"/>
              <a:t>private</a:t>
            </a:r>
            <a:r>
              <a:rPr lang="ru-RU" i="1" dirty="0"/>
              <a:t> — это не для красоты. Это защита от дурака. В первую очередь, от самого себя.</a:t>
            </a:r>
          </a:p>
        </p:txBody>
      </p:sp>
    </p:spTree>
    <p:extLst>
      <p:ext uri="{BB962C8B-B14F-4D97-AF65-F5344CB8AC3E}">
        <p14:creationId xmlns:p14="http://schemas.microsoft.com/office/powerpoint/2010/main" val="141837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BB185-C390-8D75-606F-6A1CB682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Модификаторы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7627AB-BA21-3C5C-1F0A-DFD3409F0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private</a:t>
            </a:r>
            <a:r>
              <a:rPr lang="ru-RU" dirty="0"/>
              <a:t>: закрытый или приватный компонент класса или структуры. Приватный компонент доступен только в рамках своего класса или структуры.</a:t>
            </a:r>
          </a:p>
          <a:p>
            <a:r>
              <a:rPr lang="ru-RU" dirty="0" err="1"/>
              <a:t>public</a:t>
            </a:r>
            <a:r>
              <a:rPr lang="ru-RU" dirty="0"/>
              <a:t>: публичный, общедоступный компонент класса или структуры. Такой компонент доступен из любого места в коде, а также из других программ и сборок.</a:t>
            </a:r>
          </a:p>
          <a:p>
            <a:r>
              <a:rPr lang="ru-RU" dirty="0" err="1"/>
              <a:t>protected</a:t>
            </a:r>
            <a:r>
              <a:rPr lang="ru-RU" dirty="0"/>
              <a:t>: такой компонент класса доступен из любого места в своем классе или в производных классах. При этом производные классы могут располагаться в других сборках.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89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A3895-B2DA-7AEA-3E48-4A3EDAA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нарезки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24420-3FA2-EDD8-DE05-D4BD55B5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Задача — калькулятор. Почему это не так просто, как кажется?</a:t>
            </a:r>
          </a:p>
          <a:p>
            <a:endParaRPr lang="ru-RU" dirty="0"/>
          </a:p>
          <a:p>
            <a:r>
              <a:rPr lang="ru-RU" dirty="0"/>
              <a:t>Декомпозиция — разделение большого и сложного на небольшие простые части.</a:t>
            </a:r>
          </a:p>
        </p:txBody>
      </p:sp>
    </p:spTree>
    <p:extLst>
      <p:ext uri="{BB962C8B-B14F-4D97-AF65-F5344CB8AC3E}">
        <p14:creationId xmlns:p14="http://schemas.microsoft.com/office/powerpoint/2010/main" val="3659803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A3895-B2DA-7AEA-3E48-4A3EDAA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нарезки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24420-3FA2-EDD8-DE05-D4BD55B5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Шаг 1: Шок (это нормально). Посмотреть на неё целиком: «Нужен калькулятор для (3+4)*2».</a:t>
            </a:r>
          </a:p>
          <a:p>
            <a:pPr marL="0" indent="0">
              <a:buNone/>
            </a:pPr>
            <a:r>
              <a:rPr lang="ru-RU" dirty="0"/>
              <a:t>Шаг 2: Нарезать на самые крупные куски (Black Box подход).</a:t>
            </a:r>
          </a:p>
          <a:p>
            <a:pPr marL="0" indent="0">
              <a:buNone/>
            </a:pPr>
            <a:r>
              <a:rPr lang="ru-RU" dirty="0"/>
              <a:t>Шаг 3: Определить интерфейсы (что модули будут давать друг другу).</a:t>
            </a:r>
          </a:p>
          <a:p>
            <a:pPr marL="0" indent="0">
              <a:buNone/>
            </a:pPr>
            <a:r>
              <a:rPr lang="ru-RU" dirty="0"/>
              <a:t>Шаг 4: Повторяем, пока задачи не станут очевидно понятными.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706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A3895-B2DA-7AEA-3E48-4A3EDAA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нарезки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24420-3FA2-EDD8-DE05-D4BD55B5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Шаг 1: Нужен калькулятор для (3+4)*2</a:t>
            </a:r>
          </a:p>
          <a:p>
            <a:pPr marL="0" indent="0">
              <a:buNone/>
            </a:pPr>
            <a:r>
              <a:rPr lang="ru-RU" dirty="0"/>
              <a:t>Шаг 2: Что прога должна делать глобально? Она должна взять строку и выдать число. Значит, у нас есть как минимум два этапа: ПОНИМАНИЕ и ВЫЧИСЛЕНИЕ.</a:t>
            </a:r>
          </a:p>
          <a:p>
            <a:pPr marL="0" indent="0">
              <a:buNone/>
            </a:pPr>
            <a:r>
              <a:rPr lang="ru-RU" dirty="0"/>
              <a:t>[СТРОКА] -&gt; [МОДУЛЬ ПОНИМАНИЯ] -&gt; [МАГИЯ] -&gt; [МОДУЛЬ ВЫЧИСЛЕНИЯ] -&gt; [ЧИСЛО]</a:t>
            </a:r>
          </a:p>
          <a:p>
            <a:pPr marL="0" indent="0">
              <a:buNone/>
            </a:pPr>
            <a:r>
              <a:rPr lang="ru-RU" dirty="0"/>
              <a:t>Шаг 3: Что за «магия»? Пусть это будет Обратная Польская Нотация (разберем 1 декабря)</a:t>
            </a:r>
          </a:p>
          <a:p>
            <a:pPr marL="0" indent="0">
              <a:buNone/>
            </a:pPr>
            <a:r>
              <a:rPr lang="ru-RU" sz="2000" dirty="0"/>
              <a:t>Модуль_1(</a:t>
            </a:r>
            <a:r>
              <a:rPr lang="en-US" sz="2000" dirty="0"/>
              <a:t>string infix) -&gt; </a:t>
            </a:r>
            <a:r>
              <a:rPr lang="ru-RU" sz="2000" dirty="0"/>
              <a:t>возвращает </a:t>
            </a:r>
            <a:r>
              <a:rPr lang="en-US" sz="2000" dirty="0"/>
              <a:t>string </a:t>
            </a:r>
            <a:r>
              <a:rPr lang="en-US" sz="2000" dirty="0" err="1"/>
              <a:t>rpn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Модуль_2(</a:t>
            </a:r>
            <a:r>
              <a:rPr lang="en-US" sz="2000" dirty="0"/>
              <a:t>string </a:t>
            </a:r>
            <a:r>
              <a:rPr lang="en-US" sz="2000" dirty="0" err="1"/>
              <a:t>rpn</a:t>
            </a:r>
            <a:r>
              <a:rPr lang="en-US" sz="2000" dirty="0"/>
              <a:t>) -&gt; </a:t>
            </a:r>
            <a:r>
              <a:rPr lang="ru-RU" sz="2000" dirty="0"/>
              <a:t>возвращает </a:t>
            </a:r>
            <a:r>
              <a:rPr lang="en-US" sz="2000" dirty="0"/>
              <a:t>double result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48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A3895-B2DA-7AEA-3E48-4A3EDAA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нарезки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24420-3FA2-EDD8-DE05-D4BD55B5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Шаг 4: Модуль_1. «Преобразовать в ОПН». Всё ещё сложновато. Надо строку (3+4)*2 разбить на токены (, 3, +, 4, ), *, 2. </a:t>
            </a:r>
          </a:p>
          <a:p>
            <a:pPr marL="0" indent="0">
              <a:buNone/>
            </a:pPr>
            <a:r>
              <a:rPr lang="ru-RU" dirty="0"/>
              <a:t>Вот еще подзадача — </a:t>
            </a:r>
            <a:r>
              <a:rPr lang="ru-RU" dirty="0" err="1"/>
              <a:t>Токенизатор</a:t>
            </a:r>
            <a:r>
              <a:rPr lang="ru-RU" dirty="0"/>
              <a:t> (или </a:t>
            </a:r>
            <a:r>
              <a:rPr lang="ru-RU" dirty="0" err="1"/>
              <a:t>Лексер</a:t>
            </a:r>
            <a:r>
              <a:rPr lang="ru-RU" dirty="0"/>
              <a:t>).</a:t>
            </a:r>
            <a:endParaRPr lang="en-US" sz="20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86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A3895-B2DA-7AEA-3E48-4A3EDAA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нарезки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24420-3FA2-EDD8-DE05-D4BD55B5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Итог нарезки калькулятора:</a:t>
            </a:r>
          </a:p>
          <a:p>
            <a:r>
              <a:rPr lang="ru-RU" dirty="0"/>
              <a:t>Написать функцию, которая режет строку на токены.</a:t>
            </a:r>
          </a:p>
          <a:p>
            <a:r>
              <a:rPr lang="ru-RU" dirty="0"/>
              <a:t>Написать функцию, которая берёт токены и преобразует их в ОПН.</a:t>
            </a:r>
          </a:p>
          <a:p>
            <a:r>
              <a:rPr lang="ru-RU" dirty="0"/>
              <a:t>Написать функцию, которая берёт ОПН и считает результат.</a:t>
            </a:r>
          </a:p>
          <a:p>
            <a:r>
              <a:rPr lang="ru-RU" dirty="0"/>
              <a:t>Написать </a:t>
            </a:r>
            <a:r>
              <a:rPr lang="ru-RU" dirty="0" err="1"/>
              <a:t>Main</a:t>
            </a:r>
            <a:r>
              <a:rPr lang="ru-RU" dirty="0"/>
              <a:t>, который дёргает эти три функции по очереди.</a:t>
            </a:r>
          </a:p>
          <a:p>
            <a:pPr marL="0" indent="0">
              <a:buNone/>
            </a:pPr>
            <a:r>
              <a:rPr lang="ru-RU" b="1" dirty="0"/>
              <a:t>Вывод: </a:t>
            </a:r>
            <a:r>
              <a:rPr lang="ru-RU" dirty="0"/>
              <a:t>Мы превратили одну непонятную, страшную задачу в четыре маленькие и ясные. Каждую из них уже можно сесть и написать. Проектирование.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2419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A29C9-F5EA-1A32-57C2-73571388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Лаба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39A37-7892-9125-D224-C9A2A2A3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Мы напишем три маленькие утилиты и склеим их вместе.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Разбор по модулям:</a:t>
            </a:r>
          </a:p>
          <a:p>
            <a:r>
              <a:rPr lang="ru-RU" dirty="0" err="1"/>
              <a:t>Токенизатор:string.Split</a:t>
            </a:r>
            <a:r>
              <a:rPr lang="ru-RU" dirty="0"/>
              <a:t> или цикл по символам. Изолированная задача.</a:t>
            </a:r>
          </a:p>
          <a:p>
            <a:r>
              <a:rPr lang="ru-RU" dirty="0"/>
              <a:t>Конвертер (Сортировочная станция): самая сложная логика, но она решает только одну задачу — преобразование. Конвертору не важно как потом это будет считаться.</a:t>
            </a:r>
          </a:p>
          <a:p>
            <a:r>
              <a:rPr lang="ru-RU" dirty="0"/>
              <a:t>Вычислитель: тупой, как пробка, алгоритм со стеком. Ему не важно откуда взялась эта ОПН-строка, он просто её считает.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36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A29C9-F5EA-1A32-57C2-73571388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Лаба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39A37-7892-9125-D224-C9A2A2A3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Если у вас баг в вычислениях, вы лезете только в Вычислитель. Вам не нужно трогать Конвертер. </a:t>
            </a:r>
          </a:p>
          <a:p>
            <a:pPr marL="0" indent="0">
              <a:buNone/>
            </a:pPr>
            <a:r>
              <a:rPr lang="ru-RU" dirty="0"/>
              <a:t>Если парсер ошибочно обрабатывает скобки, вы чините только Конвертер. Модули независимы. </a:t>
            </a:r>
          </a:p>
          <a:p>
            <a:pPr marL="0" indent="0">
              <a:buNone/>
            </a:pPr>
            <a:r>
              <a:rPr lang="ru-RU" dirty="0"/>
              <a:t>Код перестал быть монолитом и стал похож на конструктор LEGO.</a:t>
            </a:r>
          </a:p>
        </p:txBody>
      </p:sp>
    </p:spTree>
    <p:extLst>
      <p:ext uri="{BB962C8B-B14F-4D97-AF65-F5344CB8AC3E}">
        <p14:creationId xmlns:p14="http://schemas.microsoft.com/office/powerpoint/2010/main" val="648316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A29C9-F5EA-1A32-57C2-73571388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39A37-7892-9125-D224-C9A2A2A3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Вскрыли чужой «чёрный ящик» (List) и увидели, что он состоит из простых деталей. </a:t>
            </a:r>
          </a:p>
          <a:p>
            <a:pPr marL="0" indent="0">
              <a:buNone/>
            </a:pPr>
            <a:r>
              <a:rPr lang="ru-RU" dirty="0"/>
              <a:t>Мы взяли свою большую задачу (Калькулятор) и сами нарезали её на такие же простые «чёрные ящики», определив, как они будут общаться между собой. </a:t>
            </a:r>
          </a:p>
          <a:p>
            <a:pPr marL="0" indent="0">
              <a:buNone/>
            </a:pPr>
            <a:r>
              <a:rPr lang="ru-RU" dirty="0"/>
              <a:t>Прежде чем написать хоть одну строчку кода, возьмите листок бумаги и ручку. Режьте вашу задачу на куски, пока вам не станет абсолютно понятно, что делает каждый из них. И только потом открывайте IDE. Иначе вы напишете </a:t>
            </a:r>
            <a:r>
              <a:rPr lang="en-US" dirty="0" err="1"/>
              <a:t>sheetcode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9179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77B1F-EF8D-5EB2-767B-BA3A3744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27DF15-1475-1B95-CEA4-7722CD79A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ОПН на следующей лекции (а </a:t>
            </a:r>
            <a:r>
              <a:rPr lang="ru-RU" dirty="0" err="1"/>
              <a:t>мб</a:t>
            </a:r>
            <a:r>
              <a:rPr lang="ru-RU" dirty="0"/>
              <a:t> </a:t>
            </a:r>
            <a:r>
              <a:rPr lang="ru-RU"/>
              <a:t>и сейчас)</a:t>
            </a:r>
          </a:p>
        </p:txBody>
      </p:sp>
    </p:spTree>
    <p:extLst>
      <p:ext uri="{BB962C8B-B14F-4D97-AF65-F5344CB8AC3E}">
        <p14:creationId xmlns:p14="http://schemas.microsoft.com/office/powerpoint/2010/main" val="22368589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935</Words>
  <Application>Microsoft Office PowerPoint</Application>
  <PresentationFormat>Широкоэкранный</PresentationFormat>
  <Paragraphs>82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Тема Office</vt:lpstr>
      <vt:lpstr>Декомпозиция</vt:lpstr>
      <vt:lpstr>Про задачи </vt:lpstr>
      <vt:lpstr>Разбор List&lt;T&gt; (снова)</vt:lpstr>
      <vt:lpstr>Разбор List&lt;T&gt; (Add)</vt:lpstr>
      <vt:lpstr>Проблема добавления</vt:lpstr>
      <vt:lpstr>А теперь проблема ресайза</vt:lpstr>
      <vt:lpstr>Все еще проблема ресайза</vt:lpstr>
      <vt:lpstr>Скрытие логики (инкапсуляция)</vt:lpstr>
      <vt:lpstr>Модификаторы доступа</vt:lpstr>
      <vt:lpstr>Пример нарезки задачи</vt:lpstr>
      <vt:lpstr>Пример нарезки задачи</vt:lpstr>
      <vt:lpstr>Пример нарезки задачи</vt:lpstr>
      <vt:lpstr>Пример нарезки задачи</vt:lpstr>
      <vt:lpstr>Пример нарезки задачи</vt:lpstr>
      <vt:lpstr>Лаба 6</vt:lpstr>
      <vt:lpstr>Лаба 6</vt:lpstr>
      <vt:lpstr>Финал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1</cp:revision>
  <dcterms:created xsi:type="dcterms:W3CDTF">2025-11-16T20:06:19Z</dcterms:created>
  <dcterms:modified xsi:type="dcterms:W3CDTF">2025-11-16T20:20:26Z</dcterms:modified>
</cp:coreProperties>
</file>