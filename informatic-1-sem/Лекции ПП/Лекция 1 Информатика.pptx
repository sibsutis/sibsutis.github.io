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4" y="20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1BD2E-E21A-776A-3A91-37BB86A65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ED3D53-1804-C196-6C8F-7C435B08A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B2B84-C67C-FBBB-9368-7D4AB811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F62979-C5F2-DE30-BC8B-3130AE17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0DD062-7A2E-7B55-14BB-2F2FBC3E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6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7C4C7-E7C3-C924-61BE-82C73555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B80A2A-37D0-3282-773A-ECDBB46C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0DAB6-1C3D-8FC2-E79C-413DD149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12534-B247-6FB3-9420-AA9D1C3B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682A52-99D0-3148-605E-75904C82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59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04D08-71EB-1A93-574D-7954DD54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36BDEB-BAFF-134A-0002-5B4EEFAF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0E8647-1EA2-CEEC-1133-413EB666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8EF539-8F24-261F-106A-9AC4179E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6B7B72-B515-9419-5221-A81D39B2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57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69C87-5251-585F-AF86-3D7168E13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B8D8FA-4999-B2CC-A99C-DB8253EAC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D486DD-4613-E65D-78C9-69CDAB077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B1DAB4-E808-C348-7862-033DC098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50A4B7-323A-F1AD-80A7-CA3513D1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7E9631-259F-2514-69E5-83EC1885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92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B9E7C1-B3B2-2995-F153-1C5DE217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5D4607-EB5A-6C3D-070E-CB6FD549B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B6F9D2-D2C4-4B16-52AF-C70D373A4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7F829B-CE0F-E166-7AE4-4D85EE6B6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2BB25D-A320-F37E-53E0-C82EEEDE9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9A6A122-0BD2-2A0D-4CB4-3C14F17F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60D670-2AA9-928A-E540-AA1CD2B1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E194A5-AEE1-FAF5-0751-1259A7EA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00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8E454-BD8D-397D-F3C8-F29291D8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CECA75-B6D6-339A-7D73-59191B4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7FE9F9-6F48-2EE1-70ED-1AFBF6C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6E3B20-FF1B-BBD0-B98E-15DFD429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69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451E74-A117-0B0A-095C-EA501D8E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E802CB5-34AE-0114-2773-FA54B5B7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E6BDEC-FF5B-F183-3657-2D435F0E7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52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A73E7-ADE8-4F43-AA61-1AF38715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7CD70D-9B50-63D3-FE31-270AAA2C5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FEC857-D8AB-05F2-A7C0-144DF2F5C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8DD8D2-8612-C199-000A-C440B6E3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78F0F0-99D3-7CC9-807C-C3570505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F7245-92E9-1395-02CC-E01EE6522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13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28BE1-683B-4148-39BC-B487DBF1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F1CB490-E62C-EE85-E51C-BEDBD31E9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FD2AC8-BF28-66C0-68F6-EA74A14E0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BCC64E-8053-09B2-EB24-0AAEBB2D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1F3B74-C141-6B68-98F2-3F51B90E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3AD50A-A2EA-2DD5-58F1-37209E69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43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F4854-FD6D-CF6D-9A86-53E9E015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B8060E-53D8-7648-5D75-523B792EE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624ABA-3297-117F-CC40-D7947E20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EF6CC-2B1E-1D80-F39F-1A33FDDE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D807FB-60C8-43A6-8D82-58F04D9D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3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AF288F-CDD1-DDF8-08AE-1C8E3441A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0F102F-DC7E-F34D-E16B-E879F6793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22E60F-1910-4420-872D-77957D4D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581AF2-5447-5907-BD74-27D49DE8E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C64B75-923A-1756-49E4-CDA30B70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55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85469-0FB9-02BE-6338-EB8B9CAB3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A16618-3505-9EE1-D725-2FD2EE2A2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7BFFDA-63F0-3394-CBAC-9D90E185D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F1172-03F6-4F2A-95CA-B1EA40233507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23286-7449-F130-6EDF-10A0AE7DD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1F46E8-6C04-4BAF-CF5F-D1756AC86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76366-11E1-4129-BCAC-C0CD1F25D2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43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5245A-BFED-A911-64F7-ABD37A1E40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Информатика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4C5D9A-9D3C-072A-06E6-3708C81266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Фоменко Максим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392056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5F9400-DECD-0226-C728-310BA391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что курс?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1F86DC-F35A-EBA6-5325-C717F12A8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Переменные, арифметические операции, циклы, условия</a:t>
            </a:r>
          </a:p>
          <a:p>
            <a:r>
              <a:rPr lang="ru-RU" dirty="0"/>
              <a:t>Массивы и строки</a:t>
            </a:r>
          </a:p>
          <a:p>
            <a:r>
              <a:rPr lang="ru-RU" dirty="0"/>
              <a:t>Функции</a:t>
            </a:r>
          </a:p>
          <a:p>
            <a:r>
              <a:rPr lang="ru-RU" dirty="0"/>
              <a:t>Обработка исключений и работа с файлами в С#</a:t>
            </a:r>
          </a:p>
          <a:p>
            <a:r>
              <a:rPr lang="ru-RU" dirty="0"/>
              <a:t>Графические приложения на Windows </a:t>
            </a:r>
            <a:r>
              <a:rPr lang="ru-RU" dirty="0" err="1"/>
              <a:t>Presentation</a:t>
            </a:r>
            <a:r>
              <a:rPr lang="ru-RU" dirty="0"/>
              <a:t> Foundation</a:t>
            </a:r>
          </a:p>
        </p:txBody>
      </p:sp>
    </p:spTree>
    <p:extLst>
      <p:ext uri="{BB962C8B-B14F-4D97-AF65-F5344CB8AC3E}">
        <p14:creationId xmlns:p14="http://schemas.microsoft.com/office/powerpoint/2010/main" val="326929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0BE28-58ED-06DA-2B68-50A6995B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Продолжение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D8C0C6-BC76-7260-D3D2-519880376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 семестр: информатика</a:t>
            </a:r>
          </a:p>
          <a:p>
            <a:r>
              <a:rPr lang="ru-RU" dirty="0"/>
              <a:t>2 семестр: программирование и обработка графических интерфейсов 1</a:t>
            </a:r>
          </a:p>
          <a:p>
            <a:r>
              <a:rPr lang="ru-RU" dirty="0"/>
              <a:t>3 семестр: программирование и обработка графических интерфейсов 2</a:t>
            </a:r>
          </a:p>
          <a:p>
            <a:r>
              <a:rPr lang="ru-RU" dirty="0"/>
              <a:t>Разработка игр, разработка мобильных приложений, </a:t>
            </a:r>
            <a:r>
              <a:rPr lang="ru-RU" dirty="0" err="1"/>
              <a:t>вебдиз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298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5C52EB9-38E5-203F-9685-D5CB0F6BA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8019"/>
            <a:ext cx="7650462" cy="3279775"/>
          </a:xfrm>
        </p:spPr>
      </p:pic>
    </p:spTree>
    <p:extLst>
      <p:ext uri="{BB962C8B-B14F-4D97-AF65-F5344CB8AC3E}">
        <p14:creationId xmlns:p14="http://schemas.microsoft.com/office/powerpoint/2010/main" val="220172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программы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635E9A-BF0D-9BCE-93F8-BB0B3A0E4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44008"/>
            <a:ext cx="6864790" cy="563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8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Math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293BE7-9260-D9B1-DA6A-96782BB6F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CB26E7-469B-3EB5-5055-93E2FBA43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88" y="1825625"/>
            <a:ext cx="7621064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6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A24A7D-190B-803D-8558-096C1893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288" y="320043"/>
            <a:ext cx="4980319" cy="621791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9CE200-EB56-F38D-3D83-582880A4B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6" y="1690689"/>
            <a:ext cx="6524797" cy="140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6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 и типы данных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212952-E526-8709-4669-B24E5A6B0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Переменная</a:t>
            </a:r>
            <a:r>
              <a:rPr lang="ru-RU" dirty="0"/>
              <a:t> - именованная область памяти, к которой можно обращаться за данными, используя идентификатор (имя переменной). </a:t>
            </a:r>
          </a:p>
          <a:p>
            <a:pPr marL="0" indent="0">
              <a:buNone/>
            </a:pPr>
            <a:r>
              <a:rPr lang="ru-RU" dirty="0"/>
              <a:t>Данные, находящиеся в переменной (то есть по её адресу в памяти), называются значением этой переменной.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C# все типы данных делятся на две большие категории: </a:t>
            </a:r>
            <a:r>
              <a:rPr lang="ru-RU" b="1" dirty="0"/>
              <a:t>значимые типы (Value </a:t>
            </a:r>
            <a:r>
              <a:rPr lang="ru-RU" b="1" dirty="0" err="1"/>
              <a:t>Types</a:t>
            </a:r>
            <a:r>
              <a:rPr lang="ru-RU" b="1" dirty="0"/>
              <a:t>)  </a:t>
            </a:r>
            <a:r>
              <a:rPr lang="ru-RU" dirty="0"/>
              <a:t>и </a:t>
            </a:r>
            <a:r>
              <a:rPr lang="ru-RU" b="1" dirty="0"/>
              <a:t>ссылочные типы (</a:t>
            </a:r>
            <a:r>
              <a:rPr lang="ru-RU" b="1" dirty="0" err="1"/>
              <a:t>Reference</a:t>
            </a:r>
            <a:r>
              <a:rPr lang="ru-RU" b="1" dirty="0"/>
              <a:t> </a:t>
            </a:r>
            <a:r>
              <a:rPr lang="ru-RU" b="1" dirty="0" err="1"/>
              <a:t>Types</a:t>
            </a:r>
            <a:r>
              <a:rPr lang="ru-RU" b="1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932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 и типы данных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212952-E526-8709-4669-B24E5A6B0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Переменная значимого типа напрямую содержит свое </a:t>
            </a:r>
            <a:r>
              <a:rPr lang="ru-RU" b="1" dirty="0"/>
              <a:t>значение</a:t>
            </a:r>
            <a:r>
              <a:rPr lang="ru-RU" dirty="0"/>
              <a:t>.</a:t>
            </a:r>
          </a:p>
          <a:p>
            <a:r>
              <a:rPr lang="ru-RU" dirty="0"/>
              <a:t>значимые: </a:t>
            </a:r>
            <a:r>
              <a:rPr lang="ru-RU" dirty="0" err="1"/>
              <a:t>int</a:t>
            </a:r>
            <a:r>
              <a:rPr lang="ru-RU" dirty="0"/>
              <a:t>, </a:t>
            </a:r>
            <a:r>
              <a:rPr lang="ru-RU" dirty="0" err="1"/>
              <a:t>double</a:t>
            </a:r>
            <a:r>
              <a:rPr lang="ru-RU" dirty="0"/>
              <a:t>, </a:t>
            </a:r>
            <a:r>
              <a:rPr lang="ru-RU" dirty="0" err="1"/>
              <a:t>bool</a:t>
            </a:r>
            <a:r>
              <a:rPr lang="ru-RU" dirty="0"/>
              <a:t>, </a:t>
            </a:r>
            <a:r>
              <a:rPr lang="ru-RU" dirty="0" err="1"/>
              <a:t>char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Переменная ссылочного типа хранит не сам объект, а </a:t>
            </a:r>
            <a:r>
              <a:rPr lang="ru-RU" b="1" dirty="0"/>
              <a:t>ссылку (или адрес)</a:t>
            </a:r>
            <a:r>
              <a:rPr lang="ru-RU" dirty="0"/>
              <a:t> на место в памяти, где этот объект находится.</a:t>
            </a:r>
          </a:p>
          <a:p>
            <a:r>
              <a:rPr lang="ru-RU" dirty="0"/>
              <a:t>Ссылочные: </a:t>
            </a:r>
            <a:r>
              <a:rPr lang="ru-RU" dirty="0" err="1"/>
              <a:t>strin</a:t>
            </a:r>
            <a:r>
              <a:rPr lang="en-US" dirty="0"/>
              <a:t>g</a:t>
            </a:r>
            <a:r>
              <a:rPr lang="ru-RU" dirty="0"/>
              <a:t>, все массивы (</a:t>
            </a:r>
            <a:r>
              <a:rPr lang="ru-RU" dirty="0" err="1"/>
              <a:t>int</a:t>
            </a:r>
            <a:r>
              <a:rPr lang="ru-RU" dirty="0"/>
              <a:t>[], </a:t>
            </a:r>
            <a:r>
              <a:rPr lang="ru-RU" dirty="0" err="1"/>
              <a:t>string</a:t>
            </a:r>
            <a:r>
              <a:rPr lang="ru-RU" dirty="0"/>
              <a:t>[]), все классы (</a:t>
            </a:r>
            <a:r>
              <a:rPr lang="ru-RU" dirty="0" err="1"/>
              <a:t>class</a:t>
            </a:r>
            <a:r>
              <a:rPr lang="ru-RU" dirty="0"/>
              <a:t>), </a:t>
            </a:r>
            <a:r>
              <a:rPr lang="ru-RU" dirty="0" err="1"/>
              <a:t>object</a:t>
            </a:r>
            <a:r>
              <a:rPr lang="ru-RU" dirty="0"/>
              <a:t>, делегаты.</a:t>
            </a:r>
          </a:p>
        </p:txBody>
      </p:sp>
    </p:spTree>
    <p:extLst>
      <p:ext uri="{BB962C8B-B14F-4D97-AF65-F5344CB8AC3E}">
        <p14:creationId xmlns:p14="http://schemas.microsoft.com/office/powerpoint/2010/main" val="3060235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 и типы данных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212952-E526-8709-4669-B24E5A6B0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C# строго типизированный язык.  Это означает, что </a:t>
            </a:r>
            <a:r>
              <a:rPr lang="ru-RU" b="1" dirty="0"/>
              <a:t>компилятор проверяет код на ошибки, связанные с типами, ещё до его выполнения</a:t>
            </a:r>
            <a:r>
              <a:rPr lang="ru-RU" dirty="0"/>
              <a:t>. </a:t>
            </a:r>
            <a:endParaRPr lang="en-US" dirty="0"/>
          </a:p>
          <a:p>
            <a:r>
              <a:rPr lang="ru-RU" dirty="0"/>
              <a:t>Пример: в питоне или JS вы получите ошибку связанную с типом только во время итерации программы, в </a:t>
            </a:r>
            <a:r>
              <a:rPr lang="en-US" dirty="0"/>
              <a:t>C#</a:t>
            </a:r>
            <a:r>
              <a:rPr lang="ru-RU" dirty="0"/>
              <a:t> до запуска IDE нас предупредит.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F756DF-A265-2EA4-AED1-E95B354A9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4425662"/>
            <a:ext cx="11774543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Логический и символьный типы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A788B8E-700B-53D0-E7AA-ACB227695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96693"/>
              </p:ext>
            </p:extLst>
          </p:nvPr>
        </p:nvGraphicFramePr>
        <p:xfrm>
          <a:off x="838200" y="3281204"/>
          <a:ext cx="10515600" cy="14401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501701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964100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704907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3820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Тип в </a:t>
                      </a:r>
                      <a:r>
                        <a:rPr lang="en-US" b="1">
                          <a:effectLst/>
                          <a:latin typeface="Inter"/>
                        </a:rPr>
                        <a:t>C#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Inter"/>
                        </a:rPr>
                        <a:t>Тип в .</a:t>
                      </a:r>
                      <a:r>
                        <a:rPr lang="en-US" b="1" dirty="0">
                          <a:effectLst/>
                          <a:latin typeface="Inter"/>
                        </a:rPr>
                        <a:t>NET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Размер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Значения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558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bool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System.Boolean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 байт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true</a:t>
                      </a:r>
                      <a:r>
                        <a:rPr lang="en-US" b="0">
                          <a:effectLst/>
                          <a:latin typeface="Inter"/>
                        </a:rPr>
                        <a:t> </a:t>
                      </a:r>
                      <a:r>
                        <a:rPr lang="ru-RU" b="0">
                          <a:effectLst/>
                          <a:latin typeface="Inter"/>
                        </a:rPr>
                        <a:t>или </a:t>
                      </a:r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false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17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char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System.Char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2 байта (16 бит)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Один символ </a:t>
                      </a:r>
                      <a:r>
                        <a:rPr lang="ru-RU" b="0" dirty="0" err="1">
                          <a:effectLst/>
                          <a:latin typeface="Inter"/>
                        </a:rPr>
                        <a:t>Unicode</a:t>
                      </a:r>
                      <a:r>
                        <a:rPr lang="ru-RU" b="0" dirty="0">
                          <a:effectLst/>
                          <a:latin typeface="Inter"/>
                        </a:rPr>
                        <a:t> (например, 'A', 'щ', '$')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48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007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Целочисленные типы со знаком (</a:t>
            </a:r>
            <a:r>
              <a:rPr lang="ru-RU" dirty="0" err="1"/>
              <a:t>Signed</a:t>
            </a:r>
            <a:r>
              <a:rPr lang="ru-RU" dirty="0"/>
              <a:t> </a:t>
            </a:r>
            <a:r>
              <a:rPr lang="ru-RU" dirty="0" err="1"/>
              <a:t>Integers</a:t>
            </a:r>
            <a:r>
              <a:rPr lang="ru-RU" dirty="0"/>
              <a:t>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B63D1D0-8949-8EFA-84E0-700CE9997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38291"/>
              </p:ext>
            </p:extLst>
          </p:nvPr>
        </p:nvGraphicFramePr>
        <p:xfrm>
          <a:off x="838200" y="2416584"/>
          <a:ext cx="10515600" cy="31049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9191340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306182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764601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59136785"/>
                    </a:ext>
                  </a:extLst>
                </a:gridCol>
              </a:tblGrid>
              <a:tr h="72746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Inter"/>
                        </a:rPr>
                        <a:t>Тип в </a:t>
                      </a:r>
                      <a:r>
                        <a:rPr lang="en-US" b="1" dirty="0">
                          <a:effectLst/>
                          <a:latin typeface="Inter"/>
                        </a:rPr>
                        <a:t>C#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Inter"/>
                        </a:rPr>
                        <a:t>Тип в .</a:t>
                      </a:r>
                      <a:r>
                        <a:rPr lang="en-US" b="1" dirty="0">
                          <a:effectLst/>
                          <a:latin typeface="Inter"/>
                        </a:rPr>
                        <a:t>NET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Размер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Диапазон значений (от min до max)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8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sbyte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DM Mono" panose="020B0509040201040103" pitchFamily="49" charset="0"/>
                        </a:rPr>
                        <a:t>System.SByte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 байт (8 бит)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от -128 до 127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203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short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DM Mono" panose="020B0509040201040103" pitchFamily="49" charset="0"/>
                        </a:rPr>
                        <a:t>System.Int16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2 байта (16 бит)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от -32 768 до 32 767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898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int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System.Int32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4 байта (32 бита)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от -2 147 483 648 до 2 147 483 647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725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long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System.Int64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8 байт (64 бита)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от -9 223 372 036 854 775 808 до 9 223 372 036 854 775 807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5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03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Целочисленные типы без знака (</a:t>
            </a:r>
            <a:r>
              <a:rPr lang="ru-RU" dirty="0" err="1"/>
              <a:t>Unsigned</a:t>
            </a:r>
            <a:r>
              <a:rPr lang="ru-RU" dirty="0"/>
              <a:t> </a:t>
            </a:r>
            <a:r>
              <a:rPr lang="ru-RU" dirty="0" err="1"/>
              <a:t>Integers</a:t>
            </a:r>
            <a:r>
              <a:rPr lang="ru-RU" dirty="0"/>
              <a:t>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DE4B468-01D0-4C83-ED72-2B8A112DA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427744"/>
              </p:ext>
            </p:extLst>
          </p:nvPr>
        </p:nvGraphicFramePr>
        <p:xfrm>
          <a:off x="838200" y="2554370"/>
          <a:ext cx="10515600" cy="2708441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273623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551755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14301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38381905"/>
                    </a:ext>
                  </a:extLst>
                </a:gridCol>
              </a:tblGrid>
              <a:tr h="879641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Inter"/>
                        </a:rPr>
                        <a:t>Тип в </a:t>
                      </a:r>
                      <a:r>
                        <a:rPr lang="en-US" b="1" dirty="0">
                          <a:effectLst/>
                          <a:latin typeface="Inter"/>
                        </a:rPr>
                        <a:t>C#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Тип в .</a:t>
                      </a:r>
                      <a:r>
                        <a:rPr lang="en-US" b="1">
                          <a:effectLst/>
                          <a:latin typeface="Inter"/>
                        </a:rPr>
                        <a:t>NET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Размер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Диапазон значений (от min до max)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64736"/>
                  </a:ext>
                </a:extLst>
              </a:tr>
              <a:tr h="21075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byte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DM Mono" panose="020B0509040201040103" pitchFamily="49" charset="0"/>
                        </a:rPr>
                        <a:t>System.Byte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 байт (8 бит)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от 0 до 255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84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DM Mono" panose="020B0509040201040103" pitchFamily="49" charset="0"/>
                        </a:rPr>
                        <a:t>ushort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System.UInt16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2 байта (16 бит)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от 0 до 65 535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94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uint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System.UInt32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4 байта (32 бита)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от 0 до 4 294 967 295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93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ulong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System.UInt64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8 байт (64 бита)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от 0 до 18 446 744 073 709 551 615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886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77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с плавающей точкой (</a:t>
            </a:r>
            <a:r>
              <a:rPr lang="ru-RU" dirty="0" err="1"/>
              <a:t>Floating</a:t>
            </a:r>
            <a:r>
              <a:rPr lang="ru-RU" dirty="0"/>
              <a:t>-Point </a:t>
            </a:r>
            <a:r>
              <a:rPr lang="ru-RU" dirty="0" err="1"/>
              <a:t>Types</a:t>
            </a:r>
            <a:r>
              <a:rPr lang="ru-RU" dirty="0"/>
              <a:t>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21AD769-5881-38E6-037F-974E9C29D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81778"/>
              </p:ext>
            </p:extLst>
          </p:nvPr>
        </p:nvGraphicFramePr>
        <p:xfrm>
          <a:off x="838200" y="3006884"/>
          <a:ext cx="10515600" cy="19888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8750858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536080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257496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746425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2382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Inter"/>
                        </a:rPr>
                        <a:t>Тип в </a:t>
                      </a:r>
                      <a:r>
                        <a:rPr lang="en-US" b="1" dirty="0">
                          <a:effectLst/>
                          <a:latin typeface="Inter"/>
                        </a:rPr>
                        <a:t>C#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Тип в .</a:t>
                      </a:r>
                      <a:r>
                        <a:rPr lang="en-US" b="1">
                          <a:effectLst/>
                          <a:latin typeface="Inter"/>
                        </a:rPr>
                        <a:t>NET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Размер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Точность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Приблизительный диапазон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152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float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System.Single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4 байта (32 бита)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~6-9 знаков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от ±1.5 x 10⁻⁴⁵ до ±3.4 x 10³⁸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03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double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System.Double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8 байт (64 бита)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~15-17 знаков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от ±5.0 x 10⁻³²⁴ до ±1.7 x 10³⁰⁸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797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860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высокой точности (High-Precision Type)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370871A-273D-AE3B-5792-C3E71A4F0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660082"/>
              </p:ext>
            </p:extLst>
          </p:nvPr>
        </p:nvGraphicFramePr>
        <p:xfrm>
          <a:off x="838200" y="3338354"/>
          <a:ext cx="10515600" cy="1325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78256962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421382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720627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838476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28768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Тип в </a:t>
                      </a:r>
                      <a:r>
                        <a:rPr lang="en-US" b="1">
                          <a:effectLst/>
                          <a:latin typeface="Inter"/>
                        </a:rPr>
                        <a:t>C#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Тип в .</a:t>
                      </a:r>
                      <a:r>
                        <a:rPr lang="en-US" b="1">
                          <a:effectLst/>
                          <a:latin typeface="Inter"/>
                        </a:rPr>
                        <a:t>NET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Inter"/>
                        </a:rPr>
                        <a:t>Размер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Точность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Приблизительный диапазон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88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decimal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System.Decimal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16 байт (128 бит)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28-29 знаков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от ±1.0 x 10⁻²⁸ до ±7.928 x 10²⁸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22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456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Ссылочные типы (</a:t>
            </a:r>
            <a:r>
              <a:rPr lang="en-US" dirty="0"/>
              <a:t>Reference Types)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1B89D62-4B2E-F5B7-A5FA-03E729C72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10862"/>
              </p:ext>
            </p:extLst>
          </p:nvPr>
        </p:nvGraphicFramePr>
        <p:xfrm>
          <a:off x="838200" y="2732564"/>
          <a:ext cx="10515600" cy="25374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9973298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65887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454414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69191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Тип в </a:t>
                      </a:r>
                      <a:r>
                        <a:rPr lang="en-US" b="1">
                          <a:effectLst/>
                          <a:latin typeface="Inter"/>
                        </a:rPr>
                        <a:t>C#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Тип в .</a:t>
                      </a:r>
                      <a:r>
                        <a:rPr lang="en-US" b="1">
                          <a:effectLst/>
                          <a:latin typeface="Inter"/>
                        </a:rPr>
                        <a:t>NET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Размер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Описание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563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string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DM Mono" panose="020B0509040201040103" pitchFamily="49" charset="0"/>
                        </a:rPr>
                        <a:t>System.String</a:t>
                      </a: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Зависит от длины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Последовательность символов </a:t>
                      </a:r>
                      <a:r>
                        <a:rPr lang="en-US" b="0">
                          <a:effectLst/>
                          <a:latin typeface="Inter"/>
                        </a:rPr>
                        <a:t>Unicode.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7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object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DM Mono" panose="020B0509040201040103" pitchFamily="49" charset="0"/>
                        </a:rPr>
                        <a:t>System.Object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Размер ссылки (4 или 8 байт)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Inter"/>
                        </a:rPr>
                        <a:t>Базовый тип для всех остальных типов в .NET. Переменная </a:t>
                      </a:r>
                      <a:r>
                        <a:rPr lang="ru-RU" b="0" dirty="0" err="1">
                          <a:effectLst/>
                          <a:latin typeface="DM Mono" panose="020B0509040201040103" pitchFamily="49" charset="0"/>
                        </a:rPr>
                        <a:t>object</a:t>
                      </a:r>
                      <a:r>
                        <a:rPr lang="ru-RU" b="0" dirty="0">
                          <a:effectLst/>
                          <a:latin typeface="Inter"/>
                        </a:rPr>
                        <a:t> может ссылаться на экземпляр любого типа.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1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48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7C9820-EE59-B80A-5744-06446E8CF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5296"/>
            <a:ext cx="5439534" cy="22958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5DC586-665A-44CE-ED1C-C9AF8D909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22" y="1905296"/>
            <a:ext cx="4582164" cy="19243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E72D35-CE2B-F448-7570-93D7EBAE9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889" y="4415749"/>
            <a:ext cx="3867690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5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операции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Сложение (+): </a:t>
            </a:r>
            <a:r>
              <a:rPr lang="ru-RU" dirty="0" err="1"/>
              <a:t>int</a:t>
            </a:r>
            <a:r>
              <a:rPr lang="ru-RU" dirty="0"/>
              <a:t> a = 10 + 5; // a будет равно 15   </a:t>
            </a:r>
            <a:endParaRPr lang="en-US" dirty="0"/>
          </a:p>
          <a:p>
            <a:r>
              <a:rPr lang="ru-RU" dirty="0"/>
              <a:t>Вычитание (-): </a:t>
            </a:r>
            <a:r>
              <a:rPr lang="ru-RU" dirty="0" err="1"/>
              <a:t>int</a:t>
            </a:r>
            <a:r>
              <a:rPr lang="ru-RU" dirty="0"/>
              <a:t> b = 10 - 5; // b будет равно 5   </a:t>
            </a:r>
            <a:endParaRPr lang="en-US" dirty="0"/>
          </a:p>
          <a:p>
            <a:r>
              <a:rPr lang="ru-RU" dirty="0"/>
              <a:t>Умножение (): </a:t>
            </a:r>
            <a:r>
              <a:rPr lang="ru-RU" dirty="0" err="1"/>
              <a:t>int</a:t>
            </a:r>
            <a:r>
              <a:rPr lang="ru-RU" dirty="0"/>
              <a:t> c = 10  5; // c будет равно 50   </a:t>
            </a:r>
            <a:endParaRPr lang="en-US" dirty="0"/>
          </a:p>
          <a:p>
            <a:r>
              <a:rPr lang="ru-RU" dirty="0"/>
              <a:t>Деление (/) : </a:t>
            </a:r>
            <a:r>
              <a:rPr lang="ru-RU" dirty="0" err="1"/>
              <a:t>int</a:t>
            </a:r>
            <a:r>
              <a:rPr lang="ru-RU" dirty="0"/>
              <a:t> d = 10 / 5; // d будет равно 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43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Нюанс при делении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Если вы делите два целых числа, результат также будет целым, а дробная часть отбрасывается. </a:t>
            </a:r>
          </a:p>
          <a:p>
            <a:pPr marL="0" indent="0">
              <a:buNone/>
            </a:pPr>
            <a:r>
              <a:rPr lang="ru-RU" dirty="0"/>
              <a:t>Например: </a:t>
            </a:r>
            <a:endParaRPr lang="en-US" dirty="0"/>
          </a:p>
          <a:p>
            <a:r>
              <a:rPr lang="ru-RU" dirty="0" err="1"/>
              <a:t>int</a:t>
            </a:r>
            <a:r>
              <a:rPr lang="ru-RU" dirty="0"/>
              <a:t> a = 9 / 5 //Результат будет 1, так как оба операнда целые числа</a:t>
            </a:r>
            <a:endParaRPr lang="en-US" dirty="0"/>
          </a:p>
          <a:p>
            <a:r>
              <a:rPr lang="ru-RU" dirty="0" err="1"/>
              <a:t>double</a:t>
            </a:r>
            <a:r>
              <a:rPr lang="ru-RU" dirty="0"/>
              <a:t> a = 9.0 / 5 //Результат будет 1.8.</a:t>
            </a:r>
          </a:p>
        </p:txBody>
      </p:sp>
    </p:spTree>
    <p:extLst>
      <p:ext uri="{BB962C8B-B14F-4D97-AF65-F5344CB8AC3E}">
        <p14:creationId xmlns:p14="http://schemas.microsoft.com/office/powerpoint/2010/main" val="2217739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Остаток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Оператор (%) возвращает остаток от целочисленного деления.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e = 10 % 3;  // e будет равно 1 (10 делим на 3, в остатке 1)</a:t>
            </a:r>
          </a:p>
        </p:txBody>
      </p:sp>
    </p:spTree>
    <p:extLst>
      <p:ext uri="{BB962C8B-B14F-4D97-AF65-F5344CB8AC3E}">
        <p14:creationId xmlns:p14="http://schemas.microsoft.com/office/powerpoint/2010/main" val="1805511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Инкремент и декремент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(++, --): Эти унарные операторы увеличивают или уменьшают значение переменной на единицу.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8257EE-826D-529B-5F8B-444C80347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9699"/>
            <a:ext cx="7473377" cy="370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68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Math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более сложных математических вычислений, таких как возведение в степень, извлечение квадратного корня или тригонометрические функции (синус, косинус), в C# существует встроенный класс </a:t>
            </a:r>
            <a:r>
              <a:rPr lang="ru-RU" b="1" dirty="0" err="1"/>
              <a:t>Math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194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операции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Логические операции используются для работы с булевым типом данных (</a:t>
            </a:r>
            <a:r>
              <a:rPr lang="ru-RU" dirty="0" err="1"/>
              <a:t>bool</a:t>
            </a:r>
            <a:r>
              <a:rPr lang="ru-RU" dirty="0"/>
              <a:t>), который может принимать только два значения: </a:t>
            </a:r>
            <a:r>
              <a:rPr lang="ru-RU" dirty="0" err="1"/>
              <a:t>true</a:t>
            </a:r>
            <a:r>
              <a:rPr lang="ru-RU" dirty="0"/>
              <a:t> (истина) или </a:t>
            </a:r>
            <a:r>
              <a:rPr lang="ru-RU" dirty="0" err="1"/>
              <a:t>false</a:t>
            </a:r>
            <a:r>
              <a:rPr lang="ru-RU" dirty="0"/>
              <a:t> (ложь).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Они являются основой для создания условий и управления потоком выполнения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476546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операции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Логическое "И" (&amp;</a:t>
            </a:r>
            <a:r>
              <a:rPr lang="en-US" dirty="0"/>
              <a:t>&amp; - </a:t>
            </a:r>
            <a:r>
              <a:rPr lang="ru-RU" dirty="0"/>
              <a:t>Амперсанд): Выражение a &amp;&amp; b истинно (</a:t>
            </a:r>
            <a:r>
              <a:rPr lang="ru-RU" dirty="0" err="1"/>
              <a:t>true</a:t>
            </a:r>
            <a:r>
              <a:rPr lang="ru-RU" dirty="0"/>
              <a:t>) только в том случае, если и a, и b истинны.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8ABF14-8A11-9EC4-FB8A-2EAF2B6EF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3104"/>
            <a:ext cx="10041814" cy="1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17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операции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Логическое "ИЛИ" (||</a:t>
            </a:r>
            <a:r>
              <a:rPr lang="en-US" dirty="0"/>
              <a:t> - </a:t>
            </a:r>
            <a:r>
              <a:rPr lang="ru-RU" dirty="0"/>
              <a:t>пайп): Выражение a || b истинно (</a:t>
            </a:r>
            <a:r>
              <a:rPr lang="ru-RU" dirty="0" err="1"/>
              <a:t>true</a:t>
            </a:r>
            <a:r>
              <a:rPr lang="ru-RU" dirty="0"/>
              <a:t>), если хотя бы одно из выражений, a или b, истинно.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C448A5-86F2-25AE-0D1A-54CB184F0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1924"/>
            <a:ext cx="10283463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27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операции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Логическое "НЕ" (!): Этот унарный (работает только с одним аргументом) оператор инвертирует (меняет на противоположное) логическое значение.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17D008-D962-071C-7F28-03101DD59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48687"/>
            <a:ext cx="8638627" cy="237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33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сравнения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Логические операторы используются вместе с операторами сравнения, которые сравнивают два значения и возвращают результат в виде </a:t>
            </a:r>
            <a:r>
              <a:rPr lang="ru-RU" dirty="0" err="1"/>
              <a:t>bool</a:t>
            </a:r>
            <a:r>
              <a:rPr lang="ru-RU" dirty="0"/>
              <a:t>.</a:t>
            </a:r>
          </a:p>
          <a:p>
            <a:r>
              <a:rPr lang="ru-RU" dirty="0"/>
              <a:t>== (равно)</a:t>
            </a:r>
          </a:p>
          <a:p>
            <a:r>
              <a:rPr lang="ru-RU" dirty="0"/>
              <a:t> != (не равно)</a:t>
            </a:r>
          </a:p>
          <a:p>
            <a:r>
              <a:rPr lang="ru-RU" dirty="0"/>
              <a:t> &lt; (меньше)</a:t>
            </a:r>
          </a:p>
          <a:p>
            <a:r>
              <a:rPr lang="ru-RU" dirty="0"/>
              <a:t>&gt; (больше)</a:t>
            </a:r>
          </a:p>
          <a:p>
            <a:r>
              <a:rPr lang="ru-RU" dirty="0"/>
              <a:t>&lt;= (меньше или равно)</a:t>
            </a:r>
          </a:p>
          <a:p>
            <a:r>
              <a:rPr lang="ru-RU" dirty="0"/>
              <a:t>&gt;= (больше или равно)</a:t>
            </a:r>
          </a:p>
        </p:txBody>
      </p:sp>
    </p:spTree>
    <p:extLst>
      <p:ext uri="{BB962C8B-B14F-4D97-AF65-F5344CB8AC3E}">
        <p14:creationId xmlns:p14="http://schemas.microsoft.com/office/powerpoint/2010/main" val="1348690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i="0" dirty="0">
                <a:effectLst/>
                <a:latin typeface="YS Text"/>
              </a:rPr>
              <a:t>Массив (</a:t>
            </a:r>
            <a:r>
              <a:rPr lang="ru-RU" b="1" i="0" dirty="0" err="1">
                <a:effectLst/>
                <a:latin typeface="YS Text"/>
              </a:rPr>
              <a:t>array</a:t>
            </a:r>
            <a:r>
              <a:rPr lang="ru-RU" b="1" i="0" dirty="0">
                <a:effectLst/>
                <a:latin typeface="YS Text"/>
              </a:rPr>
              <a:t>) — структура данных в компьютерном программировании и информатике</a:t>
            </a:r>
            <a:r>
              <a:rPr lang="ru-RU" b="0" i="0" dirty="0">
                <a:effectLst/>
                <a:latin typeface="YS Text"/>
              </a:rPr>
              <a:t>. Это упорядоченный набор однотипных элементов, хранящихся в смежных ячейках памяти.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Массив в C# - это ссылочный тип данных, представляющий собой индексированную коллекцию элементов одного и того же типа, размещенных в непрерывной области памяти.</a:t>
            </a:r>
          </a:p>
        </p:txBody>
      </p:sp>
    </p:spTree>
    <p:extLst>
      <p:ext uri="{BB962C8B-B14F-4D97-AF65-F5344CB8AC3E}">
        <p14:creationId xmlns:p14="http://schemas.microsoft.com/office/powerpoint/2010/main" val="2855264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Ключевые характеристики массива: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Массив может содержать элементы только одного, строго определенного при его создании, типа (например, </a:t>
            </a:r>
            <a:r>
              <a:rPr lang="ru-RU" dirty="0" err="1"/>
              <a:t>int</a:t>
            </a:r>
            <a:r>
              <a:rPr lang="ru-RU" dirty="0"/>
              <a:t>[] для целых чисел или </a:t>
            </a:r>
            <a:r>
              <a:rPr lang="ru-RU" dirty="0" err="1"/>
              <a:t>string</a:t>
            </a:r>
            <a:r>
              <a:rPr lang="ru-RU" dirty="0"/>
              <a:t>[</a:t>
            </a:r>
            <a:r>
              <a:rPr lang="en-US" dirty="0"/>
              <a:t>]</a:t>
            </a:r>
            <a:r>
              <a:rPr lang="ru-RU" dirty="0"/>
              <a:t> для строк).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Размер массива определяется в момент его создания (инициализации) и не может быть изменен в дальнейшем.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 Доступ к элементам массива осуществляется по целочисленному индексу. Нумерация индексов всегда начинается с нуля. Первый элемент имеет индекс 0, второй - 1, и так далее, до </a:t>
            </a:r>
            <a:r>
              <a:rPr lang="ru-RU" dirty="0" err="1"/>
              <a:t>Length</a:t>
            </a:r>
            <a:r>
              <a:rPr lang="ru-RU" dirty="0"/>
              <a:t> - 1.</a:t>
            </a:r>
          </a:p>
        </p:txBody>
      </p:sp>
    </p:spTree>
    <p:extLst>
      <p:ext uri="{BB962C8B-B14F-4D97-AF65-F5344CB8AC3E}">
        <p14:creationId xmlns:p14="http://schemas.microsoft.com/office/powerpoint/2010/main" val="3324912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и инициализация массива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i="0" dirty="0">
                <a:effectLst/>
                <a:latin typeface="YS Text"/>
              </a:rPr>
              <a:t>Декларация</a:t>
            </a:r>
          </a:p>
          <a:p>
            <a:pPr marL="0" indent="0">
              <a:buNone/>
            </a:pPr>
            <a:r>
              <a:rPr lang="ru-RU" dirty="0"/>
              <a:t>На этом этапе мы объявляем переменную, которая будет ссылаться на объект массива в памяти.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E95007-D6C6-912C-9DB8-DC3F38D08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05871"/>
            <a:ext cx="10130239" cy="156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75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и инициализация массива</a:t>
            </a:r>
            <a:endParaRPr lang="en-US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B90B2C1B-22D0-4AE1-2F96-2EF2451C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i="0" dirty="0">
                <a:effectLst/>
                <a:latin typeface="YS Text"/>
              </a:rPr>
              <a:t>Инициализация</a:t>
            </a:r>
          </a:p>
          <a:p>
            <a:pPr marL="0" indent="0">
              <a:buNone/>
            </a:pPr>
            <a:r>
              <a:rPr lang="ru-RU" dirty="0"/>
              <a:t>Инициализация - процесс создания экземпляра массива с помощью оператора </a:t>
            </a:r>
            <a:r>
              <a:rPr lang="ru-RU" b="1" dirty="0" err="1"/>
              <a:t>new</a:t>
            </a:r>
            <a:r>
              <a:rPr lang="ru-RU" dirty="0"/>
              <a:t>. В этот момент мы обязаны указать его размер.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8C07E5-F36D-F384-9D34-F1E302B1B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8051"/>
            <a:ext cx="4869089" cy="24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8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и инициализация массива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6077C7B-D962-28DB-0458-067F83ECB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887" y="2402157"/>
            <a:ext cx="6144225" cy="2053686"/>
          </a:xfrm>
        </p:spPr>
      </p:pic>
    </p:spTree>
    <p:extLst>
      <p:ext uri="{BB962C8B-B14F-4D97-AF65-F5344CB8AC3E}">
        <p14:creationId xmlns:p14="http://schemas.microsoft.com/office/powerpoint/2010/main" val="385099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элементам массива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CA6C95A-D1A3-E344-51F3-205EFA86A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Доступ для чтения или записи элемента осуществляется через указание имени массива и индекса элемента в квадратных скобках [].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4BB067-631C-FB01-84A6-4CB80A86E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33274"/>
            <a:ext cx="7915147" cy="345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27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03AB4-5269-2908-6313-61414C73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элементам массива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CA6C95A-D1A3-E344-51F3-205EFA86A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Попытка обратиться к элементу по индексу, который находится за пределами допустимого диапазона (т.е. меньше 0 или больше либо равен </a:t>
            </a:r>
            <a:r>
              <a:rPr lang="ru-RU" dirty="0" err="1"/>
              <a:t>Length</a:t>
            </a:r>
            <a:r>
              <a:rPr lang="ru-RU" dirty="0"/>
              <a:t>), приведет к генерации исключения </a:t>
            </a:r>
            <a:r>
              <a:rPr lang="ru-RU" dirty="0" err="1"/>
              <a:t>System.IndexOutOfRangeException</a:t>
            </a:r>
            <a:r>
              <a:rPr lang="ru-RU" dirty="0"/>
              <a:t> во время выполнения программы.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864458-F77E-1269-5E8E-97FCC331C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24013"/>
            <a:ext cx="987880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15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3CA6C95A-D1A3-E344-51F3-205EFA86A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Каждый массив имеет свойство </a:t>
            </a:r>
            <a:r>
              <a:rPr lang="ru-RU" dirty="0" err="1"/>
              <a:t>Length</a:t>
            </a:r>
            <a:r>
              <a:rPr lang="ru-RU" dirty="0"/>
              <a:t>, которое возвращает общее количество элементов, которое может содержать массив.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AF25ABB-2D07-ABC6-7C3B-EFD45521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Свойство </a:t>
            </a:r>
            <a:r>
              <a:rPr lang="ru-RU" dirty="0" err="1"/>
              <a:t>Lengt</a:t>
            </a:r>
            <a:r>
              <a:rPr lang="en-US" dirty="0"/>
              <a:t>h</a:t>
            </a:r>
            <a:r>
              <a:rPr lang="ru-RU" dirty="0"/>
              <a:t> и итерация по массиву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823A5D-4F55-B98D-1377-51C815EE1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58240"/>
            <a:ext cx="9462729" cy="232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03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3CA6C95A-D1A3-E344-51F3-205EFA86A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Классический способ итерации, который предоставляет полный контроль над процессом, включая доступ к индексу элемента.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AF25ABB-2D07-ABC6-7C3B-EFD45521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</a:t>
            </a:r>
            <a:r>
              <a:rPr lang="en-US" dirty="0"/>
              <a:t>for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1C2AEC-9357-0907-1DF3-D0751FB4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63527"/>
            <a:ext cx="6925642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05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3CA6C95A-D1A3-E344-51F3-205EFA86A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C# поддерживает многомерные массивы, которые полезны для представления табличных данных, матриц или сеток.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Массивы характеризуются таким понятием как ранг или количество измерений. Выше мы рассматривали массивы, которые имеют одно измерение (то есть их ранг равен 1) - такие массивы можно представлять в виде ряда (строки или столбца) элемента. Но массивы также бывают многомерными. У таких массивов количество измерений (то есть ранг) больше 1.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AF25ABB-2D07-ABC6-7C3B-EFD45521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массивы</a:t>
            </a:r>
          </a:p>
        </p:txBody>
      </p:sp>
    </p:spTree>
    <p:extLst>
      <p:ext uri="{BB962C8B-B14F-4D97-AF65-F5344CB8AC3E}">
        <p14:creationId xmlns:p14="http://schemas.microsoft.com/office/powerpoint/2010/main" val="802874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2">
            <a:extLst>
              <a:ext uri="{FF2B5EF4-FFF2-40B4-BE49-F238E27FC236}">
                <a16:creationId xmlns:a16="http://schemas.microsoft.com/office/drawing/2014/main" id="{DA4ECCA2-6DAF-BA16-1F51-7B9246C88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6668"/>
            <a:ext cx="9490140" cy="1552331"/>
          </a:xfr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AF25ABB-2D07-ABC6-7C3B-EFD45521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массивы</a:t>
            </a:r>
          </a:p>
        </p:txBody>
      </p:sp>
    </p:spTree>
    <p:extLst>
      <p:ext uri="{BB962C8B-B14F-4D97-AF65-F5344CB8AC3E}">
        <p14:creationId xmlns:p14="http://schemas.microsoft.com/office/powerpoint/2010/main" val="4250983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AF25ABB-2D07-ABC6-7C3B-EFD45521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массивы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7AD62B-1844-3444-844F-F03D3EC42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Определенную сложность может представлять перебор многомерного массива. Прежде всего надо учитывать, что длина такого массива - это совокупное количество элементов.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74D362-4721-787F-119B-2E8EA34F3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72862"/>
            <a:ext cx="6068077" cy="12363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BDE484-CEE5-B4AD-3332-285E961B2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42" y="4544099"/>
            <a:ext cx="6943175" cy="121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243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AF25ABB-2D07-ABC6-7C3B-EFD45521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массивы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7AD62B-1844-3444-844F-F03D3EC42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получения размера каждого измерения используется метод </a:t>
            </a:r>
            <a:r>
              <a:rPr lang="ru-RU" dirty="0" err="1"/>
              <a:t>GetLength</a:t>
            </a:r>
            <a:r>
              <a:rPr lang="ru-RU" dirty="0"/>
              <a:t>(</a:t>
            </a:r>
            <a:r>
              <a:rPr lang="ru-RU" dirty="0" err="1"/>
              <a:t>dimension</a:t>
            </a:r>
            <a:r>
              <a:rPr lang="ru-RU" dirty="0"/>
              <a:t>).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rows = </a:t>
            </a:r>
            <a:r>
              <a:rPr lang="en-US" dirty="0" err="1"/>
              <a:t>numbers.GetLength</a:t>
            </a:r>
            <a:r>
              <a:rPr lang="en-US" dirty="0"/>
              <a:t>(0);    // </a:t>
            </a:r>
            <a:r>
              <a:rPr lang="ru-RU" dirty="0"/>
              <a:t>Вернет 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 cols = </a:t>
            </a:r>
            <a:r>
              <a:rPr lang="en-US" dirty="0" err="1"/>
              <a:t>numbers.GetLength</a:t>
            </a:r>
            <a:r>
              <a:rPr lang="en-US" dirty="0"/>
              <a:t>(1);    // </a:t>
            </a:r>
            <a:r>
              <a:rPr lang="ru-RU" dirty="0"/>
              <a:t>Вернет 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7A48C4-9969-FFC6-8542-E177028BB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295" y="2977085"/>
            <a:ext cx="4259893" cy="285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334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1491</Words>
  <Application>Microsoft Office PowerPoint</Application>
  <PresentationFormat>Широкоэкранный</PresentationFormat>
  <Paragraphs>197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7" baseType="lpstr">
      <vt:lpstr>Aptos</vt:lpstr>
      <vt:lpstr>Aptos Display</vt:lpstr>
      <vt:lpstr>Arial</vt:lpstr>
      <vt:lpstr>DM Mono</vt:lpstr>
      <vt:lpstr>Inter</vt:lpstr>
      <vt:lpstr>YS Text</vt:lpstr>
      <vt:lpstr>Тема Office</vt:lpstr>
      <vt:lpstr>Информатика</vt:lpstr>
      <vt:lpstr>Про что курс?</vt:lpstr>
      <vt:lpstr>Продолжение</vt:lpstr>
      <vt:lpstr>Структура программы</vt:lpstr>
      <vt:lpstr>Структура программы</vt:lpstr>
      <vt:lpstr>Класс Math</vt:lpstr>
      <vt:lpstr>static</vt:lpstr>
      <vt:lpstr>Переменные и типы данных</vt:lpstr>
      <vt:lpstr>Переменные и типы данных</vt:lpstr>
      <vt:lpstr>Переменные и типы данных</vt:lpstr>
      <vt:lpstr>Логический и символьный типы</vt:lpstr>
      <vt:lpstr>Целочисленные типы со знаком (Signed Integers)</vt:lpstr>
      <vt:lpstr>Целочисленные типы без знака (Unsigned Integers)</vt:lpstr>
      <vt:lpstr>Типы с плавающей точкой (Floating-Point Types)</vt:lpstr>
      <vt:lpstr>Тип высокой точности (High-Precision Type)</vt:lpstr>
      <vt:lpstr>Ссылочные типы (Reference Types)</vt:lpstr>
      <vt:lpstr>Переменные</vt:lpstr>
      <vt:lpstr>Математические операции</vt:lpstr>
      <vt:lpstr>Нюанс при делении</vt:lpstr>
      <vt:lpstr>Остаток</vt:lpstr>
      <vt:lpstr>Инкремент и декремент</vt:lpstr>
      <vt:lpstr>Класс Math</vt:lpstr>
      <vt:lpstr>Логические операции</vt:lpstr>
      <vt:lpstr>Логические операции</vt:lpstr>
      <vt:lpstr>Логические операции</vt:lpstr>
      <vt:lpstr>Логические операции</vt:lpstr>
      <vt:lpstr>Операторы сравнения</vt:lpstr>
      <vt:lpstr>Массивы</vt:lpstr>
      <vt:lpstr>Массивы</vt:lpstr>
      <vt:lpstr>Объявление и инициализация массива</vt:lpstr>
      <vt:lpstr>Объявление и инициализация массива</vt:lpstr>
      <vt:lpstr>Объявление и инициализация массива</vt:lpstr>
      <vt:lpstr>Доступ к элементам массива</vt:lpstr>
      <vt:lpstr>Доступ к элементам массива</vt:lpstr>
      <vt:lpstr>Свойство Length и итерация по массиву</vt:lpstr>
      <vt:lpstr>Цикл for</vt:lpstr>
      <vt:lpstr>Многомерные массивы</vt:lpstr>
      <vt:lpstr>Многомерные массивы</vt:lpstr>
      <vt:lpstr>Многомерные массивы</vt:lpstr>
      <vt:lpstr>Многомерные массивы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1</cp:revision>
  <dcterms:created xsi:type="dcterms:W3CDTF">2025-09-07T17:38:54Z</dcterms:created>
  <dcterms:modified xsi:type="dcterms:W3CDTF">2025-09-07T19:12:41Z</dcterms:modified>
</cp:coreProperties>
</file>