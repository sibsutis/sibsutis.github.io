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99" r:id="rId19"/>
    <p:sldId id="275" r:id="rId20"/>
    <p:sldId id="298" r:id="rId21"/>
    <p:sldId id="272" r:id="rId22"/>
    <p:sldId id="273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300" r:id="rId4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" y="19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1879B3-C33A-C09B-F4C2-9F451AA24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7358C9-8D60-3B45-491F-91EC337D3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2C0A24-3682-481F-BFFF-1486372A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DBFDCB-C581-3EA5-F433-4FED8CCA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C0615F-637A-C4FF-3F10-0289C10B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026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FA019-828F-2ACD-29FC-EEBC7E67F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C3E07B-376B-ACA7-316C-C03DE923B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E38B92-F6AC-23BB-2A1A-45637373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51DE6-E996-B62F-759D-FEFFCA92B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BDF227-0D1D-0A98-9A74-E06F54A8F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21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25020-BC75-D3BF-E530-9E3BE1436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AB9BD4-37CC-CA69-020D-BAAA43C5E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459BAE-8188-3C23-C2F7-74653809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7E5144-BDAE-267D-5F0D-2AC9B5CF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CA49B9-5FEA-1C81-41BE-0548A10D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991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6CEA0-EDA5-A178-D490-DEC548CE4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58D107-97BA-D4C4-785B-17B5BCC2E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FC1CC24-9AA5-A0EE-C2B6-862EEBE97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F78323F-7528-BB79-491E-C4CD72F72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4737C2-7DBF-0B27-B6F7-D476C0D32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C42600-20A2-97F4-0FB6-A5F8EAB8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4294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96967-0BC0-BAEA-2EF0-6DE212057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758268-B7A5-CDA4-4F7D-5D2E3431F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A74C24-DE3D-E839-DA17-101FAD0FD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F2F8CF6-01CC-7C98-2125-D1A3AD76C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C0F9C7-0A57-5D23-A8C0-04E6D5C4F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354503-E16D-9D85-0957-D69B47565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5528DC3-E846-884E-E47E-E8E233D76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ACF266-104A-0776-C23F-F63AEE3C5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8393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FE2BC-78EA-2783-FB92-55F71647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1FE2BC-3852-5633-B919-6B499AFB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8915AF5-D4D6-B94D-BB4D-926AC1E63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5D1F27-EA58-1CF3-2912-33C4949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320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E16ACE5-AA31-1D09-7D90-5EE5B106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7E1CD78-D74F-3465-074F-D3E454B3A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CD31D9-4E5F-92B1-D148-DE5082B1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135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27DF6-2836-8834-8665-A7114201E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05CF49-ABCE-E601-3DB6-0B0EA1F68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F3F7C0-0F1D-4167-B8EF-63506FBBC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E7973B-FFA8-A4BA-5198-354627F45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B5DFA6-B3AE-EDD7-26C7-8E6A6C5C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331007-5ACC-BB00-9EA5-03CC2EE8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25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A46D96-9457-8F7D-E974-9582347E6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B5E899B-EEF4-7A8C-E92F-FEFC8BA23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4AC659-0852-157A-8A45-988A916C0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D3AA66-4AC7-8794-F571-6CB3034F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8449EE-AF8D-0527-1B72-A7EC1E739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D767CE-27D8-CE0B-1584-F5586630E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7792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612035-29A5-D22E-27B7-54445B234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1D8B047-4FC0-10F1-9F20-60A93DE66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EFE768-66BD-10D3-F341-849CF0238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6DFC15-5A43-FB44-1132-195A88213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BF0588-8FB6-5C56-C9E2-F0FC3FFE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561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9F5AD87-33D5-69D1-B1D6-F2D693146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69DC0C-A56C-2F7B-7AC3-3642DD2B2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2E1204-A7CC-2873-423D-609011F54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8E2761-98C3-6A2F-4819-281045D6C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75B2CB-EAC1-700F-344D-33ACDC6E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114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89A17F-6746-3720-F606-93391D6AA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0C5DB8-EF18-FE0C-CDC4-7F1061C63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ACF9DE-DDA5-8C05-9235-4543ED9727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C0F975-98F9-4114-8992-516AE28C09F9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51A771-755E-29DC-5870-A2E1CB37F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21A939-2642-5E0F-73F9-E18A9C874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B60110-C4C8-4DA3-9339-B8104D5F7C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852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BF326-2A66-2EC2-1C9F-FF0293F7B5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Переменные, типы данных и управление памятью в C#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ECC77B0-2FC3-BA24-0AB3-E1F246EE43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Информатика</a:t>
            </a:r>
          </a:p>
          <a:p>
            <a:r>
              <a:rPr lang="ru-RU" dirty="0"/>
              <a:t>Фоменко М.Ю.</a:t>
            </a:r>
          </a:p>
        </p:txBody>
      </p:sp>
    </p:spTree>
    <p:extLst>
      <p:ext uri="{BB962C8B-B14F-4D97-AF65-F5344CB8AC3E}">
        <p14:creationId xmlns:p14="http://schemas.microsoft.com/office/powerpoint/2010/main" val="2108310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и логическая организация оперативной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06BE1-1272-E9D4-701B-519391302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YS Text"/>
              </a:rPr>
              <a:t>Бит</a:t>
            </a:r>
            <a:r>
              <a:rPr lang="ru-RU" b="0" i="0" dirty="0">
                <a:effectLst/>
                <a:latin typeface="YS Text"/>
              </a:rPr>
              <a:t> - </a:t>
            </a:r>
            <a:r>
              <a:rPr lang="ru-RU" b="1" i="0" dirty="0">
                <a:effectLst/>
                <a:latin typeface="YS Text"/>
              </a:rPr>
              <a:t>минимальная единица измерения информации</a:t>
            </a:r>
            <a:r>
              <a:rPr lang="ru-RU" b="0" i="0" dirty="0">
                <a:effectLst/>
                <a:latin typeface="YS Text"/>
              </a:rPr>
              <a:t> в цифровой технике. Может принимать одно из двух значений: 0 или 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  <a:latin typeface="YS Text"/>
              </a:rPr>
              <a:t>Байт</a:t>
            </a:r>
            <a:r>
              <a:rPr lang="ru-RU" b="0" i="0" dirty="0">
                <a:effectLst/>
                <a:latin typeface="YS Text"/>
              </a:rPr>
              <a:t> - совокупность битов, обрабатываемая компьютером одновременно.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AE0753-5476-2A71-AC5C-F651E0868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318" y="4195693"/>
            <a:ext cx="9496425" cy="23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2777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и логическая организация оперативной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06BE1-1272-E9D4-701B-51939130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2843" cy="4351338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dirty="0"/>
              <a:t>Ячейка памяти </a:t>
            </a:r>
            <a:r>
              <a:rPr lang="ru-RU" dirty="0"/>
              <a:t>в вычислительной технике -электронная схема, которая хранит один бит двоичной информации. Она должна быть настроена на сохранение логической 1 (высокий уровень напряжения) и сброшена для сохранения логического 0 (низкий уровень напряжения).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Своими словами про 1 байт в </a:t>
            </a:r>
            <a:r>
              <a:rPr lang="ru-RU" dirty="0" err="1"/>
              <a:t>соверменных</a:t>
            </a:r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CE133F0-29BB-9BD6-DD88-44092500A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817" y="1277144"/>
            <a:ext cx="508635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7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и логическая организация оперативной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06BE1-1272-E9D4-701B-51939130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2843" cy="4773958"/>
          </a:xfrm>
        </p:spPr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Адрес памяти - уникальное целое число, которое идентифицирует конкретный байт внутри всего пространства оперативной памяти.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Если объем ОЗУ составляет 4 гигабайта, это означает, что в этом массиве содержится 2^32 (более 4 миллиардов) байтов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Адреса будут варьироваться от 0 до 2</a:t>
            </a:r>
            <a:r>
              <a:rPr lang="en-US" dirty="0"/>
              <a:t>^</a:t>
            </a:r>
            <a:r>
              <a:rPr lang="ru-RU" dirty="0"/>
              <a:t>32 – 1, представление 16ая система счисления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CE133F0-29BB-9BD6-DD88-44092500A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817" y="1277144"/>
            <a:ext cx="508635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8236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и логическая организация оперативной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06BE1-1272-E9D4-701B-51939130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6" y="1825625"/>
            <a:ext cx="6917635" cy="477395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Первый адрес тут – 2.147.478.016 в десятичной.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Если процессору нужно сохранить чисто 1_000_000_000 в ячейку </a:t>
            </a:r>
            <a:r>
              <a:rPr lang="en-US" dirty="0"/>
              <a:t>…EA00 </a:t>
            </a:r>
            <a:r>
              <a:rPr lang="ru-RU" dirty="0"/>
              <a:t>– он запишет двоичное представление в блоки </a:t>
            </a:r>
            <a:r>
              <a:rPr lang="en-US" dirty="0"/>
              <a:t>EA00, EA01, EA02, EA03</a:t>
            </a:r>
            <a:endParaRPr lang="ru-RU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YS Text"/>
              </a:rPr>
              <a:t>00</a:t>
            </a:r>
            <a:r>
              <a:rPr lang="en-US" b="0" i="0" dirty="0">
                <a:effectLst/>
                <a:latin typeface="YS Text"/>
              </a:rPr>
              <a:t>111011_10011010_11001010_00000000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>
                <a:latin typeface="YS Text"/>
              </a:rPr>
              <a:t>Куда какой бит?</a:t>
            </a:r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CE133F0-29BB-9BD6-DD88-44092500A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624" y="1151283"/>
            <a:ext cx="508635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745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и логическая организация оперативной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06BE1-1272-E9D4-701B-51939130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036" y="1825625"/>
            <a:ext cx="6149008" cy="477395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Little-Endian </a:t>
            </a:r>
            <a:r>
              <a:rPr lang="ru-RU" dirty="0"/>
              <a:t>и</a:t>
            </a:r>
            <a:r>
              <a:rPr lang="en-US" dirty="0"/>
              <a:t> Big-Endian</a:t>
            </a:r>
            <a:endParaRPr lang="ru-RU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Little-Endian</a:t>
            </a:r>
            <a:r>
              <a:rPr lang="ru-RU" dirty="0"/>
              <a:t> - младший байт (</a:t>
            </a:r>
            <a:r>
              <a:rPr lang="ru-RU" dirty="0" err="1"/>
              <a:t>little</a:t>
            </a:r>
            <a:r>
              <a:rPr lang="ru-RU" dirty="0"/>
              <a:t> </a:t>
            </a:r>
            <a:r>
              <a:rPr lang="ru-RU" dirty="0" err="1"/>
              <a:t>end</a:t>
            </a:r>
            <a:r>
              <a:rPr lang="ru-RU" dirty="0"/>
              <a:t>) записывается в ячейку с младшим адресом.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Современные ПК, включая процессоры Intel и AMD (архитектура x86, x86-64).</a:t>
            </a:r>
          </a:p>
          <a:p>
            <a:r>
              <a:rPr lang="en-US" dirty="0"/>
              <a:t>Big-Endian</a:t>
            </a:r>
            <a:r>
              <a:rPr lang="ru-RU" dirty="0"/>
              <a:t> - старший байт (</a:t>
            </a:r>
            <a:r>
              <a:rPr lang="ru-RU" dirty="0" err="1"/>
              <a:t>big</a:t>
            </a:r>
            <a:r>
              <a:rPr lang="ru-RU" dirty="0"/>
              <a:t> </a:t>
            </a:r>
            <a:r>
              <a:rPr lang="ru-RU" dirty="0" err="1"/>
              <a:t>end</a:t>
            </a:r>
            <a:r>
              <a:rPr lang="ru-RU" dirty="0"/>
              <a:t>) записывается в ячейку с младшим адресом, старые архитектуры (</a:t>
            </a:r>
            <a:r>
              <a:rPr lang="en-US" dirty="0"/>
              <a:t>IBM mainframes, PowerPC, SPARC)</a:t>
            </a:r>
            <a:endParaRPr lang="ru-RU" dirty="0"/>
          </a:p>
          <a:p>
            <a:pPr algn="l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CE133F0-29BB-9BD6-DD88-44092500A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817" y="1277144"/>
            <a:ext cx="508635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143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Физическая и логическая организация оперативной памяти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06BE1-1272-E9D4-701B-51939130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036" y="1825625"/>
            <a:ext cx="6149008" cy="477395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Процессор запишет байты в следующем порядке: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В ячейку 0x</a:t>
            </a:r>
            <a:r>
              <a:rPr lang="en-US" dirty="0"/>
              <a:t>EA00</a:t>
            </a:r>
            <a:r>
              <a:rPr lang="ru-RU" dirty="0"/>
              <a:t> запишется байт 0x00</a:t>
            </a:r>
            <a:r>
              <a:rPr lang="en-US" dirty="0"/>
              <a:t> (8 </a:t>
            </a:r>
            <a:r>
              <a:rPr lang="ru-RU" dirty="0"/>
              <a:t>нулей</a:t>
            </a:r>
            <a:r>
              <a:rPr lang="en-US" dirty="0"/>
              <a:t>)</a:t>
            </a:r>
            <a:r>
              <a:rPr lang="ru-RU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В ячейку 0x</a:t>
            </a:r>
            <a:r>
              <a:rPr lang="en-US" dirty="0"/>
              <a:t>EA01</a:t>
            </a:r>
            <a:r>
              <a:rPr lang="ru-RU" dirty="0"/>
              <a:t> запишется байт 0xCA (11001010).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В ячейку 0x</a:t>
            </a:r>
            <a:r>
              <a:rPr lang="en-US" dirty="0"/>
              <a:t>EA02</a:t>
            </a:r>
            <a:r>
              <a:rPr lang="ru-RU" dirty="0"/>
              <a:t> запишется байт 0x9A</a:t>
            </a:r>
            <a:r>
              <a:rPr lang="en-US" dirty="0"/>
              <a:t> (10011010)</a:t>
            </a:r>
            <a:r>
              <a:rPr lang="ru-RU" dirty="0"/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В ячейку 0x</a:t>
            </a:r>
            <a:r>
              <a:rPr lang="en-US" dirty="0"/>
              <a:t>EA03</a:t>
            </a:r>
            <a:r>
              <a:rPr lang="ru-RU" dirty="0"/>
              <a:t> запишется байт 0x3B</a:t>
            </a:r>
            <a:r>
              <a:rPr lang="en-US" dirty="0"/>
              <a:t> (00111011)</a:t>
            </a:r>
            <a:r>
              <a:rPr lang="ru-RU" dirty="0"/>
              <a:t>.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9CE133F0-29BB-9BD6-DD88-44092500A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817" y="1277144"/>
            <a:ext cx="5086350" cy="544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136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в вычислительной системе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Переменная - именованная область памяти, в которой хранится некоторое значение.</a:t>
            </a:r>
          </a:p>
          <a:p>
            <a:r>
              <a:rPr lang="ru-RU" dirty="0"/>
              <a:t>С формальной точки зрения, переменная в языке программирования представляет собой триаду: </a:t>
            </a:r>
            <a:r>
              <a:rPr lang="ru-RU" b="1" dirty="0"/>
              <a:t>идентификатор (имя), тип и значение</a:t>
            </a:r>
            <a:r>
              <a:rPr lang="ru-RU" dirty="0"/>
              <a:t>, ассоциированное с определенной областью памяти.</a:t>
            </a:r>
          </a:p>
        </p:txBody>
      </p:sp>
    </p:spTree>
    <p:extLst>
      <p:ext uri="{BB962C8B-B14F-4D97-AF65-F5344CB8AC3E}">
        <p14:creationId xmlns:p14="http://schemas.microsoft.com/office/powerpoint/2010/main" val="3105806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в вычислительной системе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userAge</a:t>
            </a:r>
            <a:r>
              <a:rPr lang="en-US" dirty="0"/>
              <a:t>;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Этап компиляции: Компилятор C# анализирует данную декларацию.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Он распознает </a:t>
            </a:r>
            <a:r>
              <a:rPr lang="ru-RU" dirty="0" err="1"/>
              <a:t>int</a:t>
            </a:r>
            <a:r>
              <a:rPr lang="ru-RU" dirty="0"/>
              <a:t> как спецификацию типа данных (System.Int32).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Он распознает </a:t>
            </a:r>
            <a:r>
              <a:rPr lang="ru-RU" dirty="0" err="1"/>
              <a:t>userAge</a:t>
            </a:r>
            <a:r>
              <a:rPr lang="ru-RU" dirty="0"/>
              <a:t> как идентификатор, который будет использоваться в коде для доступа к этой области памяти.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Компилятор генерирует промежуточный код (</a:t>
            </a:r>
            <a:r>
              <a:rPr lang="ru-RU" dirty="0" err="1"/>
              <a:t>Intermediate</a:t>
            </a:r>
            <a:r>
              <a:rPr lang="ru-RU" dirty="0"/>
              <a:t> Language, IL), который содержит инструкцию для среды исполнения (.NET CLR) о необходимости выделить на стеке вызовов 4 байта памяти, когда исполнение дойдет до области видимости данной переменной.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6018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в вычислительной системе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int </a:t>
            </a:r>
            <a:r>
              <a:rPr lang="en-US" dirty="0" err="1"/>
              <a:t>userAge</a:t>
            </a:r>
            <a:r>
              <a:rPr lang="en-US" dirty="0"/>
              <a:t>;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Этап исполнения (</a:t>
            </a:r>
            <a:r>
              <a:rPr lang="en-US" dirty="0"/>
              <a:t>Runtime):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Когда поток исполнения входит в метод, где объявлена переменная </a:t>
            </a:r>
            <a:r>
              <a:rPr lang="ru-RU" dirty="0" err="1"/>
              <a:t>userAge</a:t>
            </a:r>
            <a:r>
              <a:rPr lang="ru-RU" dirty="0"/>
              <a:t>, среда CLR выполняет инструкцию, сгенерированную компилятором.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Она резервирует в текущем фрейме стека непрерывный блок из 4 байтов.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С этого момента и до конца области видимости переменной, идентификатор </a:t>
            </a:r>
            <a:r>
              <a:rPr lang="ru-RU" dirty="0" err="1"/>
              <a:t>userAge</a:t>
            </a:r>
            <a:r>
              <a:rPr lang="ru-RU" dirty="0"/>
              <a:t> символически связан с начальным адресом этого 4-байтового блока. Любая операция чтения или записи по имени </a:t>
            </a:r>
            <a:r>
              <a:rPr lang="ru-RU" dirty="0" err="1"/>
              <a:t>userAge</a:t>
            </a:r>
            <a:r>
              <a:rPr lang="ru-RU" dirty="0"/>
              <a:t> будет транслирована в операцию с соответствующей ячейкой памяти.</a:t>
            </a:r>
          </a:p>
        </p:txBody>
      </p:sp>
    </p:spTree>
    <p:extLst>
      <p:ext uri="{BB962C8B-B14F-4D97-AF65-F5344CB8AC3E}">
        <p14:creationId xmlns:p14="http://schemas.microsoft.com/office/powerpoint/2010/main" val="331157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Тип данных </a:t>
            </a:r>
            <a:r>
              <a:rPr lang="ru-RU" dirty="0"/>
              <a:t>- формальная спецификация, которая определяет два фундаментальных аспекта: </a:t>
            </a:r>
          </a:p>
          <a:p>
            <a:r>
              <a:rPr lang="ru-RU" dirty="0"/>
              <a:t>Диапазон или набор значений, которые может принимать переменная (</a:t>
            </a:r>
            <a:r>
              <a:rPr lang="en-US" dirty="0"/>
              <a:t>bool, int, string)</a:t>
            </a:r>
            <a:endParaRPr lang="ru-RU" dirty="0"/>
          </a:p>
          <a:p>
            <a:r>
              <a:rPr lang="ru-RU" dirty="0"/>
              <a:t>Операции, применимые к переменным данного типа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(Попытка применить, скажем, операцию умножения к переменной типа </a:t>
            </a:r>
            <a:r>
              <a:rPr lang="ru-RU" dirty="0" err="1"/>
              <a:t>bool</a:t>
            </a:r>
            <a:r>
              <a:rPr lang="ru-RU" dirty="0"/>
              <a:t> приведет к ошибке на этапе компиляции, поскольку такая операция не определена для данного типа) </a:t>
            </a:r>
          </a:p>
        </p:txBody>
      </p:sp>
    </p:spTree>
    <p:extLst>
      <p:ext uri="{BB962C8B-B14F-4D97-AF65-F5344CB8AC3E}">
        <p14:creationId xmlns:p14="http://schemas.microsoft.com/office/powerpoint/2010/main" val="2066600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C# является </a:t>
            </a:r>
            <a:r>
              <a:rPr lang="ru-RU" b="1" dirty="0"/>
              <a:t>языком со статической типизацией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/>
              <a:t>Это означает, что тип каждой переменной известен и проверяется на этапе компиляции, а не во время выполнения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277029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Функция типа данных на уровне работы компьютера - служить «инструкцией по интерпретации». </a:t>
            </a:r>
          </a:p>
          <a:p>
            <a:pPr marL="0" indent="0">
              <a:buNone/>
            </a:pPr>
            <a:r>
              <a:rPr lang="ru-RU" dirty="0"/>
              <a:t>Одна и та же последовательность битов в памяти может иметь совершенно разный смысл в зависимости от того, какой тип к ней применяется.</a:t>
            </a:r>
          </a:p>
        </p:txBody>
      </p:sp>
    </p:spTree>
    <p:extLst>
      <p:ext uri="{BB962C8B-B14F-4D97-AF65-F5344CB8AC3E}">
        <p14:creationId xmlns:p14="http://schemas.microsoft.com/office/powerpoint/2010/main" val="150428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Допустим, в 4-байтовой ячейке памяти хранится следующая битовая последовательность (для простоты показан только один байт):</a:t>
            </a:r>
          </a:p>
          <a:p>
            <a:r>
              <a:rPr lang="ru-RU" b="1" dirty="0"/>
              <a:t>0100 0001</a:t>
            </a:r>
          </a:p>
          <a:p>
            <a:r>
              <a:rPr lang="ru-RU" dirty="0"/>
              <a:t>Если </a:t>
            </a:r>
            <a:r>
              <a:rPr lang="en-US" dirty="0"/>
              <a:t>INT – </a:t>
            </a:r>
            <a:r>
              <a:rPr lang="ru-RU" dirty="0"/>
              <a:t>это 65</a:t>
            </a:r>
          </a:p>
          <a:p>
            <a:r>
              <a:rPr lang="ru-RU" dirty="0"/>
              <a:t>Если </a:t>
            </a:r>
            <a:r>
              <a:rPr lang="en-US" dirty="0"/>
              <a:t>CHAR – </a:t>
            </a:r>
            <a:r>
              <a:rPr lang="ru-RU" dirty="0"/>
              <a:t>это </a:t>
            </a:r>
            <a:r>
              <a:rPr lang="en-US" dirty="0"/>
              <a:t>‘A’</a:t>
            </a:r>
          </a:p>
          <a:p>
            <a:r>
              <a:rPr lang="ru-RU" dirty="0"/>
              <a:t>Если </a:t>
            </a:r>
            <a:r>
              <a:rPr lang="en-US" dirty="0"/>
              <a:t>FLOAT or DOUBLE – </a:t>
            </a:r>
            <a:r>
              <a:rPr lang="ru-RU" dirty="0"/>
              <a:t>среда исполнения бы формировала часть его мантиссы или экспоненты, представляя совершенно иное числовое значение.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4202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Тип данных - фундаментальный контракт между программистом и компилятором/средой исполнения. </a:t>
            </a:r>
          </a:p>
          <a:p>
            <a:pPr marL="0" indent="0">
              <a:buNone/>
            </a:pPr>
            <a:r>
              <a:rPr lang="ru-RU" dirty="0"/>
              <a:t>Программист объявляет о своих намерениях, а система гарантирует, что память будет выделена корректно и что биты в этой памяти будут последовательно и предсказуемо интерпретироваться в соответствии с объявленным типом.</a:t>
            </a:r>
          </a:p>
        </p:txBody>
      </p:sp>
    </p:spTree>
    <p:extLst>
      <p:ext uri="{BB962C8B-B14F-4D97-AF65-F5344CB8AC3E}">
        <p14:creationId xmlns:p14="http://schemas.microsoft.com/office/powerpoint/2010/main" val="3573891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и Управляемая Куча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Очереди предполагают хранение операций или переменных и работу с ними в организованном порядке.</a:t>
            </a:r>
          </a:p>
          <a:p>
            <a:pPr marL="0" indent="0">
              <a:buNone/>
            </a:pPr>
            <a:r>
              <a:rPr lang="ru-RU" dirty="0"/>
              <a:t>LIFO (</a:t>
            </a:r>
            <a:r>
              <a:rPr lang="ru-RU" dirty="0" err="1"/>
              <a:t>Last</a:t>
            </a:r>
            <a:r>
              <a:rPr lang="ru-RU" dirty="0"/>
              <a:t> In First Out) - «последним пришёл - первым ушёл». В такой очереди первым обрабатывается самый последний добавленный запрос.</a:t>
            </a:r>
          </a:p>
          <a:p>
            <a:pPr marL="0" indent="0">
              <a:buNone/>
            </a:pPr>
            <a:r>
              <a:rPr lang="ru-RU" dirty="0"/>
              <a:t>FIFO (First In First Out) - «первым пришёл - первым ушёл». В такой структуре данные добавляются в конец очереди, а извлекаются из начала.</a:t>
            </a:r>
          </a:p>
        </p:txBody>
      </p:sp>
    </p:spTree>
    <p:extLst>
      <p:ext uri="{BB962C8B-B14F-4D97-AF65-F5344CB8AC3E}">
        <p14:creationId xmlns:p14="http://schemas.microsoft.com/office/powerpoint/2010/main" val="462309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FIFO (First-In, First-Out) - Принцип Классической Очереди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Элемент, который был добавлен в коллекцию </a:t>
            </a:r>
            <a:r>
              <a:rPr lang="ru-RU" b="1" dirty="0"/>
              <a:t>раньше всех</a:t>
            </a:r>
            <a:r>
              <a:rPr lang="ru-RU" dirty="0"/>
              <a:t>, будет обработан </a:t>
            </a:r>
            <a:r>
              <a:rPr lang="ru-RU" b="1" dirty="0"/>
              <a:t>первым</a:t>
            </a:r>
            <a:r>
              <a:rPr lang="ru-RU" dirty="0"/>
              <a:t>. Это самый справедливый и интуитивно понятный порядок.</a:t>
            </a:r>
          </a:p>
          <a:p>
            <a:r>
              <a:rPr lang="ru-RU" dirty="0"/>
              <a:t>Приходит первый покупатель (A). Он становится первым в очереди.</a:t>
            </a:r>
          </a:p>
          <a:p>
            <a:r>
              <a:rPr lang="ru-RU" dirty="0"/>
              <a:t>Приходит второй покупатель (B). Он встает в конец очереди, за покупателем A.</a:t>
            </a:r>
          </a:p>
          <a:p>
            <a:r>
              <a:rPr lang="ru-RU" dirty="0"/>
              <a:t>Приходит третий покупатель (C). Он встает за покупателем B.</a:t>
            </a:r>
          </a:p>
          <a:p>
            <a:pPr marL="0" indent="0">
              <a:buNone/>
            </a:pPr>
            <a:r>
              <a:rPr lang="ru-RU" b="1" dirty="0"/>
              <a:t>[Касса] &lt;-- (A) &lt;-- (B) &lt;-- (C)</a:t>
            </a:r>
          </a:p>
          <a:p>
            <a:pPr marL="0" indent="0">
              <a:buNone/>
            </a:pPr>
            <a:r>
              <a:rPr lang="ru-RU" b="1" dirty="0"/>
              <a:t>Обслужат (А), после (B), а затем (C). Порядок поступления полностью совпадает с порядком обслуживания.</a:t>
            </a:r>
          </a:p>
          <a:p>
            <a:pPr marL="0" indent="0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582100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FIFO (First-In, First-Out) - Принцип Классической Очереди</a:t>
            </a:r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Где это используется?</a:t>
            </a:r>
          </a:p>
          <a:p>
            <a:r>
              <a:rPr lang="ru-RU" dirty="0"/>
              <a:t>Кнопка "Назад" в браузере: Она возвращает вас на последнюю посещенную страницу.</a:t>
            </a:r>
          </a:p>
          <a:p>
            <a:r>
              <a:rPr lang="ru-RU" dirty="0"/>
              <a:t>Функция "Отменить" (</a:t>
            </a:r>
            <a:r>
              <a:rPr lang="ru-RU" dirty="0" err="1"/>
              <a:t>Ctrl+Z</a:t>
            </a:r>
            <a:r>
              <a:rPr lang="ru-RU" dirty="0"/>
              <a:t>): Отменяется последнее выполненное действие.</a:t>
            </a:r>
          </a:p>
          <a:p>
            <a:r>
              <a:rPr lang="ru-RU" dirty="0"/>
              <a:t>Стек вызовов функций (Call </a:t>
            </a:r>
            <a:r>
              <a:rPr lang="ru-RU" dirty="0" err="1"/>
              <a:t>Stack</a:t>
            </a:r>
            <a:r>
              <a:rPr lang="ru-RU" dirty="0"/>
              <a:t>): Когда одна функция вызывает другую, новая "кладется наверх" стека. Завершается всегда та, что наверху (та, что была вызвана последней).</a:t>
            </a:r>
          </a:p>
        </p:txBody>
      </p:sp>
    </p:spTree>
    <p:extLst>
      <p:ext uri="{BB962C8B-B14F-4D97-AF65-F5344CB8AC3E}">
        <p14:creationId xmlns:p14="http://schemas.microsoft.com/office/powerpoint/2010/main" val="879624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(Last-In, First-Out)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Стека</a:t>
            </a:r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Элемент, который был добавлен в коллекцию </a:t>
            </a:r>
            <a:r>
              <a:rPr lang="ru-RU" b="1" dirty="0"/>
              <a:t>последним</a:t>
            </a:r>
            <a:r>
              <a:rPr lang="ru-RU" dirty="0"/>
              <a:t>, будет обработан </a:t>
            </a:r>
            <a:r>
              <a:rPr lang="ru-RU" b="1" dirty="0"/>
              <a:t>первым</a:t>
            </a:r>
            <a:r>
              <a:rPr lang="ru-RU" dirty="0"/>
              <a:t>.</a:t>
            </a:r>
          </a:p>
          <a:p>
            <a:r>
              <a:rPr lang="ru-RU" dirty="0"/>
              <a:t>Вы моете первую тарелку (A) и кладете ее на полку.</a:t>
            </a:r>
          </a:p>
          <a:p>
            <a:r>
              <a:rPr lang="ru-RU" dirty="0"/>
              <a:t>Моете вторую тарелку (B) и кладете ее наверх тарелки A.</a:t>
            </a:r>
          </a:p>
          <a:p>
            <a:r>
              <a:rPr lang="ru-RU" dirty="0"/>
              <a:t>Моете третью тарелку (C) и кладете ее наверх тарелки B.</a:t>
            </a:r>
          </a:p>
          <a:p>
            <a:pPr marL="0" indent="0">
              <a:buNone/>
            </a:pPr>
            <a:r>
              <a:rPr lang="ru-RU" b="1" dirty="0"/>
              <a:t>Какую вы возьмете? Естественно, верхнюю — (C), </a:t>
            </a:r>
            <a:r>
              <a:rPr lang="ru-RU" sz="1800" b="1" dirty="0"/>
              <a:t>потому что до нижних добраться неудобно и опасно.</a:t>
            </a:r>
            <a:endParaRPr lang="ru-RU" b="1" dirty="0"/>
          </a:p>
          <a:p>
            <a:pPr marL="0" indent="0">
              <a:buNone/>
            </a:pPr>
            <a:r>
              <a:rPr lang="ru-RU" b="1" dirty="0"/>
              <a:t>После (C) вы возьмете (B), и только в самом конце - (A). Порядок извлечения является обратным порядку добавления.</a:t>
            </a:r>
          </a:p>
          <a:p>
            <a:pPr marL="0" indent="0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147034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LIFO (Last-In, First-Out) </a:t>
            </a:r>
            <a:r>
              <a:rPr lang="ru-RU" dirty="0"/>
              <a:t>-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 </a:t>
            </a:r>
            <a:r>
              <a:rPr lang="en-US" dirty="0" err="1"/>
              <a:t>Стека</a:t>
            </a:r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Где это используется?</a:t>
            </a:r>
          </a:p>
          <a:p>
            <a:r>
              <a:rPr lang="ru-RU" dirty="0"/>
              <a:t>Очередь на печать: Документы печатаются в том порядке, в котором вы их отправили.</a:t>
            </a:r>
          </a:p>
          <a:p>
            <a:r>
              <a:rPr lang="ru-RU" dirty="0"/>
              <a:t>Обработка запросов на сервере: Сервер обрабатывает запросы от пользователей в порядке их поступления, чтобы все были обслужены честно.</a:t>
            </a:r>
          </a:p>
          <a:p>
            <a:r>
              <a:rPr lang="ru-RU" dirty="0"/>
              <a:t>Сообщения в чате: Вы видите сообщения в том порядке, в котором они были отправлены.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239263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Стек (The </a:t>
            </a:r>
            <a:r>
              <a:rPr lang="ru-RU" dirty="0" err="1"/>
              <a:t>Stack</a:t>
            </a:r>
            <a:r>
              <a:rPr lang="ru-RU" dirty="0"/>
              <a:t>) - высокоорганизованная, строго структурированная область памяти, функционирующая по принципу LIFO (</a:t>
            </a:r>
            <a:r>
              <a:rPr lang="ru-RU" dirty="0" err="1"/>
              <a:t>Last</a:t>
            </a:r>
            <a:r>
              <a:rPr lang="ru-RU" dirty="0"/>
              <a:t>-In, First-Out).</a:t>
            </a:r>
          </a:p>
          <a:p>
            <a:pPr marL="0" indent="0">
              <a:buNone/>
            </a:pPr>
            <a:r>
              <a:rPr lang="ru-RU" dirty="0"/>
              <a:t>Стек предназначен для управления исполнением программного кода на уровне методов (в C# их принято называть методами, в других языках — функциями или процедурами). Когда вызывается некий метод, для него на вершине стека выделяется блок памяти, называемый </a:t>
            </a:r>
            <a:r>
              <a:rPr lang="ru-RU" b="1" dirty="0"/>
              <a:t>фреймом стека</a:t>
            </a:r>
            <a:r>
              <a:rPr lang="ru-RU" dirty="0"/>
              <a:t> (</a:t>
            </a:r>
            <a:r>
              <a:rPr lang="ru-RU" dirty="0" err="1"/>
              <a:t>stack</a:t>
            </a:r>
            <a:r>
              <a:rPr lang="ru-RU" dirty="0"/>
              <a:t> </a:t>
            </a:r>
            <a:r>
              <a:rPr lang="ru-RU" dirty="0" err="1"/>
              <a:t>frame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806796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Содержимое фрейма стека:</a:t>
            </a:r>
          </a:p>
          <a:p>
            <a:r>
              <a:rPr lang="ru-RU" dirty="0"/>
              <a:t>Параметры, переданные в метод - значения аргументов, с которыми был вызван метод, копируются в его фрейм.</a:t>
            </a:r>
          </a:p>
          <a:p>
            <a:r>
              <a:rPr lang="ru-RU" dirty="0"/>
              <a:t>Локальные переменные - память для всех переменных, объявленных внутри метода, резервируется здесь же.</a:t>
            </a:r>
          </a:p>
          <a:p>
            <a:r>
              <a:rPr lang="ru-RU" dirty="0"/>
              <a:t>Адрес возврата - адрес в коде вызвавшего метода, куда должен вернуться поток исполнения после завершения текущего метода.</a:t>
            </a:r>
          </a:p>
        </p:txBody>
      </p:sp>
    </p:spTree>
    <p:extLst>
      <p:ext uri="{BB962C8B-B14F-4D97-AF65-F5344CB8AC3E}">
        <p14:creationId xmlns:p14="http://schemas.microsoft.com/office/powerpoint/2010/main" val="1583924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Вы можете добавить новую тарелку (операция </a:t>
            </a:r>
            <a:r>
              <a:rPr lang="ru-RU" dirty="0" err="1"/>
              <a:t>push</a:t>
            </a:r>
            <a:r>
              <a:rPr lang="ru-RU" dirty="0"/>
              <a:t>) только наверх стопки. Снять тарелку (операция </a:t>
            </a:r>
            <a:r>
              <a:rPr lang="ru-RU" dirty="0" err="1"/>
              <a:t>pop</a:t>
            </a:r>
            <a:r>
              <a:rPr lang="ru-RU" dirty="0"/>
              <a:t>) вы также можете только сверху. Доступ к тарелкам в середине стопки невозможен без снятия всех вышележащих.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Когда метод завершает свою работу (через оператор </a:t>
            </a:r>
            <a:r>
              <a:rPr lang="ru-RU" dirty="0" err="1"/>
              <a:t>return</a:t>
            </a:r>
            <a:r>
              <a:rPr lang="ru-RU" dirty="0"/>
              <a:t> или достигнув конца своего блока), его фрейм "снимается" (</a:t>
            </a:r>
            <a:r>
              <a:rPr lang="ru-RU" dirty="0" err="1"/>
              <a:t>pop</a:t>
            </a:r>
            <a:r>
              <a:rPr lang="ru-RU" dirty="0"/>
              <a:t>) с вершины стека. Вся память, занимаемая этим фреймом, мгновенно считается свободной. Управление возвращается по сохраненному адресу возврата.</a:t>
            </a:r>
          </a:p>
        </p:txBody>
      </p:sp>
    </p:spTree>
    <p:extLst>
      <p:ext uri="{BB962C8B-B14F-4D97-AF65-F5344CB8AC3E}">
        <p14:creationId xmlns:p14="http://schemas.microsoft.com/office/powerpoint/2010/main" val="3968895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Характеристика стека:</a:t>
            </a:r>
          </a:p>
          <a:p>
            <a:r>
              <a:rPr lang="ru-RU" dirty="0"/>
              <a:t>Управление жизненным циклом детерминировано. Память выделяется при входе в метод и гарантированно освобождается при выходе.</a:t>
            </a:r>
          </a:p>
          <a:p>
            <a:r>
              <a:rPr lang="ru-RU" dirty="0"/>
              <a:t>Операции выделения и освобождения памяти на стеке сводятся к инкременту или декременту одного регистра процессора - указателя стека</a:t>
            </a:r>
          </a:p>
          <a:p>
            <a:r>
              <a:rPr lang="ru-RU" dirty="0"/>
              <a:t>Размер стека для каждого потока исполнения фиксирован и относительно невелик (обычно порядка 1-2 мегабайт). Попытка разместить на стеке больше данных, чем он может вместить приводит к критической ошибке времени выполнения </a:t>
            </a:r>
            <a:r>
              <a:rPr lang="en-US" b="1" dirty="0" err="1"/>
              <a:t>StackOverflowException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823245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Управляемая Куча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i="0" dirty="0">
                <a:effectLst/>
                <a:latin typeface="YS Text"/>
              </a:rPr>
              <a:t>Управляемая куча (The </a:t>
            </a:r>
            <a:r>
              <a:rPr lang="ru-RU" b="1" i="0" dirty="0" err="1">
                <a:effectLst/>
                <a:latin typeface="YS Text"/>
              </a:rPr>
              <a:t>Managed</a:t>
            </a:r>
            <a:r>
              <a:rPr lang="ru-RU" b="1" i="0" dirty="0">
                <a:effectLst/>
                <a:latin typeface="YS Text"/>
              </a:rPr>
              <a:t> </a:t>
            </a:r>
            <a:r>
              <a:rPr lang="ru-RU" b="1" i="0" dirty="0" err="1">
                <a:effectLst/>
                <a:latin typeface="YS Text"/>
              </a:rPr>
              <a:t>Heap</a:t>
            </a:r>
            <a:r>
              <a:rPr lang="ru-RU" b="1" i="0" dirty="0">
                <a:effectLst/>
                <a:latin typeface="YS Text"/>
              </a:rPr>
              <a:t>) в .NET</a:t>
            </a:r>
            <a:r>
              <a:rPr lang="ru-RU" b="0" i="0" dirty="0">
                <a:effectLst/>
                <a:latin typeface="YS Text"/>
              </a:rPr>
              <a:t> — это область памяти, выделенная средой CLR (Common Language </a:t>
            </a:r>
            <a:r>
              <a:rPr lang="ru-RU" b="0" i="0" dirty="0" err="1">
                <a:effectLst/>
                <a:latin typeface="YS Text"/>
              </a:rPr>
              <a:t>Runtime</a:t>
            </a:r>
            <a:r>
              <a:rPr lang="ru-RU" b="0" i="0" dirty="0">
                <a:effectLst/>
                <a:latin typeface="YS Text"/>
              </a:rPr>
              <a:t>) для хранения объектов, созданных приложением.</a:t>
            </a:r>
          </a:p>
          <a:p>
            <a:pPr marL="0" indent="0">
              <a:buNone/>
            </a:pPr>
            <a:r>
              <a:rPr lang="ru-RU" b="0" i="0" dirty="0">
                <a:effectLst/>
                <a:latin typeface="YS Text"/>
              </a:rPr>
              <a:t>В отличие от стека, момент освобождения памяти в куче не является детерминированным. Объект, созданный в одном методе, может продолжать использоваться в других частях программы еще долго после того, как создавший его метод завершил работу.</a:t>
            </a:r>
          </a:p>
          <a:p>
            <a:pPr marL="0" indent="0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936301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Управляемая Куча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Память в куче выделяется всякий раз, когда в коде используется оператор </a:t>
            </a:r>
            <a:r>
              <a:rPr lang="ru-RU" i="0" dirty="0" err="1">
                <a:effectLst/>
                <a:latin typeface="YS Text"/>
              </a:rPr>
              <a:t>new</a:t>
            </a:r>
            <a:r>
              <a:rPr lang="ru-RU" i="0" dirty="0">
                <a:effectLst/>
                <a:latin typeface="YS Text"/>
              </a:rPr>
              <a:t>. Этот оператор сигнализирует среде CLR о необходимости выполнить следующие действия:</a:t>
            </a:r>
          </a:p>
          <a:p>
            <a:pPr marL="514350" indent="-514350">
              <a:buFont typeface="+mj-lt"/>
              <a:buAutoNum type="arabicPeriod"/>
            </a:pPr>
            <a:r>
              <a:rPr lang="ru-RU" i="0" dirty="0">
                <a:effectLst/>
                <a:latin typeface="YS Text"/>
              </a:rPr>
              <a:t>Найти в куче непрерывный блок свободной памяти, достаточный для размещения нового объекта.</a:t>
            </a:r>
          </a:p>
          <a:p>
            <a:pPr marL="514350" indent="-514350">
              <a:buFont typeface="+mj-lt"/>
              <a:buAutoNum type="arabicPeriod"/>
            </a:pPr>
            <a:r>
              <a:rPr lang="ru-RU" i="0" dirty="0">
                <a:effectLst/>
                <a:latin typeface="YS Text"/>
              </a:rPr>
              <a:t>Инициализировать этот блок памяти (обнулить его).</a:t>
            </a:r>
          </a:p>
          <a:p>
            <a:pPr marL="514350" indent="-514350">
              <a:buFont typeface="+mj-lt"/>
              <a:buAutoNum type="arabicPeriod"/>
            </a:pPr>
            <a:r>
              <a:rPr lang="ru-RU" i="0" dirty="0">
                <a:effectLst/>
                <a:latin typeface="YS Text"/>
              </a:rPr>
              <a:t>Вызвать конструктор объекта для его окончательной настройки.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i="0" dirty="0">
                <a:effectLst/>
                <a:latin typeface="YS Text"/>
              </a:rPr>
              <a:t>Вернуть адрес (ссылку) на начало выделенного блока памяти. Этот адрес и будет значением переменной, которой присваивается результат </a:t>
            </a:r>
            <a:r>
              <a:rPr lang="ru-RU" i="0" dirty="0" err="1">
                <a:effectLst/>
                <a:latin typeface="YS Text"/>
              </a:rPr>
              <a:t>new</a:t>
            </a:r>
            <a:r>
              <a:rPr lang="ru-RU" i="0" dirty="0">
                <a:effectLst/>
                <a:latin typeface="YS Tex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9596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Управляемая Куча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Так как переменная может занимать память и после выполнения метода, для определения момента «когда можно очистить память от переменной» используется </a:t>
            </a:r>
            <a:r>
              <a:rPr lang="ru-RU" b="1" i="0" dirty="0">
                <a:effectLst/>
                <a:latin typeface="YS Text"/>
              </a:rPr>
              <a:t>Сборщик мусора.</a:t>
            </a:r>
          </a:p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Периодически </a:t>
            </a:r>
            <a:r>
              <a:rPr lang="en-US" i="0" dirty="0">
                <a:effectLst/>
                <a:latin typeface="YS Text"/>
              </a:rPr>
              <a:t>Garbage Collector</a:t>
            </a:r>
            <a:r>
              <a:rPr lang="ru-RU" i="0" dirty="0">
                <a:effectLst/>
                <a:latin typeface="YS Text"/>
              </a:rPr>
              <a:t> приостанавливает выполнение программы и производит «сборку мусора».</a:t>
            </a:r>
          </a:p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Любой объект в куче, до которого невозможно добраться, следуя по ссылкам от "корней", считается "мусором" — то есть, более не используемым.</a:t>
            </a:r>
          </a:p>
          <a:p>
            <a:pPr marL="0" indent="0">
              <a:buNone/>
            </a:pPr>
            <a:endParaRPr lang="ru-RU" i="0" dirty="0">
              <a:effectLst/>
              <a:latin typeface="YS Text"/>
            </a:endParaRPr>
          </a:p>
          <a:p>
            <a:pPr marL="0" indent="0">
              <a:buNone/>
            </a:pPr>
            <a:endParaRPr lang="ru-RU" b="1" i="0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590783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Управляемая Куча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E77EEC-AC5C-D7F0-D863-D5E11753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i="0" dirty="0">
                <a:effectLst/>
                <a:latin typeface="YS Text"/>
              </a:rPr>
              <a:t>Характеристики кучи:</a:t>
            </a:r>
          </a:p>
          <a:p>
            <a:r>
              <a:rPr lang="ru-RU" i="0" dirty="0">
                <a:effectLst/>
                <a:latin typeface="YS Text"/>
              </a:rPr>
              <a:t>Объекты в куче существуют до тех пор, пока на них существует хотя бы одна достижимая ссылка.</a:t>
            </a:r>
          </a:p>
          <a:p>
            <a:r>
              <a:rPr lang="ru-RU" i="0" dirty="0">
                <a:effectLst/>
                <a:latin typeface="YS Text"/>
              </a:rPr>
              <a:t>Аллокация памяти в куче требует поиска подходящего блока и может быть на порядки медленнее стековой аллокации.</a:t>
            </a:r>
          </a:p>
          <a:p>
            <a:r>
              <a:rPr lang="ru-RU" i="0" dirty="0">
                <a:effectLst/>
                <a:latin typeface="YS Text"/>
              </a:rPr>
              <a:t>Память освобождается не в предсказуемый момент, а тогда, когда GC сочтет это необходимым.</a:t>
            </a:r>
          </a:p>
          <a:p>
            <a:r>
              <a:rPr lang="ru-RU" i="0" dirty="0">
                <a:effectLst/>
                <a:latin typeface="YS Text"/>
              </a:rPr>
              <a:t>Куча может занимать гигабайты памяти, ограничиваясь лишь объемом ОЗУ и архитектурой ОС.</a:t>
            </a:r>
          </a:p>
          <a:p>
            <a:r>
              <a:rPr lang="ru-RU" i="1" dirty="0">
                <a:effectLst/>
                <a:latin typeface="YS Text"/>
              </a:rPr>
              <a:t>GC избавляет программиста от необходимости вручную освобождать память, предотвращая целый класс ошибок, таких как утечки памяти (</a:t>
            </a:r>
            <a:r>
              <a:rPr lang="ru-RU" i="1" dirty="0" err="1">
                <a:effectLst/>
                <a:latin typeface="YS Text"/>
              </a:rPr>
              <a:t>memory</a:t>
            </a:r>
            <a:r>
              <a:rPr lang="ru-RU" i="1" dirty="0">
                <a:effectLst/>
                <a:latin typeface="YS Text"/>
              </a:rPr>
              <a:t> </a:t>
            </a:r>
            <a:r>
              <a:rPr lang="ru-RU" i="1" dirty="0" err="1">
                <a:effectLst/>
                <a:latin typeface="YS Text"/>
              </a:rPr>
              <a:t>leaks</a:t>
            </a:r>
            <a:r>
              <a:rPr lang="ru-RU" i="1" dirty="0">
                <a:effectLst/>
                <a:latin typeface="YS Text"/>
              </a:rPr>
              <a:t>) и висячие указатели (</a:t>
            </a:r>
            <a:r>
              <a:rPr lang="ru-RU" i="1" dirty="0" err="1">
                <a:effectLst/>
                <a:latin typeface="YS Text"/>
              </a:rPr>
              <a:t>dangling</a:t>
            </a:r>
            <a:r>
              <a:rPr lang="ru-RU" i="1" dirty="0">
                <a:effectLst/>
                <a:latin typeface="YS Text"/>
              </a:rPr>
              <a:t> </a:t>
            </a:r>
            <a:r>
              <a:rPr lang="ru-RU" i="1" dirty="0" err="1">
                <a:effectLst/>
                <a:latin typeface="YS Text"/>
              </a:rPr>
              <a:t>pointers</a:t>
            </a:r>
            <a:r>
              <a:rPr lang="ru-RU" i="1" dirty="0">
                <a:effectLst/>
                <a:latin typeface="YS Text"/>
              </a:rPr>
              <a:t>), характерных для неуправляемых языков вроде C++</a:t>
            </a:r>
          </a:p>
          <a:p>
            <a:pPr marL="0" indent="0">
              <a:buNone/>
            </a:pPr>
            <a:endParaRPr lang="ru-RU" i="0" dirty="0">
              <a:effectLst/>
              <a:latin typeface="YS Text"/>
            </a:endParaRPr>
          </a:p>
        </p:txBody>
      </p:sp>
    </p:spTree>
    <p:extLst>
      <p:ext uri="{BB962C8B-B14F-4D97-AF65-F5344CB8AC3E}">
        <p14:creationId xmlns:p14="http://schemas.microsoft.com/office/powerpoint/2010/main" val="1404997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Куча Стеков</a:t>
            </a: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CDC45356-EE7C-C9EE-E784-FAACFA47DB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940282"/>
              </p:ext>
            </p:extLst>
          </p:nvPr>
        </p:nvGraphicFramePr>
        <p:xfrm>
          <a:off x="2076691" y="1687862"/>
          <a:ext cx="8038617" cy="4626864"/>
        </p:xfrm>
        <a:graphic>
          <a:graphicData uri="http://schemas.openxmlformats.org/drawingml/2006/table">
            <a:tbl>
              <a:tblPr/>
              <a:tblGrid>
                <a:gridCol w="2679539">
                  <a:extLst>
                    <a:ext uri="{9D8B030D-6E8A-4147-A177-3AD203B41FA5}">
                      <a16:colId xmlns:a16="http://schemas.microsoft.com/office/drawing/2014/main" val="668864786"/>
                    </a:ext>
                  </a:extLst>
                </a:gridCol>
                <a:gridCol w="2679539">
                  <a:extLst>
                    <a:ext uri="{9D8B030D-6E8A-4147-A177-3AD203B41FA5}">
                      <a16:colId xmlns:a16="http://schemas.microsoft.com/office/drawing/2014/main" val="4061487397"/>
                    </a:ext>
                  </a:extLst>
                </a:gridCol>
                <a:gridCol w="2679539">
                  <a:extLst>
                    <a:ext uri="{9D8B030D-6E8A-4147-A177-3AD203B41FA5}">
                      <a16:colId xmlns:a16="http://schemas.microsoft.com/office/drawing/2014/main" val="350509161"/>
                    </a:ext>
                  </a:extLst>
                </a:gridCol>
              </a:tblGrid>
              <a:tr h="506782"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  <a:latin typeface="Inter"/>
                        </a:rPr>
                        <a:t>Признак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Стек (</a:t>
                      </a:r>
                      <a:r>
                        <a:rPr lang="en-US" sz="1400" b="1">
                          <a:effectLst/>
                          <a:latin typeface="Inter"/>
                        </a:rPr>
                        <a:t>Stack)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Управляемая Куча (</a:t>
                      </a:r>
                      <a:r>
                        <a:rPr lang="en-US" sz="1400" b="1">
                          <a:effectLst/>
                          <a:latin typeface="Inter"/>
                        </a:rPr>
                        <a:t>Managed Heap)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232575"/>
                  </a:ext>
                </a:extLst>
              </a:tr>
              <a:tr h="506782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Назначение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Управление потоком исполнения, локальные данные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Хранение объектов с динамическим временем жизни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1237988"/>
                  </a:ext>
                </a:extLst>
              </a:tr>
              <a:tr h="506782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Структура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Inter"/>
                        </a:rPr>
                        <a:t>LIFO (Last-In, First-Out)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Неструктурированный пул памяти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170175"/>
                  </a:ext>
                </a:extLst>
              </a:tr>
              <a:tr h="506782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Скорость выделения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Чрезвычайно высокая (сдвиг указателя)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Относительно медленная (поиск свободного блока)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888164"/>
                  </a:ext>
                </a:extLst>
              </a:tr>
              <a:tr h="506782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Скорость освобождения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Чрезвычайно высокая (сдвиг указателя)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Inter"/>
                        </a:rPr>
                        <a:t>Недетерминированная, выполняется Сборщиком Мусора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363535"/>
                  </a:ext>
                </a:extLst>
              </a:tr>
              <a:tr h="506782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Время жизни данных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Ограничено временем жизни вызова метода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От создания до тех пор, пока существуют ссылки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628744"/>
                  </a:ext>
                </a:extLst>
              </a:tr>
              <a:tr h="506782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Управление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Автоматическое, компилятором и </a:t>
                      </a:r>
                      <a:r>
                        <a:rPr lang="en-US" sz="1400" b="0">
                          <a:effectLst/>
                          <a:latin typeface="Inter"/>
                        </a:rPr>
                        <a:t>CLR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Автоматическое, Сборщиком Мусора (</a:t>
                      </a:r>
                      <a:r>
                        <a:rPr lang="en-US" sz="1400" b="0">
                          <a:effectLst/>
                          <a:latin typeface="Inter"/>
                        </a:rPr>
                        <a:t>GC)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214933"/>
                  </a:ext>
                </a:extLst>
              </a:tr>
              <a:tr h="297079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Размер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Малый, фиксированный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Большой, динамически растет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677765"/>
                  </a:ext>
                </a:extLst>
              </a:tr>
              <a:tr h="506782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Риск ошибки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DM Mono" panose="020B0509040201040103" pitchFamily="49" charset="0"/>
                        </a:rPr>
                        <a:t>StackOverflowException</a:t>
                      </a:r>
                      <a:r>
                        <a:rPr lang="en-US" sz="1400" b="0">
                          <a:effectLst/>
                          <a:latin typeface="Inter"/>
                        </a:rPr>
                        <a:t> (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переполнение)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Inter"/>
                        </a:rPr>
                        <a:t>Паузы на сборку мусора, фрагментация памяти</a:t>
                      </a:r>
                    </a:p>
                  </a:txBody>
                  <a:tcPr marL="87376" marR="87376" marT="43688" marB="436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081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2383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Значимый тип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FA68991-3178-4EA0-C405-E3FBB9963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Значимый тип - такой тип данных, переменная которого хранит свое значение непосредственно внутри области памяти, выделенной для самой переменной.</a:t>
            </a:r>
          </a:p>
          <a:p>
            <a:pPr marL="0" indent="0">
              <a:buNone/>
            </a:pPr>
            <a:r>
              <a:rPr lang="ru-RU" dirty="0"/>
              <a:t>Ключевые представители:</a:t>
            </a:r>
          </a:p>
          <a:p>
            <a:r>
              <a:rPr lang="ru-RU" dirty="0"/>
              <a:t>Все числовые примитивы: </a:t>
            </a:r>
            <a:r>
              <a:rPr lang="ru-RU" dirty="0" err="1"/>
              <a:t>int</a:t>
            </a:r>
            <a:r>
              <a:rPr lang="ru-RU" dirty="0"/>
              <a:t>, </a:t>
            </a:r>
            <a:r>
              <a:rPr lang="ru-RU" dirty="0" err="1"/>
              <a:t>double</a:t>
            </a:r>
            <a:r>
              <a:rPr lang="ru-RU" dirty="0"/>
              <a:t>, </a:t>
            </a:r>
            <a:r>
              <a:rPr lang="ru-RU" dirty="0" err="1"/>
              <a:t>float</a:t>
            </a:r>
            <a:r>
              <a:rPr lang="ru-RU" dirty="0"/>
              <a:t>, </a:t>
            </a:r>
            <a:r>
              <a:rPr lang="ru-RU" dirty="0" err="1"/>
              <a:t>decimal</a:t>
            </a:r>
            <a:r>
              <a:rPr lang="ru-RU" dirty="0"/>
              <a:t>, </a:t>
            </a:r>
            <a:r>
              <a:rPr lang="ru-RU" dirty="0" err="1"/>
              <a:t>byte</a:t>
            </a:r>
            <a:r>
              <a:rPr lang="ru-RU" dirty="0"/>
              <a:t> и т.д.</a:t>
            </a:r>
          </a:p>
          <a:p>
            <a:r>
              <a:rPr lang="ru-RU" dirty="0"/>
              <a:t>Логический тип: </a:t>
            </a:r>
            <a:r>
              <a:rPr lang="ru-RU" dirty="0" err="1"/>
              <a:t>bool</a:t>
            </a:r>
            <a:endParaRPr lang="ru-RU" dirty="0"/>
          </a:p>
          <a:p>
            <a:r>
              <a:rPr lang="ru-RU" dirty="0"/>
              <a:t>Символьный тип: </a:t>
            </a:r>
            <a:r>
              <a:rPr lang="ru-RU" dirty="0" err="1"/>
              <a:t>char</a:t>
            </a:r>
            <a:endParaRPr lang="ru-RU" dirty="0"/>
          </a:p>
          <a:p>
            <a:r>
              <a:rPr lang="ru-RU" dirty="0"/>
              <a:t>Все структуры, объявленные с помощью ключевого слова </a:t>
            </a:r>
            <a:r>
              <a:rPr lang="ru-RU" dirty="0" err="1"/>
              <a:t>struct</a:t>
            </a:r>
            <a:r>
              <a:rPr lang="ru-RU" dirty="0"/>
              <a:t>.</a:t>
            </a:r>
          </a:p>
          <a:p>
            <a:r>
              <a:rPr lang="ru-RU" dirty="0"/>
              <a:t>Все перечисления, объявленные с помощью </a:t>
            </a:r>
            <a:r>
              <a:rPr lang="ru-RU" dirty="0" err="1"/>
              <a:t>enum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25129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Значимый тип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FA68991-3178-4EA0-C405-E3FBB9963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Когда значение одной переменной значимого типа присваивается другой, происходит полное побитовое копирование значения.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E58529-0E94-C8F8-81DF-EA5CD14C7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78133"/>
            <a:ext cx="10348514" cy="201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911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Ссылочные типы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FA68991-3178-4EA0-C405-E3FBB9963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Ссылочный тип - такой тип данных, переменная которого хранит не сам объект, а ссылку (адрес) на место в управляемой куче, где располагается этот объект.</a:t>
            </a:r>
          </a:p>
          <a:p>
            <a:pPr marL="0" indent="0">
              <a:buNone/>
            </a:pPr>
            <a:r>
              <a:rPr lang="ru-RU" dirty="0"/>
              <a:t>Ключевые представители:</a:t>
            </a:r>
          </a:p>
          <a:p>
            <a:r>
              <a:rPr lang="ru-RU" dirty="0"/>
              <a:t>Все классы, объявленные с помощью ключевого слова </a:t>
            </a:r>
            <a:r>
              <a:rPr lang="ru-RU" dirty="0" err="1"/>
              <a:t>class</a:t>
            </a:r>
            <a:r>
              <a:rPr lang="ru-RU" dirty="0"/>
              <a:t>.</a:t>
            </a:r>
          </a:p>
          <a:p>
            <a:r>
              <a:rPr lang="ru-RU" dirty="0"/>
              <a:t>Тип </a:t>
            </a:r>
            <a:r>
              <a:rPr lang="ru-RU" dirty="0" err="1"/>
              <a:t>string</a:t>
            </a:r>
            <a:r>
              <a:rPr lang="ru-RU" dirty="0"/>
              <a:t> (со своими особенностями, о которых позже).</a:t>
            </a:r>
          </a:p>
          <a:p>
            <a:r>
              <a:rPr lang="ru-RU" dirty="0"/>
              <a:t>Все массивы (например, </a:t>
            </a:r>
            <a:r>
              <a:rPr lang="ru-RU" dirty="0" err="1"/>
              <a:t>int</a:t>
            </a:r>
            <a:r>
              <a:rPr lang="ru-RU" dirty="0"/>
              <a:t>[], </a:t>
            </a:r>
            <a:r>
              <a:rPr lang="ru-RU" dirty="0" err="1"/>
              <a:t>string</a:t>
            </a:r>
            <a:r>
              <a:rPr lang="ru-RU" dirty="0"/>
              <a:t>[]).</a:t>
            </a:r>
          </a:p>
          <a:p>
            <a:r>
              <a:rPr lang="ru-RU" dirty="0"/>
              <a:t>Делегаты, интерфейсы и тип </a:t>
            </a:r>
            <a:r>
              <a:rPr lang="ru-RU" dirty="0" err="1"/>
              <a:t>object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5671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Ссылочные типы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FA68991-3178-4EA0-C405-E3FBB9963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Локация в памяти (двухкомпонентная модель):</a:t>
            </a:r>
          </a:p>
          <a:p>
            <a:r>
              <a:rPr lang="ru-RU" dirty="0"/>
              <a:t>Сам объект (его поля и служебные данные) всегда создается в куче при помощи оператора </a:t>
            </a:r>
            <a:r>
              <a:rPr lang="ru-RU" dirty="0" err="1"/>
              <a:t>new</a:t>
            </a:r>
            <a:r>
              <a:rPr lang="ru-RU" dirty="0"/>
              <a:t>.</a:t>
            </a:r>
          </a:p>
          <a:p>
            <a:r>
              <a:rPr lang="ru-RU" dirty="0"/>
              <a:t>Переменная, которая ссылается на этот объект, хранит лишь его адрес. Сама эта переменная-ссылка, если она является локальной, располагается на стеке.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При присваивании одной переменной ссылочного типа другой, </a:t>
            </a:r>
            <a:r>
              <a:rPr lang="ru-RU" b="1" dirty="0"/>
              <a:t>копируется только значение ссылки (адреса)</a:t>
            </a:r>
            <a:r>
              <a:rPr lang="ru-RU" dirty="0"/>
              <a:t>, а не сам объект в куче.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3436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Ссылочные типы данных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1505390-208C-64F5-0F3C-55F08C05E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50233"/>
            <a:ext cx="10802659" cy="3512097"/>
          </a:xfrm>
        </p:spPr>
      </p:pic>
    </p:spTree>
    <p:extLst>
      <p:ext uri="{BB962C8B-B14F-4D97-AF65-F5344CB8AC3E}">
        <p14:creationId xmlns:p14="http://schemas.microsoft.com/office/powerpoint/2010/main" val="42064016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5D5E550-F157-4727-10B8-B7ABD5A9C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39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Для ссылочных типов существует специальное значение — </a:t>
            </a:r>
            <a:r>
              <a:rPr lang="ru-RU" dirty="0" err="1"/>
              <a:t>null</a:t>
            </a:r>
            <a:r>
              <a:rPr lang="ru-RU" dirty="0"/>
              <a:t>. </a:t>
            </a:r>
            <a:r>
              <a:rPr lang="ru-RU" dirty="0" err="1"/>
              <a:t>null</a:t>
            </a:r>
            <a:r>
              <a:rPr lang="ru-RU" dirty="0"/>
              <a:t> — это ссылка, которая не указывает ни на один объект. Это нулевой указатель.</a:t>
            </a:r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 a = 0; — a хранит валидное числовое значение «ноль».</a:t>
            </a:r>
          </a:p>
          <a:p>
            <a:pPr marL="0" indent="0">
              <a:buNone/>
            </a:pPr>
            <a:r>
              <a:rPr lang="ru-RU" dirty="0" err="1"/>
              <a:t>int</a:t>
            </a:r>
            <a:r>
              <a:rPr lang="ru-RU" dirty="0"/>
              <a:t>[] </a:t>
            </a:r>
            <a:r>
              <a:rPr lang="ru-RU" dirty="0" err="1"/>
              <a:t>arr</a:t>
            </a:r>
            <a:r>
              <a:rPr lang="ru-RU" dirty="0"/>
              <a:t> = </a:t>
            </a:r>
            <a:r>
              <a:rPr lang="ru-RU" dirty="0" err="1"/>
              <a:t>null</a:t>
            </a:r>
            <a:r>
              <a:rPr lang="ru-RU" dirty="0"/>
              <a:t>; — переменная </a:t>
            </a:r>
            <a:r>
              <a:rPr lang="ru-RU" dirty="0" err="1"/>
              <a:t>arr</a:t>
            </a:r>
            <a:r>
              <a:rPr lang="ru-RU" dirty="0"/>
              <a:t> существует на стеке, но она не содержит адреса какого-либо объекта в куче. Она «пуста»</a:t>
            </a:r>
          </a:p>
          <a:p>
            <a:pPr marL="0" indent="0">
              <a:buNone/>
            </a:pPr>
            <a:r>
              <a:rPr lang="ru-RU" i="1" dirty="0"/>
              <a:t>Попытка обратиться к членам объекта через </a:t>
            </a:r>
            <a:r>
              <a:rPr lang="ru-RU" i="1" dirty="0" err="1"/>
              <a:t>null</a:t>
            </a:r>
            <a:r>
              <a:rPr lang="ru-RU" i="1" dirty="0"/>
              <a:t>-ссылку (например, </a:t>
            </a:r>
            <a:r>
              <a:rPr lang="ru-RU" i="1" dirty="0" err="1"/>
              <a:t>arr.Length</a:t>
            </a:r>
            <a:r>
              <a:rPr lang="ru-RU" i="1" dirty="0"/>
              <a:t>) приведет к одной из самых распространенных ошибок времени выполнения — </a:t>
            </a:r>
            <a:r>
              <a:rPr lang="ru-RU" i="1" dirty="0" err="1"/>
              <a:t>System.NullReferenceException</a:t>
            </a:r>
            <a:r>
              <a:rPr lang="ru-RU" i="1" dirty="0"/>
              <a:t>. Это означает, что среда исполнения попыталась перейти по адресу, хранящемуся в переменной, но обнаружила, что этот адрес "нулевой" и никакого объекта там нет.</a:t>
            </a:r>
          </a:p>
        </p:txBody>
      </p:sp>
    </p:spTree>
    <p:extLst>
      <p:ext uri="{BB962C8B-B14F-4D97-AF65-F5344CB8AC3E}">
        <p14:creationId xmlns:p14="http://schemas.microsoft.com/office/powerpoint/2010/main" val="26668337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FAB961-9C84-0B44-3FB3-C824567A5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Сводная таблица фундаментальных различий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AB4E51E-0C16-966E-C76B-0D3FBAE76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439177"/>
              </p:ext>
            </p:extLst>
          </p:nvPr>
        </p:nvGraphicFramePr>
        <p:xfrm>
          <a:off x="1994329" y="1825626"/>
          <a:ext cx="8203341" cy="4351336"/>
        </p:xfrm>
        <a:graphic>
          <a:graphicData uri="http://schemas.openxmlformats.org/drawingml/2006/table">
            <a:tbl>
              <a:tblPr/>
              <a:tblGrid>
                <a:gridCol w="2734447">
                  <a:extLst>
                    <a:ext uri="{9D8B030D-6E8A-4147-A177-3AD203B41FA5}">
                      <a16:colId xmlns:a16="http://schemas.microsoft.com/office/drawing/2014/main" val="2316281784"/>
                    </a:ext>
                  </a:extLst>
                </a:gridCol>
                <a:gridCol w="2520163">
                  <a:extLst>
                    <a:ext uri="{9D8B030D-6E8A-4147-A177-3AD203B41FA5}">
                      <a16:colId xmlns:a16="http://schemas.microsoft.com/office/drawing/2014/main" val="1373543096"/>
                    </a:ext>
                  </a:extLst>
                </a:gridCol>
                <a:gridCol w="2948731">
                  <a:extLst>
                    <a:ext uri="{9D8B030D-6E8A-4147-A177-3AD203B41FA5}">
                      <a16:colId xmlns:a16="http://schemas.microsoft.com/office/drawing/2014/main" val="3754712907"/>
                    </a:ext>
                  </a:extLst>
                </a:gridCol>
              </a:tblGrid>
              <a:tr h="517167">
                <a:tc>
                  <a:txBody>
                    <a:bodyPr/>
                    <a:lstStyle/>
                    <a:p>
                      <a:r>
                        <a:rPr lang="ru-RU" sz="1400" b="1" dirty="0">
                          <a:effectLst/>
                          <a:latin typeface="Inter"/>
                        </a:rPr>
                        <a:t>Характеристика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Значимые типы (</a:t>
                      </a:r>
                      <a:r>
                        <a:rPr lang="en-US" sz="1400" b="1">
                          <a:effectLst/>
                          <a:latin typeface="Inter"/>
                        </a:rPr>
                        <a:t>Value Types)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Ссылочные типы (</a:t>
                      </a:r>
                      <a:r>
                        <a:rPr lang="en-US" sz="1400" b="1">
                          <a:effectLst/>
                          <a:latin typeface="Inter"/>
                        </a:rPr>
                        <a:t>Reference Types)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15687"/>
                  </a:ext>
                </a:extLst>
              </a:tr>
              <a:tr h="517167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Что хранится в переменной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Непосредственно само значение.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Адрес (ссылка) на объект в куче.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759133"/>
                  </a:ext>
                </a:extLst>
              </a:tr>
              <a:tr h="517167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Основное местоположение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Стек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 (для локальных переменных).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Куча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 (для данных объекта).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593556"/>
                  </a:ext>
                </a:extLst>
              </a:tr>
              <a:tr h="731167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Присваивание (</a:t>
                      </a:r>
                      <a:r>
                        <a:rPr lang="ru-RU" sz="1400" b="1">
                          <a:effectLst/>
                          <a:latin typeface="DM Mono" panose="020B0509040201040103" pitchFamily="49" charset="0"/>
                        </a:rPr>
                        <a:t>=</a:t>
                      </a:r>
                      <a:r>
                        <a:rPr lang="ru-RU" sz="1400" b="1">
                          <a:effectLst/>
                          <a:latin typeface="Inter"/>
                        </a:rPr>
                        <a:t>)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Копирование значения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. Создаются две независимые копии.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Копирование ссылки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. Обе переменные указывают на один объект.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432712"/>
                  </a:ext>
                </a:extLst>
              </a:tr>
              <a:tr h="517167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Сравнение (</a:t>
                      </a:r>
                      <a:r>
                        <a:rPr lang="ru-RU" sz="1400" b="1">
                          <a:effectLst/>
                          <a:latin typeface="DM Mono" panose="020B0509040201040103" pitchFamily="49" charset="0"/>
                        </a:rPr>
                        <a:t>==</a:t>
                      </a:r>
                      <a:r>
                        <a:rPr lang="ru-RU" sz="1400" b="1">
                          <a:effectLst/>
                          <a:latin typeface="Inter"/>
                        </a:rPr>
                        <a:t>)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Сравнивает </a:t>
                      </a:r>
                      <a:r>
                        <a:rPr lang="ru-RU" sz="1400" b="1">
                          <a:effectLst/>
                          <a:latin typeface="Inter"/>
                        </a:rPr>
                        <a:t>значения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Сравнивает </a:t>
                      </a:r>
                      <a:r>
                        <a:rPr lang="ru-RU" sz="1400" b="1">
                          <a:effectLst/>
                          <a:latin typeface="Inter"/>
                        </a:rPr>
                        <a:t>ссылки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 (адреса). </a:t>
                      </a:r>
                      <a:r>
                        <a:rPr lang="ru-RU" sz="1400" b="0">
                          <a:effectLst/>
                          <a:latin typeface="DM Mono" panose="020B0509040201040103" pitchFamily="49" charset="0"/>
                        </a:rPr>
                        <a:t>true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, если указывают на 1 объект.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326281"/>
                  </a:ext>
                </a:extLst>
              </a:tr>
              <a:tr h="517167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Значение по умолчанию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DM Mono" panose="020B0509040201040103" pitchFamily="49" charset="0"/>
                        </a:rPr>
                        <a:t>0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, </a:t>
                      </a:r>
                      <a:r>
                        <a:rPr lang="ru-RU" sz="1400" b="0">
                          <a:effectLst/>
                          <a:latin typeface="DM Mono" panose="020B0509040201040103" pitchFamily="49" charset="0"/>
                        </a:rPr>
                        <a:t>false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 и т.п. (не может быть </a:t>
                      </a:r>
                      <a:r>
                        <a:rPr lang="ru-RU" sz="1400" b="0">
                          <a:effectLst/>
                          <a:latin typeface="DM Mono" panose="020B0509040201040103" pitchFamily="49" charset="0"/>
                        </a:rPr>
                        <a:t>null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).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DM Mono" panose="020B0509040201040103" pitchFamily="49" charset="0"/>
                        </a:rPr>
                        <a:t>null</a:t>
                      </a:r>
                      <a:r>
                        <a:rPr lang="en-US" sz="1400" b="0">
                          <a:effectLst/>
                          <a:latin typeface="Inter"/>
                        </a:rPr>
                        <a:t> (</a:t>
                      </a:r>
                      <a:r>
                        <a:rPr lang="ru-RU" sz="1400" b="0">
                          <a:effectLst/>
                          <a:latin typeface="Inter"/>
                        </a:rPr>
                        <a:t>ссылка в никуда).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46463"/>
                  </a:ext>
                </a:extLst>
              </a:tr>
              <a:tr h="517167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Управление памятью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Автоматически, при выходе из области видимости (со стека).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Inter"/>
                        </a:rPr>
                        <a:t>Управляется </a:t>
                      </a:r>
                      <a:r>
                        <a:rPr lang="ru-RU" sz="1400" b="1">
                          <a:effectLst/>
                          <a:latin typeface="Inter"/>
                        </a:rPr>
                        <a:t>Сборщиком Мусора (</a:t>
                      </a:r>
                      <a:r>
                        <a:rPr lang="en-US" sz="1400" b="1">
                          <a:effectLst/>
                          <a:latin typeface="Inter"/>
                        </a:rPr>
                        <a:t>GC)</a:t>
                      </a:r>
                      <a:r>
                        <a:rPr lang="en-US" sz="1400" b="0">
                          <a:effectLst/>
                          <a:latin typeface="Inter"/>
                        </a:rPr>
                        <a:t>.</a:t>
                      </a: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52178"/>
                  </a:ext>
                </a:extLst>
              </a:tr>
              <a:tr h="517167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  <a:latin typeface="Inter"/>
                        </a:rPr>
                        <a:t>Примеры</a:t>
                      </a:r>
                      <a:endParaRPr lang="ru-RU" sz="1400" b="0">
                        <a:effectLst/>
                        <a:latin typeface="Inter"/>
                      </a:endParaRP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effectLst/>
                          <a:latin typeface="DM Mono" panose="020B0509040201040103" pitchFamily="49" charset="0"/>
                        </a:rPr>
                        <a:t>int</a:t>
                      </a:r>
                      <a:r>
                        <a:rPr lang="en-US" sz="1400" b="0">
                          <a:effectLst/>
                          <a:latin typeface="Inter"/>
                        </a:rPr>
                        <a:t>, </a:t>
                      </a:r>
                      <a:r>
                        <a:rPr lang="en-US" sz="1400" b="0">
                          <a:effectLst/>
                          <a:latin typeface="DM Mono" panose="020B0509040201040103" pitchFamily="49" charset="0"/>
                        </a:rPr>
                        <a:t>bool</a:t>
                      </a:r>
                      <a:r>
                        <a:rPr lang="en-US" sz="1400" b="0">
                          <a:effectLst/>
                          <a:latin typeface="Inter"/>
                        </a:rPr>
                        <a:t>, </a:t>
                      </a:r>
                      <a:r>
                        <a:rPr lang="en-US" sz="1400" b="0">
                          <a:effectLst/>
                          <a:latin typeface="DM Mono" panose="020B0509040201040103" pitchFamily="49" charset="0"/>
                        </a:rPr>
                        <a:t>struct</a:t>
                      </a:r>
                      <a:r>
                        <a:rPr lang="en-US" sz="1400" b="0">
                          <a:effectLst/>
                          <a:latin typeface="Inter"/>
                        </a:rPr>
                        <a:t>, </a:t>
                      </a:r>
                      <a:r>
                        <a:rPr lang="en-US" sz="1400" b="0">
                          <a:effectLst/>
                          <a:latin typeface="DM Mono" panose="020B0509040201040103" pitchFamily="49" charset="0"/>
                        </a:rPr>
                        <a:t>enum</a:t>
                      </a:r>
                      <a:endParaRPr lang="en-US" sz="1400" b="0">
                        <a:effectLst/>
                        <a:latin typeface="Inter"/>
                      </a:endParaRP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effectLst/>
                          <a:latin typeface="DM Mono" panose="020B0509040201040103" pitchFamily="49" charset="0"/>
                        </a:rPr>
                        <a:t>string</a:t>
                      </a:r>
                      <a:r>
                        <a:rPr lang="en-US" sz="1400" b="0" dirty="0">
                          <a:effectLst/>
                          <a:latin typeface="Inter"/>
                        </a:rPr>
                        <a:t>, </a:t>
                      </a:r>
                      <a:r>
                        <a:rPr lang="en-US" sz="1400" b="0" dirty="0">
                          <a:effectLst/>
                          <a:latin typeface="DM Mono" panose="020B0509040201040103" pitchFamily="49" charset="0"/>
                        </a:rPr>
                        <a:t>Array</a:t>
                      </a:r>
                      <a:r>
                        <a:rPr lang="en-US" sz="1400" b="0" dirty="0">
                          <a:effectLst/>
                          <a:latin typeface="Inter"/>
                        </a:rPr>
                        <a:t>, </a:t>
                      </a:r>
                      <a:r>
                        <a:rPr lang="en-US" sz="1400" b="0" dirty="0">
                          <a:effectLst/>
                          <a:latin typeface="DM Mono" panose="020B0509040201040103" pitchFamily="49" charset="0"/>
                        </a:rPr>
                        <a:t>class</a:t>
                      </a:r>
                      <a:r>
                        <a:rPr lang="en-US" sz="1400" b="0" dirty="0">
                          <a:effectLst/>
                          <a:latin typeface="Inter"/>
                        </a:rPr>
                        <a:t>, </a:t>
                      </a:r>
                      <a:r>
                        <a:rPr lang="en-US" sz="1400" b="0" dirty="0">
                          <a:effectLst/>
                          <a:latin typeface="DM Mono" panose="020B0509040201040103" pitchFamily="49" charset="0"/>
                        </a:rPr>
                        <a:t>object</a:t>
                      </a:r>
                      <a:endParaRPr lang="en-US" sz="1400" b="0" dirty="0">
                        <a:effectLst/>
                        <a:latin typeface="Inter"/>
                      </a:endParaRPr>
                    </a:p>
                  </a:txBody>
                  <a:tcPr marL="89167" marR="89167" marT="44583" marB="445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29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3659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76DDC-1E1E-C851-86CE-85E52BF47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Массивы, Строки и Механизмы вызова функций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4550E70-7D50-3393-35CE-A210A90D0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9725"/>
            <a:ext cx="10912571" cy="4225788"/>
          </a:xfrm>
        </p:spPr>
      </p:pic>
    </p:spTree>
    <p:extLst>
      <p:ext uri="{BB962C8B-B14F-4D97-AF65-F5344CB8AC3E}">
        <p14:creationId xmlns:p14="http://schemas.microsoft.com/office/powerpoint/2010/main" val="29982105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76DDC-1E1E-C851-86CE-85E52BF47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Массивы, Строки и Механизмы вызова функций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39ACBED-9188-2523-F29A-5233508A4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3139" y="1595323"/>
            <a:ext cx="7246253" cy="4778971"/>
          </a:xfrm>
        </p:spPr>
      </p:pic>
    </p:spTree>
    <p:extLst>
      <p:ext uri="{BB962C8B-B14F-4D97-AF65-F5344CB8AC3E}">
        <p14:creationId xmlns:p14="http://schemas.microsoft.com/office/powerpoint/2010/main" val="4031484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76DDC-1E1E-C851-86CE-85E52BF47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Массивы, Строки и Механизмы вызова функций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1E7930F-A9D8-0B68-1F59-F7D9C0F32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Тип </a:t>
            </a:r>
            <a:r>
              <a:rPr lang="ru-RU" dirty="0" err="1"/>
              <a:t>string</a:t>
            </a:r>
            <a:r>
              <a:rPr lang="ru-RU" dirty="0"/>
              <a:t> в C# является ссылочным типом, однако он обладает особым свойством — неизменяемости (</a:t>
            </a:r>
            <a:r>
              <a:rPr lang="ru-RU" dirty="0" err="1"/>
              <a:t>immutability</a:t>
            </a:r>
            <a:r>
              <a:rPr lang="ru-RU" dirty="0"/>
              <a:t>).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Это свойство делает его поведение в некоторых сценариях похожим на поведение значимых типов, что требует отдельного рассмотрения.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Как и любой другой ссылочный тип, переменная типа </a:t>
            </a:r>
            <a:r>
              <a:rPr lang="ru-RU" dirty="0" err="1"/>
              <a:t>string</a:t>
            </a:r>
            <a:r>
              <a:rPr lang="ru-RU" dirty="0"/>
              <a:t> на стеке хранит адрес объекта в куче. Сам объект в куче содержит последовательность символов (</a:t>
            </a:r>
            <a:r>
              <a:rPr lang="ru-RU" dirty="0" err="1"/>
              <a:t>char</a:t>
            </a:r>
            <a:r>
              <a:rPr lang="ru-RU" dirty="0"/>
              <a:t>) и служебную информацию.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07452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76DDC-1E1E-C851-86CE-85E52BF47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Массивы, Строки и Механизмы вызова функций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4E23263D-1EDA-DF15-16D9-43462C3B0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868" y="1564143"/>
            <a:ext cx="7915722" cy="186485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B9738C-3451-E5C2-9CF3-A7DD9B1B70FA}"/>
              </a:ext>
            </a:extLst>
          </p:cNvPr>
          <p:cNvSpPr txBox="1"/>
          <p:nvPr/>
        </p:nvSpPr>
        <p:spPr>
          <a:xfrm>
            <a:off x="838200" y="3220278"/>
            <a:ext cx="10515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Выделяет в куче новый блок памяти, достаточный для хранения строки "Hello, World!".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Создает в этом новом месте новый строковый объект.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Оператор присваивания (=) обновляет значение переменной </a:t>
            </a:r>
            <a:r>
              <a:rPr lang="ru-RU" sz="2800" dirty="0" err="1"/>
              <a:t>greeting</a:t>
            </a:r>
            <a:r>
              <a:rPr lang="ru-RU" sz="2800" dirty="0"/>
              <a:t> на стеке, записывая в нее адрес нового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42909766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A0BAE-69A3-329B-2196-E9421BD7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Массивы, Строки и Механизмы вызова функций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4C2F97-EF59-5FD9-76E0-01FC798D0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C# по умолчанию используется передача параметров по значению (</a:t>
            </a:r>
            <a:r>
              <a:rPr lang="ru-RU" dirty="0" err="1"/>
              <a:t>pass</a:t>
            </a:r>
            <a:r>
              <a:rPr lang="ru-RU" dirty="0"/>
              <a:t>-by-</a:t>
            </a:r>
            <a:r>
              <a:rPr lang="ru-RU" dirty="0" err="1"/>
              <a:t>value</a:t>
            </a:r>
            <a:r>
              <a:rPr lang="ru-RU" dirty="0"/>
              <a:t>). Однако интерпретация этого правила критически зависит от того, является ли передаваемый тип значимым или ссылочным.</a:t>
            </a:r>
          </a:p>
          <a:p>
            <a:pPr marL="0" indent="0">
              <a:buNone/>
            </a:pPr>
            <a:r>
              <a:rPr lang="ru-RU" dirty="0"/>
              <a:t>"Передать по значению" означает, что для параметра метода в его стековом фрейме создается новая ячейка памяти, и в нее копируется значение переменной-аргумента.</a:t>
            </a:r>
          </a:p>
        </p:txBody>
      </p:sp>
    </p:spTree>
    <p:extLst>
      <p:ext uri="{BB962C8B-B14F-4D97-AF65-F5344CB8AC3E}">
        <p14:creationId xmlns:p14="http://schemas.microsoft.com/office/powerpoint/2010/main" val="14951430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A0BAE-69A3-329B-2196-E9421BD7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Массивы, Строки и Механизмы вызова функций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4C2F97-EF59-5FD9-76E0-01FC798D0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Передача значимого типа (например, </a:t>
            </a:r>
            <a:r>
              <a:rPr lang="ru-RU" dirty="0" err="1"/>
              <a:t>int</a:t>
            </a:r>
            <a:r>
              <a:rPr lang="ru-RU" dirty="0"/>
              <a:t>):</a:t>
            </a:r>
          </a:p>
          <a:p>
            <a:r>
              <a:rPr lang="ru-RU" dirty="0"/>
              <a:t>Что копируется: Само значение (например, число 42).</a:t>
            </a:r>
          </a:p>
          <a:p>
            <a:r>
              <a:rPr lang="ru-RU" dirty="0"/>
              <a:t>Результат: Метод оперирует полной, независимой копией исходных данных. Любые изменения этой копии внутри метода никак не влияют на оригинальную переменную в вызывающем коде.</a:t>
            </a:r>
          </a:p>
        </p:txBody>
      </p:sp>
    </p:spTree>
    <p:extLst>
      <p:ext uri="{BB962C8B-B14F-4D97-AF65-F5344CB8AC3E}">
        <p14:creationId xmlns:p14="http://schemas.microsoft.com/office/powerpoint/2010/main" val="7167138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A0BAE-69A3-329B-2196-E9421BD7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Массивы, Строки и Механизмы вызова функций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4C2F97-EF59-5FD9-76E0-01FC798D0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Передача ссылочного типа (например, </a:t>
            </a:r>
            <a:r>
              <a:rPr lang="ru-RU" dirty="0" err="1"/>
              <a:t>int</a:t>
            </a:r>
            <a:r>
              <a:rPr lang="ru-RU" dirty="0"/>
              <a:t>[]):</a:t>
            </a:r>
          </a:p>
          <a:p>
            <a:r>
              <a:rPr lang="ru-RU" dirty="0"/>
              <a:t>Что копируется: Значение переменной-ссылки, то есть адрес объекта в куче.</a:t>
            </a:r>
          </a:p>
          <a:p>
            <a:r>
              <a:rPr lang="ru-RU" dirty="0"/>
              <a:t>Результат: Внутри метода создается новая, локальная ссылка, но она указывает на тот же самый объект в куче, что и исходная ссылка. Метод не может изменить исходную ссылку (т.е. заставить ее указывать на другой массив), но он может через свою копию ссылки получить доступ к общему объекту в куче и изменить его состояние (например, поменять значения элементов массива).</a:t>
            </a:r>
          </a:p>
        </p:txBody>
      </p:sp>
    </p:spTree>
    <p:extLst>
      <p:ext uri="{BB962C8B-B14F-4D97-AF65-F5344CB8AC3E}">
        <p14:creationId xmlns:p14="http://schemas.microsoft.com/office/powerpoint/2010/main" val="9724255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A0BAE-69A3-329B-2196-E9421BD7C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Массивы, Строки и Механизмы вызова функций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4C2F97-EF59-5FD9-76E0-01FC798D0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Визуальная аналогия:</a:t>
            </a:r>
          </a:p>
          <a:p>
            <a:r>
              <a:rPr lang="ru-RU" dirty="0"/>
              <a:t>Значимый тип: Вы даете коллеге ксерокопию документа. Он может рисовать на своей копии что угодно, ваш оригинал останется нетронутым.</a:t>
            </a:r>
          </a:p>
          <a:p>
            <a:r>
              <a:rPr lang="ru-RU" dirty="0"/>
              <a:t>Ссылочный тип: Вы даете коллеге дубликат ключа от вашего офиса. Теперь у вас два физически разных ключа, но оба открывают одну и ту же дверь. Если коллега войдет в офис и переставит мебель, вы, войдя позже со своим ключом, увидите эти изменения.</a:t>
            </a:r>
          </a:p>
        </p:txBody>
      </p:sp>
    </p:spTree>
    <p:extLst>
      <p:ext uri="{BB962C8B-B14F-4D97-AF65-F5344CB8AC3E}">
        <p14:creationId xmlns:p14="http://schemas.microsoft.com/office/powerpoint/2010/main" val="2286923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77D57-7FCA-02A4-050D-3404B5AD5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8547C6-CC77-9F5B-63EA-77F17ADFE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1233427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2892</Words>
  <Application>Microsoft Office PowerPoint</Application>
  <PresentationFormat>Широкоэкранный</PresentationFormat>
  <Paragraphs>239</Paragraphs>
  <Slides>45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2" baseType="lpstr">
      <vt:lpstr>Aptos</vt:lpstr>
      <vt:lpstr>Aptos Display</vt:lpstr>
      <vt:lpstr>Arial</vt:lpstr>
      <vt:lpstr>DM Mono</vt:lpstr>
      <vt:lpstr>Inter</vt:lpstr>
      <vt:lpstr>YS Text</vt:lpstr>
      <vt:lpstr>Тема Office</vt:lpstr>
      <vt:lpstr>Переменные, типы данных и управление памятью в C#</vt:lpstr>
      <vt:lpstr>Физическая и логическая организация оперативной памяти</vt:lpstr>
      <vt:lpstr>Физическая и логическая организация оперативной памяти</vt:lpstr>
      <vt:lpstr>Физическая и логическая организация оперативной памяти</vt:lpstr>
      <vt:lpstr>Физическая и логическая организация оперативной памяти</vt:lpstr>
      <vt:lpstr>Физическая и логическая организация оперативной памяти</vt:lpstr>
      <vt:lpstr>Физическая и логическая организация оперативной памяти</vt:lpstr>
      <vt:lpstr>Данные в вычислительной системе</vt:lpstr>
      <vt:lpstr>Данные в вычислительной системе</vt:lpstr>
      <vt:lpstr>Данные в вычислительной системе</vt:lpstr>
      <vt:lpstr>Типы данных</vt:lpstr>
      <vt:lpstr>Типы данных</vt:lpstr>
      <vt:lpstr>Типы данных</vt:lpstr>
      <vt:lpstr>Типы данных</vt:lpstr>
      <vt:lpstr>Типы данных</vt:lpstr>
      <vt:lpstr>Стек и Управляемая Куча</vt:lpstr>
      <vt:lpstr>FIFO (First-In, First-Out) - Принцип Классической Очереди</vt:lpstr>
      <vt:lpstr>FIFO (First-In, First-Out) - Принцип Классической Очереди</vt:lpstr>
      <vt:lpstr>LIFO (Last-In, First-Out) - Принцип Стека</vt:lpstr>
      <vt:lpstr>LIFO (Last-In, First-Out) - Принцип Стека</vt:lpstr>
      <vt:lpstr>Стек</vt:lpstr>
      <vt:lpstr>Стек</vt:lpstr>
      <vt:lpstr>Стек</vt:lpstr>
      <vt:lpstr>Стек</vt:lpstr>
      <vt:lpstr>Управляемая Куча</vt:lpstr>
      <vt:lpstr>Управляемая Куча</vt:lpstr>
      <vt:lpstr>Управляемая Куча</vt:lpstr>
      <vt:lpstr>Управляемая Куча</vt:lpstr>
      <vt:lpstr>Куча Стеков</vt:lpstr>
      <vt:lpstr>Значимый тип данных</vt:lpstr>
      <vt:lpstr>Значимый тип данных</vt:lpstr>
      <vt:lpstr>Ссылочные типы данных</vt:lpstr>
      <vt:lpstr>Ссылочные типы данных</vt:lpstr>
      <vt:lpstr>Ссылочные типы данных</vt:lpstr>
      <vt:lpstr>null</vt:lpstr>
      <vt:lpstr>Сводная таблица фундаментальных различий</vt:lpstr>
      <vt:lpstr>Массивы, Строки и Механизмы вызова функций</vt:lpstr>
      <vt:lpstr>Массивы, Строки и Механизмы вызова функций</vt:lpstr>
      <vt:lpstr>Массивы, Строки и Механизмы вызова функций</vt:lpstr>
      <vt:lpstr>Массивы, Строки и Механизмы вызова функций</vt:lpstr>
      <vt:lpstr>Массивы, Строки и Механизмы вызова функций</vt:lpstr>
      <vt:lpstr>Массивы, Строки и Механизмы вызова функций</vt:lpstr>
      <vt:lpstr>Массивы, Строки и Механизмы вызова функций</vt:lpstr>
      <vt:lpstr>Массивы, Строки и Механизмы вызова функций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Фоменко</dc:creator>
  <cp:lastModifiedBy>Алексей Фоменко</cp:lastModifiedBy>
  <cp:revision>2</cp:revision>
  <dcterms:created xsi:type="dcterms:W3CDTF">2025-09-21T18:23:28Z</dcterms:created>
  <dcterms:modified xsi:type="dcterms:W3CDTF">2025-09-21T20:47:06Z</dcterms:modified>
</cp:coreProperties>
</file>