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2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C4109-8E00-B9F5-D2AB-B862EBA4A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21894B-48C5-B38D-D5FA-922FE88C7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8E5229-8820-2EC8-603B-4D8DBE3B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6CE7D-8587-FABD-15C2-D5BE81B6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F07370-7EE2-E441-31D3-28777CEC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0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D7D9F-43AC-8433-AD26-6D527C3C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19EF1-76F3-49E7-D753-9E18E999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39AC4B-88C0-05A8-6F61-592B3320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683339-1504-E1A8-4B40-008D2FA3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1DD400-12DA-0FED-A54F-96CDCD8A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52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CCB2F-913F-16EC-3278-40BDBFDC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D3C192-2135-0790-D750-2740C775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E4DFD3-4599-9E0F-A87F-646A212B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2F1EAB-0185-E654-538E-D4BA6DDE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8384E-9159-3DF9-2B1A-F58D574C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5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15658-FE26-243C-DD60-55F7BE11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91512-5B4E-0C1D-A2E0-E58A1A3DB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333ACE-2F84-FDE9-4659-FDAB32D7D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CAB867-CD8F-6E2C-8EE8-89C7ABCB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8D6A86-9652-4C8F-24A6-9C7F7F0F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20614B-E01F-ACFF-0D26-7BED926D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57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25E24-6567-F6D4-ADE6-FC8B7FA7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6AF6F1-B9A0-0F9E-3B20-F9CCF637F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EBC646-CE3E-7401-DEB2-94AD43B6C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352B17-5198-D3C4-92D3-A37436191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E71A9A-24BB-429B-51E1-0B5D321B6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4A43724-1944-0CE7-DCC9-82D86389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F52F5F1-0FC4-6E1E-676D-DE3D3A27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16D04F-7FDC-997B-8E06-B14761F4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45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612FA-19F3-DBC7-940B-DEB34579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C0CB3D-132B-9D85-D4A6-074236B2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009EA9-6824-C4E5-E48C-183BAC86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9742B4-8193-694B-5903-26088EC0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2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9A62A8-8012-C7AF-3DE7-24778ECE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0DE45DD-C09E-0B78-9A4D-DF2DDAF1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C5D6BD-CE8A-0C0E-ABE0-EDFD9093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98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59CDE-1AE2-862A-8BBB-AE22C76B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2C2FEA-118C-A165-3A88-DA5200BAF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E62EB3-F43E-2C84-497E-FC6688498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84F50C-8562-A862-3C1F-EDF14197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0D25DB-8A65-C2CC-CD01-58F704E3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115CF0-860E-5E47-C838-CE597C76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34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42979-F80E-BD5E-1B4F-589C1396A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C2EC08-9BED-0FDF-7169-5F6A980E5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7B6615-711C-2248-F6E8-B5985DBAD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8FFB23-D7DE-745D-AA0F-ADACED51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29A9B9-E6B1-C273-D7A5-098E345C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C9ED2D-4A3D-A3F3-392D-01171EB0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2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6ABF7-48E7-9651-0932-25D0C85D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532A68-DA57-9AC8-0099-776B07DB5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BA921C-880C-7EF4-2975-66FAB25C3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B9D76C-0049-52CE-68E2-1E58D534D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C2A951-A3D0-008A-96AD-E0FDB354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11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50DEF-7D1B-D857-368E-9591CE765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718EB1-1742-EE80-C73C-A2E35BD69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C28114-F910-EAC2-BA57-84EA748D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4DA67D-3498-5D2E-F8AB-B99AAFB0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03CF95-5A11-AC74-C8FE-D2CDC24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92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615BE-1C57-2E26-8066-F9812098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6EC73E-67D6-422C-AF00-402355EE0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E608ED-B2E4-63C2-C429-2CA3052F9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D93AE-E7C0-4D2B-BE20-EA4D7FD851E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7DB115-F5DC-7BE2-D9E1-5BD83EF3A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F4ADFF-F7A4-4495-7811-432994A79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F394E-BFC2-4435-97D3-421D435592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1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110E2-01E4-C63F-8F30-8FACDC6C5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ОПНчик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89C6B4-7012-84B7-6F63-9578BAB3CE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Фоменко М. Ю.</a:t>
            </a:r>
          </a:p>
          <a:p>
            <a:r>
              <a:rPr lang="ru-RU" dirty="0"/>
              <a:t>Информатика</a:t>
            </a:r>
          </a:p>
        </p:txBody>
      </p:sp>
    </p:spTree>
    <p:extLst>
      <p:ext uri="{BB962C8B-B14F-4D97-AF65-F5344CB8AC3E}">
        <p14:creationId xmlns:p14="http://schemas.microsoft.com/office/powerpoint/2010/main" val="99747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61785-00B6-6FBA-DC7B-0F54BBB7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мы это вообще делаем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180135-E2E9-24E7-16DF-22542AFB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лабе 5 у некоторых студентов появился вопрос: "а мы это все зачем вообще делаем? Есть же готовый, он работает и </a:t>
            </a:r>
            <a:r>
              <a:rPr lang="ru-RU" dirty="0" err="1"/>
              <a:t>тд</a:t>
            </a:r>
            <a:r>
              <a:rPr lang="ru-RU" dirty="0"/>
              <a:t>".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"бесконечных" списков теперь не бывает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зачем нам этот "польский калькулятор«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этой лабе мы рассмотрим алгоритм обработки</a:t>
            </a:r>
          </a:p>
        </p:txBody>
      </p:sp>
    </p:spTree>
    <p:extLst>
      <p:ext uri="{BB962C8B-B14F-4D97-AF65-F5344CB8AC3E}">
        <p14:creationId xmlns:p14="http://schemas.microsoft.com/office/powerpoint/2010/main" val="201123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CA710-3DF0-E2FC-C043-7E1514793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считает комп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D3EBD9-B15D-0431-35E7-707A4063D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2+2*2 не подходит для вычислений </a:t>
            </a:r>
          </a:p>
          <a:p>
            <a:pPr marL="0" indent="0">
              <a:buNone/>
            </a:pPr>
            <a:r>
              <a:rPr lang="ru-RU" dirty="0"/>
              <a:t>Иф – </a:t>
            </a:r>
            <a:r>
              <a:rPr lang="ru-RU" dirty="0" err="1"/>
              <a:t>элс</a:t>
            </a:r>
            <a:r>
              <a:rPr lang="ru-RU" dirty="0"/>
              <a:t> лапша </a:t>
            </a:r>
            <a:r>
              <a:rPr lang="ru-RU" dirty="0" err="1"/>
              <a:t>ммм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Будем записывать выражение другим образом </a:t>
            </a:r>
          </a:p>
        </p:txBody>
      </p:sp>
    </p:spTree>
    <p:extLst>
      <p:ext uri="{BB962C8B-B14F-4D97-AF65-F5344CB8AC3E}">
        <p14:creationId xmlns:p14="http://schemas.microsoft.com/office/powerpoint/2010/main" val="238454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CD6E2-333F-0446-C041-DF1030CA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Польская Нотация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1B441-D1E2-0196-D8DC-01E75E585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Обратная польская запись, постфиксная нотация — форма записи математических и логических выражений, в которой операнды расположены перед знаками операций.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3 + 4 --&gt; 3 4 +</a:t>
            </a:r>
          </a:p>
          <a:p>
            <a:pPr marL="0" indent="0">
              <a:buNone/>
            </a:pPr>
            <a:r>
              <a:rPr lang="ru-RU" dirty="0"/>
              <a:t>(3 + 4) * 5 --&gt; 3 4 + 5 *</a:t>
            </a:r>
          </a:p>
        </p:txBody>
      </p:sp>
    </p:spTree>
    <p:extLst>
      <p:ext uri="{BB962C8B-B14F-4D97-AF65-F5344CB8AC3E}">
        <p14:creationId xmlns:p14="http://schemas.microsoft.com/office/powerpoint/2010/main" val="295868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E334D-9602-5779-59CE-F73A1251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Инфиксная запись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F256CF-EF46-76AF-8534-A112B3965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Инфиксная запись (инфиксная нотация) — форма записи математических и логических формул, в которой операторы (сложение, вычитание, умножение и деление) записываются между операндами (числами, переменными, функциями и другими математическими объектами).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2+2*2</a:t>
            </a:r>
          </a:p>
        </p:txBody>
      </p:sp>
    </p:spTree>
    <p:extLst>
      <p:ext uri="{BB962C8B-B14F-4D97-AF65-F5344CB8AC3E}">
        <p14:creationId xmlns:p14="http://schemas.microsoft.com/office/powerpoint/2010/main" val="64954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F4E86-A8ED-8A09-DD93-2654426E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Префиксная запись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850E1-4232-673C-FA74-46D9B4EC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Префиксная запись (польская нотация) — форма записи логических, арифметических и алгебраических выражений, в которой оператор располагается слева от операндов. В отличие от инфиксной нотации, где операторы находятся между операндами.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Было: 2+2*2</a:t>
            </a:r>
          </a:p>
          <a:p>
            <a:pPr marL="0" indent="0">
              <a:buNone/>
            </a:pPr>
            <a:r>
              <a:rPr lang="ru-RU" dirty="0"/>
              <a:t>Стало: + 2 * 2 2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01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FDD4D-A6EC-3388-6E27-9C0C22FD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Постфиксная запись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CB8002-771C-7D4B-E6CF-448326B0C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Постфиксная (обратная польская) запись — форма записи математических и логических выражений, в которой знак операции записывается не между операндами, а после операндов. Также именуется как обратная бесскобочная запись, постфиксная нотация.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Было: 2+2*2</a:t>
            </a:r>
          </a:p>
          <a:p>
            <a:pPr marL="0" indent="0">
              <a:buNone/>
            </a:pPr>
            <a:r>
              <a:rPr lang="ru-RU" dirty="0"/>
              <a:t>Стало: 2 2 * 2 +</a:t>
            </a:r>
          </a:p>
        </p:txBody>
      </p:sp>
    </p:spTree>
    <p:extLst>
      <p:ext uri="{BB962C8B-B14F-4D97-AF65-F5344CB8AC3E}">
        <p14:creationId xmlns:p14="http://schemas.microsoft.com/office/powerpoint/2010/main" val="409487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970AF-779F-98CE-C4FF-2670895D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мы что используем?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4E775-37FF-31CB-8701-AA280FFE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Префикс: + 2 * 2 2</a:t>
            </a:r>
          </a:p>
          <a:p>
            <a:r>
              <a:rPr lang="ru-RU" dirty="0"/>
              <a:t>Постфикс: 2 2 * 2 +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На первый взгляд может показаться, что разница тут не сильно почувствуется, просто зеркально? НЕТ.</a:t>
            </a:r>
          </a:p>
        </p:txBody>
      </p:sp>
    </p:spTree>
    <p:extLst>
      <p:ext uri="{BB962C8B-B14F-4D97-AF65-F5344CB8AC3E}">
        <p14:creationId xmlns:p14="http://schemas.microsoft.com/office/powerpoint/2010/main" val="402400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9986E-6169-4517-5CE8-95CACFB6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Считаем префиксную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9A309-B7DD-3B1D-B74A-2E61851AE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Выражение + 2 * 2 2</a:t>
            </a:r>
          </a:p>
          <a:p>
            <a:pPr marL="0" indent="0">
              <a:buNone/>
            </a:pPr>
            <a:r>
              <a:rPr lang="ru-RU" dirty="0"/>
              <a:t>Читаем +. Это команда. Но где данные? Их нет. Они будут "где-то там" в будущем.</a:t>
            </a:r>
          </a:p>
          <a:p>
            <a:pPr marL="0" indent="0">
              <a:buNone/>
            </a:pPr>
            <a:r>
              <a:rPr lang="ru-RU" dirty="0"/>
              <a:t>Нам нужно запомнить этот плюс (положить в стек операторов или уйти в рекурсию) и ждать.</a:t>
            </a:r>
          </a:p>
          <a:p>
            <a:pPr marL="0" indent="0">
              <a:buNone/>
            </a:pPr>
            <a:r>
              <a:rPr lang="ru-RU" dirty="0"/>
              <a:t>Читаем 2. Это первое число.</a:t>
            </a:r>
          </a:p>
          <a:p>
            <a:pPr marL="0" indent="0">
              <a:buNone/>
            </a:pPr>
            <a:r>
              <a:rPr lang="ru-RU" dirty="0"/>
              <a:t>Читаем *. Это команда. Но где данные? Их нет. Они будут "где-то там" в будущем.</a:t>
            </a:r>
          </a:p>
          <a:p>
            <a:pPr marL="0" indent="0">
              <a:buNone/>
            </a:pPr>
            <a:r>
              <a:rPr lang="ru-RU" dirty="0"/>
              <a:t>Читаем 2. Это первое число.</a:t>
            </a:r>
          </a:p>
          <a:p>
            <a:pPr marL="0" indent="0">
              <a:buNone/>
            </a:pPr>
            <a:r>
              <a:rPr lang="ru-RU" dirty="0"/>
              <a:t>Читаем 2. Это второе число.</a:t>
            </a:r>
          </a:p>
          <a:p>
            <a:pPr marL="0" indent="0">
              <a:buNone/>
            </a:pPr>
            <a:r>
              <a:rPr lang="ru-RU" dirty="0"/>
              <a:t>А теперь надо "вспомнить", что там было умножение.</a:t>
            </a:r>
          </a:p>
          <a:p>
            <a:pPr marL="0" indent="0">
              <a:buNone/>
            </a:pPr>
            <a:r>
              <a:rPr lang="ru-RU" dirty="0"/>
              <a:t>А потом еще и для плюса...</a:t>
            </a:r>
          </a:p>
        </p:txBody>
      </p:sp>
    </p:spTree>
    <p:extLst>
      <p:ext uri="{BB962C8B-B14F-4D97-AF65-F5344CB8AC3E}">
        <p14:creationId xmlns:p14="http://schemas.microsoft.com/office/powerpoint/2010/main" val="131004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9986E-6169-4517-5CE8-95CACFB6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Считаем префиксную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9A309-B7DD-3B1D-B74A-2E61851AE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Чтобы посчитать Префиксную запись простым алгоритмом, нам нужно читать строку справа налево (с конца).</a:t>
            </a:r>
          </a:p>
          <a:p>
            <a:pPr marL="0" indent="0">
              <a:buNone/>
            </a:pPr>
            <a:r>
              <a:rPr lang="ru-RU" dirty="0"/>
              <a:t>А чтобы читать с конца, нам нужно сначала загрузить всю строку в память.</a:t>
            </a:r>
          </a:p>
        </p:txBody>
      </p:sp>
    </p:spTree>
    <p:extLst>
      <p:ext uri="{BB962C8B-B14F-4D97-AF65-F5344CB8AC3E}">
        <p14:creationId xmlns:p14="http://schemas.microsoft.com/office/powerpoint/2010/main" val="259307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8CBFB-A135-124A-8771-60BFBD5B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Считаем постфиксную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7187D0-4DF6-6036-05AB-52681A2C6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2 2 * 2 +</a:t>
            </a:r>
          </a:p>
          <a:p>
            <a:pPr marL="0" indent="0">
              <a:buNone/>
            </a:pPr>
            <a:r>
              <a:rPr lang="ru-RU" dirty="0"/>
              <a:t>Читаем 2. Это данные? Да. В стек.</a:t>
            </a:r>
          </a:p>
          <a:p>
            <a:pPr marL="0" indent="0">
              <a:buNone/>
            </a:pPr>
            <a:r>
              <a:rPr lang="ru-RU" dirty="0"/>
              <a:t>Читаем 2. Это данные? Да. В стек.</a:t>
            </a:r>
          </a:p>
          <a:p>
            <a:pPr marL="0" indent="0">
              <a:buNone/>
            </a:pPr>
            <a:r>
              <a:rPr lang="ru-RU" dirty="0"/>
              <a:t>Читаем *. Это команда? Да. Данные для неё УЖЕ лежат в стеке (мы их только что прочли).</a:t>
            </a:r>
          </a:p>
          <a:p>
            <a:pPr marL="0" indent="0">
              <a:buNone/>
            </a:pPr>
            <a:r>
              <a:rPr lang="ru-RU" dirty="0"/>
              <a:t>Посчитали, результат (4) кладем обратно в строку (получится строка 4 2 +)</a:t>
            </a:r>
          </a:p>
          <a:p>
            <a:pPr marL="0" indent="0">
              <a:buNone/>
            </a:pPr>
            <a:r>
              <a:rPr lang="ru-RU" dirty="0"/>
              <a:t>Читаем 4 в стек.</a:t>
            </a:r>
          </a:p>
          <a:p>
            <a:pPr marL="0" indent="0">
              <a:buNone/>
            </a:pPr>
            <a:r>
              <a:rPr lang="ru-RU" dirty="0"/>
              <a:t>Читаем 2 в стек.</a:t>
            </a:r>
          </a:p>
          <a:p>
            <a:pPr marL="0" indent="0">
              <a:buNone/>
            </a:pPr>
            <a:r>
              <a:rPr lang="ru-RU" dirty="0"/>
              <a:t>Читаем +. Считаем результат, кладем в строку.</a:t>
            </a:r>
          </a:p>
          <a:p>
            <a:pPr marL="0" indent="0">
              <a:buNone/>
            </a:pPr>
            <a:r>
              <a:rPr lang="ru-RU" dirty="0"/>
              <a:t>Это конец, в этой же строке будет ответ.</a:t>
            </a:r>
          </a:p>
        </p:txBody>
      </p:sp>
    </p:spTree>
    <p:extLst>
      <p:ext uri="{BB962C8B-B14F-4D97-AF65-F5344CB8AC3E}">
        <p14:creationId xmlns:p14="http://schemas.microsoft.com/office/powerpoint/2010/main" val="8483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8CBFB-A135-124A-8771-60BFBD5B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в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7187D0-4DF6-6036-05AB-52681A2C6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прошлой лабе вы, мученики, писали свой List&lt;T&gt;. Зачем? Чтобы понять, что под капотом.</a:t>
            </a:r>
          </a:p>
          <a:p>
            <a:pPr marL="0" indent="0">
              <a:buNone/>
            </a:pPr>
            <a:r>
              <a:rPr lang="ru-RU" dirty="0"/>
              <a:t>В данной работе нам понадобится новая структура данных - стек. Стек работает по принципу LIFO.</a:t>
            </a:r>
          </a:p>
          <a:p>
            <a:pPr marL="0" indent="0">
              <a:buNone/>
            </a:pPr>
            <a:r>
              <a:rPr lang="ru-RU" dirty="0"/>
              <a:t>Принцип LIFO (</a:t>
            </a:r>
            <a:r>
              <a:rPr lang="ru-RU" dirty="0" err="1"/>
              <a:t>Last</a:t>
            </a:r>
            <a:r>
              <a:rPr lang="ru-RU" dirty="0"/>
              <a:t> In, First Out).</a:t>
            </a:r>
          </a:p>
          <a:p>
            <a:pPr marL="0" indent="0">
              <a:buNone/>
            </a:pPr>
            <a:r>
              <a:rPr lang="ru-RU" dirty="0"/>
              <a:t>Основные методы</a:t>
            </a:r>
          </a:p>
          <a:p>
            <a:r>
              <a:rPr lang="ru-RU" dirty="0" err="1"/>
              <a:t>Push</a:t>
            </a:r>
            <a:r>
              <a:rPr lang="ru-RU" dirty="0"/>
              <a:t> (положить В КОНЕЦ), </a:t>
            </a:r>
          </a:p>
          <a:p>
            <a:r>
              <a:rPr lang="ru-RU" dirty="0" err="1"/>
              <a:t>Pop</a:t>
            </a:r>
            <a:r>
              <a:rPr lang="ru-RU" dirty="0"/>
              <a:t> (взять С КОНЦА и удалить), </a:t>
            </a:r>
          </a:p>
          <a:p>
            <a:r>
              <a:rPr lang="ru-RU" dirty="0" err="1"/>
              <a:t>Peek</a:t>
            </a:r>
            <a:r>
              <a:rPr lang="ru-RU" dirty="0"/>
              <a:t> (подсмотреть КОНЕЦ).</a:t>
            </a:r>
          </a:p>
        </p:txBody>
      </p:sp>
    </p:spTree>
    <p:extLst>
      <p:ext uri="{BB962C8B-B14F-4D97-AF65-F5344CB8AC3E}">
        <p14:creationId xmlns:p14="http://schemas.microsoft.com/office/powerpoint/2010/main" val="3683899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0C392-DFD0-A0C7-6A4D-487DB49E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Генерики (&lt;</a:t>
            </a:r>
            <a:r>
              <a:rPr lang="en-US" dirty="0"/>
              <a:t>T&gt;)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7E030-CC19-5F71-F4FB-C0AE11ADA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ru-RU" dirty="0" err="1"/>
              <a:t>Stack</a:t>
            </a:r>
            <a:r>
              <a:rPr lang="ru-RU" dirty="0"/>
              <a:t>&lt;T&gt;, а не </a:t>
            </a:r>
            <a:r>
              <a:rPr lang="ru-RU" dirty="0" err="1"/>
              <a:t>StackInt</a:t>
            </a:r>
            <a:r>
              <a:rPr lang="ru-RU" dirty="0"/>
              <a:t>?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Потому что в одной части лабы нам нужен </a:t>
            </a:r>
            <a:r>
              <a:rPr lang="ru-RU" dirty="0" err="1"/>
              <a:t>Stack</a:t>
            </a:r>
            <a:r>
              <a:rPr lang="ru-RU" dirty="0"/>
              <a:t>&lt;</a:t>
            </a:r>
            <a:r>
              <a:rPr lang="ru-RU" dirty="0" err="1"/>
              <a:t>double</a:t>
            </a:r>
            <a:r>
              <a:rPr lang="ru-RU" dirty="0"/>
              <a:t>&gt; (для чисел), а в другой — </a:t>
            </a:r>
            <a:r>
              <a:rPr lang="ru-RU" dirty="0" err="1"/>
              <a:t>Stack</a:t>
            </a:r>
            <a:r>
              <a:rPr lang="ru-RU" dirty="0"/>
              <a:t>&lt;</a:t>
            </a:r>
            <a:r>
              <a:rPr lang="ru-RU" dirty="0" err="1"/>
              <a:t>char</a:t>
            </a:r>
            <a:r>
              <a:rPr lang="ru-RU" dirty="0"/>
              <a:t>&gt; (для плюсиков и </a:t>
            </a:r>
            <a:r>
              <a:rPr lang="ru-RU" dirty="0" err="1"/>
              <a:t>минусиков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08205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FC9DA-2571-B831-5C6A-E214021E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вычислитель записи ОПН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932A7D-BCA1-BA68-9CFB-8174EB833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Идем по строке слева направо. Для вычисления нам нужен 1 стек для чисел.</a:t>
            </a:r>
          </a:p>
          <a:p>
            <a:endParaRPr lang="ru-RU" dirty="0"/>
          </a:p>
          <a:p>
            <a:r>
              <a:rPr lang="ru-RU" dirty="0"/>
              <a:t>Видим число -&gt; </a:t>
            </a:r>
            <a:r>
              <a:rPr lang="ru-RU" dirty="0" err="1"/>
              <a:t>Push</a:t>
            </a:r>
            <a:r>
              <a:rPr lang="ru-RU" dirty="0"/>
              <a:t> в стек.</a:t>
            </a:r>
          </a:p>
          <a:p>
            <a:r>
              <a:rPr lang="ru-RU" dirty="0"/>
              <a:t>Видим знак -&gt; Делаем </a:t>
            </a:r>
            <a:r>
              <a:rPr lang="ru-RU" dirty="0" err="1"/>
              <a:t>Pop</a:t>
            </a:r>
            <a:r>
              <a:rPr lang="ru-RU" dirty="0"/>
              <a:t> два раза (достаем два последних числа), считаем, результат -&gt; </a:t>
            </a:r>
            <a:r>
              <a:rPr lang="ru-RU" dirty="0" err="1"/>
              <a:t>Push</a:t>
            </a:r>
            <a:r>
              <a:rPr lang="ru-RU" dirty="0"/>
              <a:t> обратно.</a:t>
            </a:r>
          </a:p>
          <a:p>
            <a:r>
              <a:rPr lang="ru-RU" dirty="0"/>
              <a:t>В конце в стеке останется одно число. Это ответ.</a:t>
            </a:r>
          </a:p>
        </p:txBody>
      </p:sp>
    </p:spTree>
    <p:extLst>
      <p:ext uri="{BB962C8B-B14F-4D97-AF65-F5344CB8AC3E}">
        <p14:creationId xmlns:p14="http://schemas.microsoft.com/office/powerpoint/2010/main" val="1364166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FC9DA-2571-B831-5C6A-E214021E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вычислитель записи ОПН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932A7D-BCA1-BA68-9CFB-8174EB833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Решаем:</a:t>
            </a:r>
          </a:p>
          <a:p>
            <a:pPr marL="0" indent="0">
              <a:buNone/>
            </a:pPr>
            <a:r>
              <a:rPr lang="ru-RU" dirty="0"/>
              <a:t>3 4 + 2 *</a:t>
            </a:r>
          </a:p>
          <a:p>
            <a:pPr marL="0" indent="0">
              <a:buNone/>
            </a:pPr>
            <a:r>
              <a:rPr lang="ru-RU" dirty="0"/>
              <a:t>И</a:t>
            </a:r>
          </a:p>
          <a:p>
            <a:pPr marL="0" indent="0">
              <a:buNone/>
            </a:pPr>
            <a:r>
              <a:rPr lang="ru-RU" dirty="0"/>
              <a:t>2 3 4 * + </a:t>
            </a:r>
          </a:p>
          <a:p>
            <a:pPr marL="0" indent="0">
              <a:buNone/>
            </a:pPr>
            <a:r>
              <a:rPr lang="ru-RU" dirty="0"/>
              <a:t>Это 2+3*4</a:t>
            </a:r>
          </a:p>
        </p:txBody>
      </p:sp>
    </p:spTree>
    <p:extLst>
      <p:ext uri="{BB962C8B-B14F-4D97-AF65-F5344CB8AC3E}">
        <p14:creationId xmlns:p14="http://schemas.microsoft.com/office/powerpoint/2010/main" val="3073981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Алгоритм предложен </a:t>
            </a:r>
            <a:r>
              <a:rPr lang="ru-RU" dirty="0" err="1"/>
              <a:t>Эдсгером</a:t>
            </a:r>
            <a:r>
              <a:rPr lang="ru-RU" dirty="0"/>
              <a:t> </a:t>
            </a:r>
            <a:r>
              <a:rPr lang="ru-RU" dirty="0" err="1"/>
              <a:t>Дейкстрой</a:t>
            </a:r>
            <a:r>
              <a:rPr lang="ru-RU" dirty="0"/>
              <a:t> в 1961 году.</a:t>
            </a:r>
          </a:p>
          <a:p>
            <a:pPr marL="0" indent="0">
              <a:buNone/>
            </a:pPr>
            <a:r>
              <a:rPr lang="ru-RU" dirty="0"/>
              <a:t>Как нам перевести строку 3 + 4 * 2.</a:t>
            </a:r>
          </a:p>
          <a:p>
            <a:pPr marL="0" indent="0">
              <a:buNone/>
            </a:pPr>
            <a:r>
              <a:rPr lang="ru-RU" b="1" dirty="0"/>
              <a:t>Входные данные</a:t>
            </a:r>
          </a:p>
          <a:p>
            <a:pPr marL="0" indent="0">
              <a:buNone/>
            </a:pPr>
            <a:r>
              <a:rPr lang="ru-RU" dirty="0" err="1"/>
              <a:t>input</a:t>
            </a:r>
            <a:r>
              <a:rPr lang="ru-RU" dirty="0"/>
              <a:t>: Строка (или массив строк), содержащая инфиксное выражение. Токены уже разделены.</a:t>
            </a:r>
          </a:p>
          <a:p>
            <a:pPr marL="0" indent="0">
              <a:buNone/>
            </a:pPr>
            <a:r>
              <a:rPr lang="ru-RU" dirty="0"/>
              <a:t>Пример: ["3", "+", "4", "*", "2"]</a:t>
            </a:r>
          </a:p>
          <a:p>
            <a:pPr marL="0" indent="0">
              <a:buNone/>
            </a:pPr>
            <a:r>
              <a:rPr lang="ru-RU" dirty="0" err="1"/>
              <a:t>output</a:t>
            </a:r>
            <a:r>
              <a:rPr lang="ru-RU" dirty="0"/>
              <a:t>: Список (или строка), куда мы записываем результат. В начале пуст.</a:t>
            </a:r>
          </a:p>
          <a:p>
            <a:pPr marL="0" indent="0">
              <a:buNone/>
            </a:pPr>
            <a:r>
              <a:rPr lang="ru-RU" dirty="0" err="1"/>
              <a:t>stack</a:t>
            </a:r>
            <a:r>
              <a:rPr lang="ru-RU" dirty="0"/>
              <a:t>: Стек символов (или строк) для хранения операторов. В начале пуст.</a:t>
            </a:r>
          </a:p>
        </p:txBody>
      </p:sp>
    </p:spTree>
    <p:extLst>
      <p:ext uri="{BB962C8B-B14F-4D97-AF65-F5344CB8AC3E}">
        <p14:creationId xmlns:p14="http://schemas.microsoft.com/office/powerpoint/2010/main" val="3406496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Таблица приоритетов (Веса операторов)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7C447CA-8D50-F359-F0E2-75B61356A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346267"/>
              </p:ext>
            </p:extLst>
          </p:nvPr>
        </p:nvGraphicFramePr>
        <p:xfrm>
          <a:off x="2624137" y="2675414"/>
          <a:ext cx="6943725" cy="2651760"/>
        </p:xfrm>
        <a:graphic>
          <a:graphicData uri="http://schemas.openxmlformats.org/drawingml/2006/table">
            <a:tbl>
              <a:tblPr/>
              <a:tblGrid>
                <a:gridCol w="2314575">
                  <a:extLst>
                    <a:ext uri="{9D8B030D-6E8A-4147-A177-3AD203B41FA5}">
                      <a16:colId xmlns:a16="http://schemas.microsoft.com/office/drawing/2014/main" val="2909645127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609021654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15165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 dirty="0">
                          <a:effectLst/>
                          <a:latin typeface="var(--table-header-font)"/>
                        </a:rPr>
                        <a:t>Оператор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>
                          <a:effectLst/>
                          <a:latin typeface="var(--table-header-font)"/>
                        </a:rPr>
                        <a:t>Приоритет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>
                          <a:effectLst/>
                          <a:latin typeface="var(--table-header-font)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640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ru-RU" dirty="0">
                          <a:effectLst/>
                        </a:rPr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ru-RU" b="1" dirty="0">
                          <a:effectLst/>
                        </a:rPr>
                        <a:t>0</a:t>
                      </a:r>
                      <a:endParaRPr lang="ru-RU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>
                          <a:effectLst/>
                        </a:rPr>
                        <a:t>Нижайший (барьер)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1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ru-RU">
                          <a:effectLst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ru-RU" b="1" dirty="0">
                          <a:effectLst/>
                        </a:rPr>
                        <a:t>-</a:t>
                      </a:r>
                      <a:endParaRPr lang="ru-RU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 dirty="0">
                          <a:effectLst/>
                        </a:rPr>
                        <a:t>Не имеет приоритета, это команда на исполнение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3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ru-RU">
                          <a:effectLst/>
                        </a:rPr>
                        <a:t>+, 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ru-RU" b="1">
                          <a:effectLst/>
                        </a:rPr>
                        <a:t>1</a:t>
                      </a:r>
                      <a:endParaRPr lang="ru-R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 dirty="0">
                          <a:effectLst/>
                        </a:rPr>
                        <a:t>Низкий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69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ru-RU">
                          <a:effectLst/>
                        </a:rPr>
                        <a:t>*, 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ru-RU" b="1">
                          <a:effectLst/>
                        </a:rPr>
                        <a:t>2</a:t>
                      </a:r>
                      <a:endParaRPr lang="ru-R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r>
                        <a:rPr lang="ru-RU" dirty="0">
                          <a:effectLst/>
                        </a:rPr>
                        <a:t>Средний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277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148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Мы читаем </a:t>
            </a:r>
            <a:r>
              <a:rPr lang="ru-RU" dirty="0" err="1"/>
              <a:t>input</a:t>
            </a:r>
            <a:r>
              <a:rPr lang="ru-RU" dirty="0"/>
              <a:t> слева направо, токен за токеном.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Ситуация 1: Токен — Число</a:t>
            </a:r>
          </a:p>
          <a:p>
            <a:pPr marL="0" indent="0">
              <a:buNone/>
            </a:pPr>
            <a:r>
              <a:rPr lang="ru-RU" dirty="0"/>
              <a:t>Действие: Сразу добавляем в </a:t>
            </a:r>
            <a:r>
              <a:rPr lang="ru-RU" dirty="0" err="1"/>
              <a:t>output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Стек: Не трогаем.</a:t>
            </a:r>
          </a:p>
          <a:p>
            <a:pPr marL="0" indent="0">
              <a:buNone/>
            </a:pPr>
            <a:r>
              <a:rPr lang="ru-RU" dirty="0"/>
              <a:t>Логика: Операнды в ОПН сохраняют свой относительный порядок. Если в исходнике 3 шла перед 4, то и в ОПН 3 будет перед 4.</a:t>
            </a:r>
          </a:p>
        </p:txBody>
      </p:sp>
    </p:spTree>
    <p:extLst>
      <p:ext uri="{BB962C8B-B14F-4D97-AF65-F5344CB8AC3E}">
        <p14:creationId xmlns:p14="http://schemas.microsoft.com/office/powerpoint/2010/main" val="1577510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Ситуация 2: Токен — Открывающая скобка (</a:t>
            </a:r>
          </a:p>
          <a:p>
            <a:pPr marL="0" indent="0">
              <a:buNone/>
            </a:pPr>
            <a:r>
              <a:rPr lang="ru-RU" dirty="0"/>
              <a:t>Действие: </a:t>
            </a:r>
            <a:r>
              <a:rPr lang="ru-RU" dirty="0" err="1"/>
              <a:t>stack.Push</a:t>
            </a:r>
            <a:r>
              <a:rPr lang="ru-RU" dirty="0"/>
              <a:t>('(')</a:t>
            </a:r>
          </a:p>
          <a:p>
            <a:pPr marL="0" indent="0">
              <a:buNone/>
            </a:pPr>
            <a:r>
              <a:rPr lang="ru-RU" dirty="0"/>
              <a:t>Логика: Это "начало изоляции". Всё, что произойдет дальше, не должно взаимодействовать с тем, что было до скобки, пока мы её не закроем.</a:t>
            </a:r>
          </a:p>
        </p:txBody>
      </p:sp>
    </p:spTree>
    <p:extLst>
      <p:ext uri="{BB962C8B-B14F-4D97-AF65-F5344CB8AC3E}">
        <p14:creationId xmlns:p14="http://schemas.microsoft.com/office/powerpoint/2010/main" val="2063933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Ситуация 3: Токен — Закрывающая скобка )</a:t>
            </a:r>
          </a:p>
          <a:p>
            <a:pPr marL="0" indent="0">
              <a:buNone/>
            </a:pPr>
            <a:r>
              <a:rPr lang="ru-RU" dirty="0"/>
              <a:t>Действие:</a:t>
            </a:r>
          </a:p>
          <a:p>
            <a:pPr marL="0" indent="0">
              <a:buNone/>
            </a:pPr>
            <a:r>
              <a:rPr lang="ru-RU" dirty="0"/>
              <a:t>Запускаем цикл: </a:t>
            </a:r>
            <a:r>
              <a:rPr lang="ru-RU" dirty="0" err="1"/>
              <a:t>while</a:t>
            </a:r>
            <a:r>
              <a:rPr lang="ru-RU" dirty="0"/>
              <a:t> (</a:t>
            </a:r>
            <a:r>
              <a:rPr lang="ru-RU" dirty="0" err="1"/>
              <a:t>stack.Peek</a:t>
            </a:r>
            <a:r>
              <a:rPr lang="ru-RU" dirty="0"/>
              <a:t>() != '(')</a:t>
            </a:r>
          </a:p>
          <a:p>
            <a:pPr marL="0" indent="0">
              <a:buNone/>
            </a:pPr>
            <a:r>
              <a:rPr lang="ru-RU" dirty="0"/>
              <a:t>Внутри цикла: </a:t>
            </a:r>
            <a:r>
              <a:rPr lang="ru-RU" dirty="0" err="1"/>
              <a:t>output.Add</a:t>
            </a:r>
            <a:r>
              <a:rPr lang="ru-RU" dirty="0"/>
              <a:t>(</a:t>
            </a:r>
            <a:r>
              <a:rPr lang="ru-RU" dirty="0" err="1"/>
              <a:t>stack.Pop</a:t>
            </a:r>
            <a:r>
              <a:rPr lang="ru-RU" dirty="0"/>
              <a:t>()). (Перекладываем операторы из стека в выходную строку).</a:t>
            </a:r>
          </a:p>
          <a:p>
            <a:pPr marL="0" indent="0">
              <a:buNone/>
            </a:pPr>
            <a:r>
              <a:rPr lang="ru-RU" dirty="0"/>
              <a:t>ВАЖНО: Если стек опустел, а ( так и не нашли — Ошибка: Пропущенная скобка.</a:t>
            </a:r>
          </a:p>
          <a:p>
            <a:pPr marL="0" indent="0">
              <a:buNone/>
            </a:pPr>
            <a:r>
              <a:rPr lang="ru-RU" dirty="0"/>
              <a:t>После цикла: </a:t>
            </a:r>
            <a:r>
              <a:rPr lang="ru-RU" dirty="0" err="1"/>
              <a:t>stack.Pop</a:t>
            </a:r>
            <a:r>
              <a:rPr lang="ru-RU" dirty="0"/>
              <a:t>(). Мы удаляем открывающую скобку из стека, но НЕ пишем её в </a:t>
            </a:r>
            <a:r>
              <a:rPr lang="ru-RU" dirty="0" err="1"/>
              <a:t>output</a:t>
            </a:r>
            <a:r>
              <a:rPr lang="ru-RU" dirty="0"/>
              <a:t>. Скобки в ОПН не нужны, они своё отработали.</a:t>
            </a:r>
          </a:p>
        </p:txBody>
      </p:sp>
    </p:spTree>
    <p:extLst>
      <p:ext uri="{BB962C8B-B14F-4D97-AF65-F5344CB8AC3E}">
        <p14:creationId xmlns:p14="http://schemas.microsoft.com/office/powerpoint/2010/main" val="2336983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Ситуация 4: Токен — Оператор (op1)</a:t>
            </a:r>
          </a:p>
          <a:p>
            <a:pPr marL="0" indent="0">
              <a:buNone/>
            </a:pPr>
            <a:r>
              <a:rPr lang="ru-RU" sz="2000" dirty="0"/>
              <a:t>Действие:</a:t>
            </a:r>
          </a:p>
          <a:p>
            <a:pPr marL="0" indent="0">
              <a:buNone/>
            </a:pPr>
            <a:r>
              <a:rPr lang="ru-RU" sz="2000" dirty="0"/>
              <a:t>Смотрим на верхушку стека (op2 = </a:t>
            </a:r>
            <a:r>
              <a:rPr lang="ru-RU" sz="2000" dirty="0" err="1"/>
              <a:t>stack.Peek</a:t>
            </a:r>
            <a:r>
              <a:rPr lang="ru-RU" sz="2000" dirty="0"/>
              <a:t>()).</a:t>
            </a:r>
          </a:p>
          <a:p>
            <a:r>
              <a:rPr lang="ru-RU" sz="2000" dirty="0"/>
              <a:t>Проверяем условие цикла WHILE:</a:t>
            </a:r>
          </a:p>
          <a:p>
            <a:r>
              <a:rPr lang="ru-RU" sz="2000" dirty="0"/>
              <a:t>Стек не пуст.</a:t>
            </a:r>
          </a:p>
          <a:p>
            <a:r>
              <a:rPr lang="ru-RU" sz="2000" dirty="0"/>
              <a:t>На вершине стека НЕ открывающая скобка (.</a:t>
            </a:r>
          </a:p>
          <a:p>
            <a:r>
              <a:rPr lang="ru-RU" sz="2000" dirty="0"/>
              <a:t>Приоритет(op2) &gt;= Приоритет(op1).</a:t>
            </a:r>
          </a:p>
          <a:p>
            <a:pPr marL="0" indent="0">
              <a:buNone/>
            </a:pPr>
            <a:r>
              <a:rPr lang="ru-RU" sz="2000" dirty="0"/>
              <a:t>Внутри цикла: </a:t>
            </a:r>
            <a:r>
              <a:rPr lang="ru-RU" sz="2000" dirty="0" err="1"/>
              <a:t>output.Add</a:t>
            </a:r>
            <a:r>
              <a:rPr lang="ru-RU" sz="2000" dirty="0"/>
              <a:t>(</a:t>
            </a:r>
            <a:r>
              <a:rPr lang="ru-RU" sz="2000" dirty="0" err="1"/>
              <a:t>stack.Pop</a:t>
            </a:r>
            <a:r>
              <a:rPr lang="ru-RU" sz="2000" dirty="0"/>
              <a:t>()). Выкидываем "сильного" оператора из стека в результат.</a:t>
            </a:r>
          </a:p>
          <a:p>
            <a:pPr marL="0" indent="0">
              <a:buNone/>
            </a:pPr>
            <a:r>
              <a:rPr lang="ru-RU" sz="2000" dirty="0"/>
              <a:t>Повторяем проверку (п. 2) для нового оператора на вершине.</a:t>
            </a:r>
          </a:p>
          <a:p>
            <a:pPr marL="0" indent="0">
              <a:buNone/>
            </a:pPr>
            <a:r>
              <a:rPr lang="ru-RU" sz="2000" dirty="0"/>
              <a:t>После цикла: </a:t>
            </a:r>
            <a:r>
              <a:rPr lang="ru-RU" sz="2000" dirty="0" err="1"/>
              <a:t>stack.Push</a:t>
            </a:r>
            <a:r>
              <a:rPr lang="ru-RU" sz="2000" dirty="0"/>
              <a:t>(op1). Текущий оператор занял своё место.</a:t>
            </a:r>
          </a:p>
        </p:txBody>
      </p:sp>
    </p:spTree>
    <p:extLst>
      <p:ext uri="{BB962C8B-B14F-4D97-AF65-F5344CB8AC3E}">
        <p14:creationId xmlns:p14="http://schemas.microsoft.com/office/powerpoint/2010/main" val="894190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/>
              <a:t>Ситуация 5: Входная строка закончилась</a:t>
            </a:r>
          </a:p>
          <a:p>
            <a:pPr marL="0" indent="0">
              <a:buNone/>
            </a:pPr>
            <a:r>
              <a:rPr lang="ru-RU" sz="3200" dirty="0"/>
              <a:t>Действие: </a:t>
            </a:r>
            <a:r>
              <a:rPr lang="ru-RU" sz="3200" dirty="0" err="1"/>
              <a:t>while</a:t>
            </a:r>
            <a:r>
              <a:rPr lang="ru-RU" sz="3200" dirty="0"/>
              <a:t> (</a:t>
            </a:r>
            <a:r>
              <a:rPr lang="ru-RU" sz="3200" dirty="0" err="1"/>
              <a:t>stack.Count</a:t>
            </a:r>
            <a:r>
              <a:rPr lang="ru-RU" sz="3200" dirty="0"/>
              <a:t> &gt; 0) -&gt; </a:t>
            </a:r>
            <a:r>
              <a:rPr lang="ru-RU" sz="3200" dirty="0" err="1"/>
              <a:t>output.Add</a:t>
            </a:r>
            <a:r>
              <a:rPr lang="ru-RU" sz="3200" dirty="0"/>
              <a:t>(</a:t>
            </a:r>
            <a:r>
              <a:rPr lang="ru-RU" sz="3200" dirty="0" err="1"/>
              <a:t>stack.Pop</a:t>
            </a:r>
            <a:r>
              <a:rPr lang="ru-RU" sz="3200" dirty="0"/>
              <a:t>()).</a:t>
            </a:r>
          </a:p>
          <a:p>
            <a:pPr marL="0" indent="0">
              <a:buNone/>
            </a:pPr>
            <a:r>
              <a:rPr lang="ru-RU" sz="3200" dirty="0"/>
              <a:t>Логика: Всё, что залежалось в стеке, вываливаем в конец строки.</a:t>
            </a:r>
          </a:p>
          <a:p>
            <a:pPr marL="0" indent="0">
              <a:buNone/>
            </a:pPr>
            <a:r>
              <a:rPr lang="ru-RU" sz="3200" dirty="0"/>
              <a:t>ВАЖНО: Если в этот момент встретили ( — Ошибка: Непарная скобка.</a:t>
            </a:r>
          </a:p>
        </p:txBody>
      </p:sp>
    </p:spTree>
    <p:extLst>
      <p:ext uri="{BB962C8B-B14F-4D97-AF65-F5344CB8AC3E}">
        <p14:creationId xmlns:p14="http://schemas.microsoft.com/office/powerpoint/2010/main" val="125106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67076-3517-A51B-B21E-C4C97BD6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сортировочной станции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1D90D-41F2-AC6C-D0D6-B0068956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/>
              <a:t>Решаем</a:t>
            </a:r>
          </a:p>
          <a:p>
            <a:pPr marL="0" indent="0">
              <a:buNone/>
            </a:pPr>
            <a:r>
              <a:rPr lang="ru-RU" sz="3200" dirty="0"/>
              <a:t>3+4*2 (ожидаем 3 4 2 * +)</a:t>
            </a:r>
          </a:p>
          <a:p>
            <a:pPr marL="0" indent="0">
              <a:buNone/>
            </a:pPr>
            <a:r>
              <a:rPr lang="ru-RU" sz="3200" dirty="0"/>
              <a:t>И</a:t>
            </a:r>
          </a:p>
          <a:p>
            <a:pPr marL="0" indent="0">
              <a:buNone/>
            </a:pPr>
            <a:r>
              <a:rPr lang="ru-RU" sz="3200" dirty="0"/>
              <a:t>3*4+2 (ожидаем 3 4 * 2 +)</a:t>
            </a:r>
          </a:p>
        </p:txBody>
      </p:sp>
    </p:spTree>
    <p:extLst>
      <p:ext uri="{BB962C8B-B14F-4D97-AF65-F5344CB8AC3E}">
        <p14:creationId xmlns:p14="http://schemas.microsoft.com/office/powerpoint/2010/main" val="2193986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A4595-6DC4-B6E0-E0F8-6F17FFF2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278654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1222</Words>
  <Application>Microsoft Office PowerPoint</Application>
  <PresentationFormat>Широкоэкранный</PresentationFormat>
  <Paragraphs>152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var(--table-header-font)</vt:lpstr>
      <vt:lpstr>Тема Office</vt:lpstr>
      <vt:lpstr>ОПНчик</vt:lpstr>
      <vt:lpstr>зачем мы это вообще делаем</vt:lpstr>
      <vt:lpstr>как считает комп</vt:lpstr>
      <vt:lpstr>Обратная Польская Нотация</vt:lpstr>
      <vt:lpstr>Инфиксная запись</vt:lpstr>
      <vt:lpstr>Префиксная запись</vt:lpstr>
      <vt:lpstr>Постфиксная запись</vt:lpstr>
      <vt:lpstr>А мы что используем?</vt:lpstr>
      <vt:lpstr>Считаем префиксную</vt:lpstr>
      <vt:lpstr>Считаем префиксную</vt:lpstr>
      <vt:lpstr>Считаем постфиксную</vt:lpstr>
      <vt:lpstr>список в стек</vt:lpstr>
      <vt:lpstr>Генерики (&lt;T&gt;)</vt:lpstr>
      <vt:lpstr>вычислитель записи ОПН</vt:lpstr>
      <vt:lpstr>вычислитель записи ОПН</vt:lpstr>
      <vt:lpstr>Алгоритм сортировочной станции</vt:lpstr>
      <vt:lpstr>Алгоритм сортировочной станции</vt:lpstr>
      <vt:lpstr>Алгоритм сортировочной станции</vt:lpstr>
      <vt:lpstr>Алгоритм сортировочной станции</vt:lpstr>
      <vt:lpstr>Алгоритм сортировочной станции</vt:lpstr>
      <vt:lpstr>Алгоритм сортировочной станции</vt:lpstr>
      <vt:lpstr>Алгоритм сортировочной станции</vt:lpstr>
      <vt:lpstr>Алгоритм сортировочной станции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1</cp:revision>
  <dcterms:created xsi:type="dcterms:W3CDTF">2025-11-30T20:46:13Z</dcterms:created>
  <dcterms:modified xsi:type="dcterms:W3CDTF">2025-11-30T21:01:27Z</dcterms:modified>
</cp:coreProperties>
</file>