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6" r:id="rId11"/>
    <p:sldId id="265" r:id="rId12"/>
    <p:sldId id="269" r:id="rId13"/>
    <p:sldId id="270" r:id="rId14"/>
    <p:sldId id="271" r:id="rId15"/>
    <p:sldId id="272" r:id="rId16"/>
    <p:sldId id="278" r:id="rId17"/>
    <p:sldId id="279" r:id="rId18"/>
    <p:sldId id="293" r:id="rId19"/>
    <p:sldId id="273" r:id="rId20"/>
    <p:sldId id="274" r:id="rId21"/>
    <p:sldId id="276" r:id="rId22"/>
    <p:sldId id="277" r:id="rId23"/>
    <p:sldId id="275" r:id="rId24"/>
    <p:sldId id="294" r:id="rId25"/>
    <p:sldId id="267" r:id="rId26"/>
    <p:sldId id="26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1" r:id="rId37"/>
    <p:sldId id="289" r:id="rId38"/>
    <p:sldId id="290" r:id="rId39"/>
    <p:sldId id="292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B16AC-7E5B-CE01-10C4-1808A8B3C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4F0D7A-8C37-0023-9B4D-E080DC176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3536EB-891D-D62C-EE0D-9B841096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9AADDE-5DBB-20EB-45F6-5A30AA2A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700F16-4C4E-2BAD-04B2-C531F3E6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47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20811-00C1-DBD9-F4B4-40DBA77C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0EABBE-3FF9-AF43-1231-47455C4C0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337120-0DF7-A609-1C35-9955B94F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5A510-E446-6707-6DED-4B7AC994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3EF350-117E-CC2C-BAFC-7F672BB4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8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B2198-E1D4-8A0B-5C86-027CF9CF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303B61-2924-74A4-6B9A-8E0E1C1A4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9D302A-FD95-38EA-D86E-74DA6FEA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FF81EF-05C3-9DA3-B070-87AE8DFC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CE008A-0705-E9D2-852C-7CAD9E9C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50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48099-AA48-3F72-796C-62316B0E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4A431C-D868-3D57-FAD1-1B75983DC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E57882-DB54-852B-61E6-0B6E2F1D2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F2C284-BD7D-7710-C61E-76742B66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3F8ECF-F312-94E4-A7A6-1F660441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AC8221-CD5C-BFF9-759A-252E945C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35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A3713-AFF2-1F53-6295-44515BFC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F6C7B-4633-0CEE-0875-1E84485D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D096B7-998B-D3E9-100D-4E520F262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06A2C8-3C87-4B71-E4A5-2D2269D59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1DC3D0-A6D3-3D32-3DAC-7AE6B4FDF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FF75F6F-F418-6492-A359-2007BEEF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C9DA4A-C350-DB02-2C04-8C30482A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D8A196A-E521-DF07-329D-E3211837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18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44216-FA74-CE47-5969-FF2F5991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75B65-86D3-C312-BFAC-AC67E2D5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7AC84E-ABF0-6F7F-DC97-E822F58FE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5CBCBD-9FE4-9F35-E5F7-94B5DBB5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37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5EF80C0-9F90-8AE7-1C7E-D646A4EC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B65323-7B03-86F4-C446-ECFC5779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E83415-C67E-A487-D7B1-BF35201B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76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98DDA-D641-3A5B-8381-A95A0DEC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6F84F4-E9EC-BE55-A611-BE005853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D59E86-EEEC-238F-1836-698D66B7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B29734-29B9-D7F4-BB5B-2818B886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87602B-8587-6C66-A77F-1835E184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B9D615-FF15-6645-4B51-A568452C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41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4B25-94FC-32E9-B09C-CAE46FE8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E933999-D4B4-421E-9234-2397B5651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1ADFA6-48CF-A8EE-2D67-3F8345435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D5668-C37D-944B-372D-F08E30D6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BF4D4-4127-A460-7C50-08ECBBE4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DC677D-C669-33F1-BECE-5EFA9163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60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757AF-F03F-9954-9DE7-9BB4C7D3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BFD585-962A-FA49-08DE-4AAE6EEFC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D46A-0F05-540E-A3E8-F555EC71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7C988-CE56-C2DC-BA7E-021564EE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BC33E8-7F35-38F6-7301-A25FDF7B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51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6E1304-3746-2F4A-E41B-5A42FD406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9A55C6-EAE4-53A5-78B2-58B254190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65786-AB1C-7138-CD34-0D749A84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7BBCAD-C25C-C2C5-1F6B-4D8D3FD7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89D22-43AA-2446-67B2-DCDF886B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1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D6569-76EA-61DE-7C03-73CD1209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F89580-FCDF-03D2-30DC-DB13A10F2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40249C-BBBE-49CE-F226-EF541EAB6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BC3BF-7B2B-4C8C-8CC6-925DF8F0A4E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1AB96-30B1-43A1-6906-42B4B85FF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8FFAE2-42C9-C017-0B10-9D9130AC0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DE4AD-68B8-48FE-A25F-9E6770603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76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24ED1-83C7-FF49-5B28-B9789F09F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Структуры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B49A3C-13E9-BFB9-4F4B-389FDF2DC1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Фоменко Максим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31444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7B9AD-EA51-4377-209C-DF80F730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Структура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8762D-BC0B-C1CA-F718-48AE1F610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Структура данных — программная единица, позволяющая хранить и обрабатывать множество однотипных и/или логически связанных данных в вычислительной технике. Нужны для организации данных в памяти компьютера для их </a:t>
            </a:r>
            <a:r>
              <a:rPr lang="ru-RU" i="1" dirty="0"/>
              <a:t>эффективного</a:t>
            </a:r>
            <a:r>
              <a:rPr lang="ru-RU" dirty="0"/>
              <a:t> использования.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Эффективность определяется:</a:t>
            </a:r>
          </a:p>
          <a:p>
            <a:r>
              <a:rPr lang="ru-RU" dirty="0"/>
              <a:t>Временной сложностью: Как быстро выполняются операции (добавление, поиск, удаление).</a:t>
            </a:r>
          </a:p>
          <a:p>
            <a:r>
              <a:rPr lang="ru-RU" dirty="0"/>
              <a:t>Пространственной сложностью: Сколько памяти структура потребляет.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20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2180D-8210-2B45-3756-6C05B87C1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0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Линейные структуры</a:t>
            </a:r>
            <a:r>
              <a:rPr lang="ru-RU" dirty="0"/>
              <a:t>: Элементы расположены последовательно, один за другим.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Массив (</a:t>
            </a:r>
            <a:r>
              <a:rPr lang="ru-RU" dirty="0" err="1"/>
              <a:t>Array</a:t>
            </a:r>
            <a:r>
              <a:rPr lang="ru-RU" dirty="0"/>
              <a:t>): Статическая, индексированная коллекция.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Список (List): Динамическая, индексированная коллекция.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Стек (</a:t>
            </a:r>
            <a:r>
              <a:rPr lang="ru-RU" dirty="0" err="1"/>
              <a:t>Stack</a:t>
            </a:r>
            <a:r>
              <a:rPr lang="ru-RU" dirty="0"/>
              <a:t>): LIFO (</a:t>
            </a:r>
            <a:r>
              <a:rPr lang="ru-RU" dirty="0" err="1"/>
              <a:t>Last</a:t>
            </a:r>
            <a:r>
              <a:rPr lang="ru-RU" dirty="0"/>
              <a:t>-In, First-Out).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Очередь (</a:t>
            </a:r>
            <a:r>
              <a:rPr lang="ru-RU" dirty="0" err="1"/>
              <a:t>Queue</a:t>
            </a:r>
            <a:r>
              <a:rPr lang="ru-RU" dirty="0"/>
              <a:t>): FIFO (First-In, First-Out).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535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 (стек)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842A61F-695D-5A19-C448-5529E6B930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837462"/>
            <a:ext cx="9525000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70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 (очередь)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7B8ED9A-B32A-0859-416D-70856402F2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913" y="2637183"/>
            <a:ext cx="9450034" cy="278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18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2180D-8210-2B45-3756-6C05B87C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Нелинейные структуры</a:t>
            </a:r>
            <a:r>
              <a:rPr lang="ru-RU" dirty="0"/>
              <a:t>: Элементы имеют более сложные, непоследовательные связи.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Деревья (</a:t>
            </a:r>
            <a:r>
              <a:rPr lang="ru-RU" dirty="0" err="1"/>
              <a:t>Trees</a:t>
            </a:r>
            <a:r>
              <a:rPr lang="ru-RU" dirty="0"/>
              <a:t>): Иерархическая структура.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Графы (</a:t>
            </a:r>
            <a:r>
              <a:rPr lang="ru-RU" dirty="0" err="1"/>
              <a:t>Graphs</a:t>
            </a:r>
            <a:r>
              <a:rPr lang="ru-RU" dirty="0"/>
              <a:t>): Сетевая структура.</a:t>
            </a:r>
          </a:p>
        </p:txBody>
      </p:sp>
    </p:spTree>
    <p:extLst>
      <p:ext uri="{BB962C8B-B14F-4D97-AF65-F5344CB8AC3E}">
        <p14:creationId xmlns:p14="http://schemas.microsoft.com/office/powerpoint/2010/main" val="259369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 (дерево)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6EFB31D-6F46-5FA5-B503-4B618DB015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670" y="1690688"/>
            <a:ext cx="8600660" cy="403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06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 (граф)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388C85C-E804-135C-00CB-49C635CE3F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09" y="1785668"/>
            <a:ext cx="7765774" cy="440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62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2180D-8210-2B45-3756-6C05B87C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Ассоциативные структуры</a:t>
            </a:r>
            <a:r>
              <a:rPr lang="ru-RU" dirty="0"/>
              <a:t>: Хранение данных в виде пар «ключ-значение».</a:t>
            </a:r>
          </a:p>
          <a:p>
            <a:pPr marL="0" indent="0">
              <a:buNone/>
            </a:pPr>
            <a:r>
              <a:rPr lang="ru-RU" dirty="0"/>
              <a:t>Словарь (</a:t>
            </a:r>
            <a:r>
              <a:rPr lang="ru-RU" dirty="0" err="1"/>
              <a:t>Dictionary</a:t>
            </a:r>
            <a:r>
              <a:rPr lang="ru-RU" dirty="0"/>
              <a:t>) / Хэш-таблица (</a:t>
            </a:r>
            <a:r>
              <a:rPr lang="ru-RU" dirty="0" err="1"/>
              <a:t>Hashtable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Множество (</a:t>
            </a:r>
            <a:r>
              <a:rPr lang="ru-RU" dirty="0" err="1"/>
              <a:t>Set</a:t>
            </a:r>
            <a:r>
              <a:rPr lang="ru-RU" dirty="0"/>
              <a:t>) - структура данных, которая представляет собой набор уникальных и неупорядоченных элементов. Каждый элемент является уникальным, порядка нет.</a:t>
            </a:r>
          </a:p>
          <a:p>
            <a:pPr marL="0" indent="0">
              <a:buNone/>
            </a:pPr>
            <a:r>
              <a:rPr lang="ru-RU" b="1" dirty="0"/>
              <a:t>Хэширование</a:t>
            </a:r>
            <a:r>
              <a:rPr lang="ru-RU" dirty="0"/>
              <a:t> (хеширование) широко применяется в программировании для создания </a:t>
            </a:r>
            <a:r>
              <a:rPr lang="ru-RU" b="1" dirty="0"/>
              <a:t>уникальных идентификаторов</a:t>
            </a:r>
            <a:r>
              <a:rPr lang="ru-RU" dirty="0"/>
              <a:t>, сравнения данных и обеспечения целостности информации. Для этого используются специальные алгоритмы — хеш-функции.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1259850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64B9EE9-44FE-B3EF-9A82-F9C735CE9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384452" cy="158259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961AB1-672A-29E1-D724-823037B305B5}"/>
              </a:ext>
            </a:extLst>
          </p:cNvPr>
          <p:cNvSpPr txBox="1"/>
          <p:nvPr/>
        </p:nvSpPr>
        <p:spPr>
          <a:xfrm>
            <a:off x="1311965" y="4366593"/>
            <a:ext cx="907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0" dirty="0">
                <a:effectLst/>
                <a:latin typeface="YS Text"/>
              </a:rPr>
              <a:t>индекс = хэш(ключ) % размер массива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763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Структур Данных</a:t>
            </a:r>
          </a:p>
        </p:txBody>
      </p:sp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1065F817-18FA-DFB7-1886-D0C01DAA99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8070"/>
            <a:ext cx="10528600" cy="364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71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Сказать «этот алгоритм быстрый, а этот медленный» как сказать «эта машина </a:t>
            </a:r>
            <a:r>
              <a:rPr lang="ru-RU" dirty="0">
                <a:solidFill>
                  <a:srgbClr val="FF0000"/>
                </a:solidFill>
              </a:rPr>
              <a:t>красная</a:t>
            </a:r>
            <a:r>
              <a:rPr lang="ru-RU" dirty="0"/>
              <a:t>» - не информативно. Нам нужен инструмент, который измеряет не секунды </a:t>
            </a:r>
            <a:r>
              <a:rPr lang="ru-RU" i="1" dirty="0"/>
              <a:t>(они все таки зависят от процессора, а он у всех свой)</a:t>
            </a:r>
            <a:r>
              <a:rPr lang="ru-RU" dirty="0"/>
              <a:t>, а </a:t>
            </a:r>
            <a:r>
              <a:rPr lang="ru-RU" b="1" dirty="0"/>
              <a:t>масштабируемость</a:t>
            </a:r>
            <a:r>
              <a:rPr lang="ru-RU" dirty="0"/>
              <a:t> алгоритма.</a:t>
            </a:r>
          </a:p>
        </p:txBody>
      </p:sp>
    </p:spTree>
    <p:extLst>
      <p:ext uri="{BB962C8B-B14F-4D97-AF65-F5344CB8AC3E}">
        <p14:creationId xmlns:p14="http://schemas.microsoft.com/office/powerpoint/2010/main" val="324305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«О» большое (Big O </a:t>
            </a:r>
            <a:r>
              <a:rPr lang="ru-RU" b="1" dirty="0" err="1"/>
              <a:t>Notation</a:t>
            </a:r>
            <a:r>
              <a:rPr lang="ru-RU" b="1" dirty="0"/>
              <a:t>):</a:t>
            </a:r>
          </a:p>
          <a:p>
            <a:pPr marL="0" indent="0">
              <a:buNone/>
            </a:pPr>
            <a:r>
              <a:rPr lang="ru-RU" dirty="0"/>
              <a:t>О нотация описывает, насколько сильно замедлится алгоритм, если увеличить количество входных данных (N) в </a:t>
            </a:r>
            <a:r>
              <a:rPr lang="en-US" dirty="0"/>
              <a:t>X</a:t>
            </a:r>
            <a:r>
              <a:rPr lang="ru-RU" dirty="0"/>
              <a:t> раз. </a:t>
            </a:r>
          </a:p>
          <a:p>
            <a:pPr marL="0" indent="0">
              <a:buNone/>
            </a:pPr>
            <a:r>
              <a:rPr lang="ru-RU" b="1" dirty="0"/>
              <a:t>Она описывает НАИХУДШИЙ сценарий.</a:t>
            </a:r>
          </a:p>
          <a:p>
            <a:pPr marL="0" indent="0">
              <a:buNone/>
            </a:pPr>
            <a:r>
              <a:rPr lang="ru-RU" i="1" dirty="0"/>
              <a:t>(Наихудший сценарий – когда выполняются все потенциальные операции)</a:t>
            </a:r>
          </a:p>
        </p:txBody>
      </p:sp>
    </p:spTree>
    <p:extLst>
      <p:ext uri="{BB962C8B-B14F-4D97-AF65-F5344CB8AC3E}">
        <p14:creationId xmlns:p14="http://schemas.microsoft.com/office/powerpoint/2010/main" val="1687158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O(1) Константная сложность </a:t>
            </a:r>
          </a:p>
          <a:p>
            <a:r>
              <a:rPr lang="ru-RU" dirty="0"/>
              <a:t>Кол-во операций НЕ ЗАВИСИТ от размера входных данных. 10 элементов или 10 миллиардов -- скорость одна и та же.</a:t>
            </a:r>
          </a:p>
          <a:p>
            <a:r>
              <a:rPr lang="ru-RU" dirty="0"/>
              <a:t>Взять книгу с полки по известному номеру. Не важно, сколько всего книг в библиотеке.</a:t>
            </a:r>
          </a:p>
          <a:p>
            <a:r>
              <a:rPr lang="ru-RU" dirty="0"/>
              <a:t>Пример: </a:t>
            </a:r>
            <a:r>
              <a:rPr lang="ru-RU" dirty="0" err="1"/>
              <a:t>array</a:t>
            </a:r>
            <a:r>
              <a:rPr lang="ru-RU" dirty="0"/>
              <a:t>[5], </a:t>
            </a:r>
            <a:r>
              <a:rPr lang="ru-RU" dirty="0" err="1"/>
              <a:t>dictionary</a:t>
            </a:r>
            <a:r>
              <a:rPr lang="ru-RU" dirty="0"/>
              <a:t>["ключ"], </a:t>
            </a:r>
            <a:r>
              <a:rPr lang="ru-RU" dirty="0" err="1"/>
              <a:t>stack.Push</a:t>
            </a:r>
            <a:r>
              <a:rPr lang="ru-RU" dirty="0"/>
              <a:t>().</a:t>
            </a:r>
          </a:p>
          <a:p>
            <a:pPr marL="0" indent="0">
              <a:buNone/>
            </a:pPr>
            <a:r>
              <a:rPr lang="ru-RU" b="1" dirty="0"/>
              <a:t>O(</a:t>
            </a:r>
            <a:r>
              <a:rPr lang="ru-RU" b="1" dirty="0" err="1"/>
              <a:t>log</a:t>
            </a:r>
            <a:r>
              <a:rPr lang="ru-RU" b="1" dirty="0"/>
              <a:t> n) Логарифмическая сложность</a:t>
            </a:r>
          </a:p>
          <a:p>
            <a:r>
              <a:rPr lang="ru-RU" dirty="0"/>
              <a:t>Кол-во операций растёт очень медленно. Увеличил данные в 1000 раз — время увеличилось на 10 «шагов» (2</a:t>
            </a:r>
            <a:r>
              <a:rPr lang="en-US" dirty="0"/>
              <a:t>^10 = 1024</a:t>
            </a:r>
            <a:r>
              <a:rPr lang="ru-RU" dirty="0"/>
              <a:t>).</a:t>
            </a:r>
          </a:p>
          <a:p>
            <a:r>
              <a:rPr lang="ru-RU" dirty="0"/>
              <a:t>Поиск слова в бумажном словаре. Открываем середину и отбрасываешь половину книги. С каждым шагом мы уменьшаем область поиска вдвое.</a:t>
            </a:r>
          </a:p>
          <a:p>
            <a:r>
              <a:rPr lang="ru-RU" dirty="0"/>
              <a:t>Пример: Бинарный поиск в отсортированном массиве.</a:t>
            </a:r>
          </a:p>
        </p:txBody>
      </p:sp>
    </p:spTree>
    <p:extLst>
      <p:ext uri="{BB962C8B-B14F-4D97-AF65-F5344CB8AC3E}">
        <p14:creationId xmlns:p14="http://schemas.microsoft.com/office/powerpoint/2010/main" val="244147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B5DBC2D2-A79A-0115-D3F3-49780009C9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817" y="1573938"/>
            <a:ext cx="8335618" cy="486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467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O(n </a:t>
            </a:r>
            <a:r>
              <a:rPr lang="ru-RU" b="1" dirty="0" err="1"/>
              <a:t>log</a:t>
            </a:r>
            <a:r>
              <a:rPr lang="ru-RU" b="1" dirty="0"/>
              <a:t> n) </a:t>
            </a:r>
            <a:r>
              <a:rPr lang="ru-RU" b="1" dirty="0" err="1"/>
              <a:t>Линеаритмическая</a:t>
            </a:r>
            <a:r>
              <a:rPr lang="ru-RU" b="1" dirty="0"/>
              <a:t> сложность</a:t>
            </a:r>
          </a:p>
          <a:p>
            <a:pPr marL="0" indent="0">
              <a:buNone/>
            </a:pPr>
            <a:r>
              <a:rPr lang="ru-RU" dirty="0"/>
              <a:t>«Золотой стандарт» для большинства задач, которые нельзя решить за один проход (O(n)). Это сложность эффективных алгоритмов сортировки (</a:t>
            </a:r>
            <a:r>
              <a:rPr lang="ru-RU" dirty="0" err="1"/>
              <a:t>QuickSort</a:t>
            </a:r>
            <a:r>
              <a:rPr lang="ru-RU" dirty="0"/>
              <a:t>, </a:t>
            </a:r>
            <a:r>
              <a:rPr lang="ru-RU" dirty="0" err="1"/>
              <a:t>MergeSort</a:t>
            </a:r>
            <a:r>
              <a:rPr lang="ru-RU" dirty="0"/>
              <a:t>, </a:t>
            </a:r>
            <a:r>
              <a:rPr lang="ru-RU" dirty="0" err="1"/>
              <a:t>HeapSort</a:t>
            </a:r>
            <a:r>
              <a:rPr lang="ru-RU" dirty="0"/>
              <a:t>) и многих других задач типа «разделяй и властвуй».</a:t>
            </a:r>
          </a:p>
        </p:txBody>
      </p:sp>
    </p:spTree>
    <p:extLst>
      <p:ext uri="{BB962C8B-B14F-4D97-AF65-F5344CB8AC3E}">
        <p14:creationId xmlns:p14="http://schemas.microsoft.com/office/powerpoint/2010/main" val="3594601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</a:t>
            </a:r>
            <a:r>
              <a:rPr lang="ru-RU" dirty="0" err="1"/>
              <a:t>линеаритмич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722"/>
            <a:ext cx="10515600" cy="53141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Аналогия: </a:t>
            </a:r>
            <a:r>
              <a:rPr lang="ru-RU" b="1" dirty="0"/>
              <a:t>Идеальная сортировка бумаг.</a:t>
            </a:r>
          </a:p>
          <a:p>
            <a:pPr marL="0" indent="0">
              <a:buNone/>
            </a:pPr>
            <a:r>
              <a:rPr lang="ru-RU" dirty="0"/>
              <a:t>Есть гора из </a:t>
            </a:r>
            <a:r>
              <a:rPr lang="ru-RU" b="1" dirty="0"/>
              <a:t>n</a:t>
            </a:r>
            <a:r>
              <a:rPr lang="ru-RU" dirty="0"/>
              <a:t> бумажных листов, которые надо отсортировать по алфавиту.</a:t>
            </a:r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ru-RU" b="1" dirty="0"/>
              <a:t>O(n²)</a:t>
            </a:r>
            <a:r>
              <a:rPr lang="ru-RU" dirty="0"/>
              <a:t> (Пузырёк): Каждый лист сравнивается с последующим. И так со всеми листами.</a:t>
            </a:r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ru-RU" b="1" dirty="0"/>
              <a:t>O(n </a:t>
            </a:r>
            <a:r>
              <a:rPr lang="ru-RU" b="1" dirty="0" err="1"/>
              <a:t>log</a:t>
            </a:r>
            <a:r>
              <a:rPr lang="ru-RU" b="1" dirty="0"/>
              <a:t> n)</a:t>
            </a:r>
            <a:r>
              <a:rPr lang="ru-RU" dirty="0"/>
              <a:t> (Быстрая сортировка):</a:t>
            </a:r>
          </a:p>
          <a:p>
            <a:pPr marL="0" indent="0">
              <a:buNone/>
            </a:pPr>
            <a:r>
              <a:rPr lang="ru-RU" dirty="0"/>
              <a:t>Разделяй </a:t>
            </a:r>
            <a:r>
              <a:rPr lang="ru-RU" b="1" dirty="0"/>
              <a:t>(</a:t>
            </a:r>
            <a:r>
              <a:rPr lang="ru-RU" b="1" dirty="0" err="1"/>
              <a:t>log</a:t>
            </a:r>
            <a:r>
              <a:rPr lang="ru-RU" b="1" dirty="0"/>
              <a:t> n часть)</a:t>
            </a:r>
            <a:r>
              <a:rPr lang="ru-RU" dirty="0"/>
              <a:t>: Берется один случайный (чаще из середины) лист (опорный элемент) и стопка </a:t>
            </a:r>
            <a:r>
              <a:rPr lang="ru-RU" dirty="0" err="1"/>
              <a:t>расскладывается</a:t>
            </a:r>
            <a:r>
              <a:rPr lang="ru-RU" dirty="0"/>
              <a:t> на две кучи: слева — все листы, которые по алфавиту раньше него, справа — все, что позже. С левой и правой кучами проделывается то же самое. Продолжаем делить кучи пополам, пока не останется стопка из одного листа (стопка из одного листа по определению уже отсортирована). Количество таких делений и есть </a:t>
            </a:r>
            <a:r>
              <a:rPr lang="ru-RU" b="1" dirty="0" err="1"/>
              <a:t>log</a:t>
            </a:r>
            <a:r>
              <a:rPr lang="ru-RU" b="1" dirty="0"/>
              <a:t> n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Властвуй </a:t>
            </a:r>
            <a:r>
              <a:rPr lang="ru-RU" b="1" dirty="0"/>
              <a:t>(n часть)</a:t>
            </a:r>
            <a:r>
              <a:rPr lang="ru-RU" dirty="0"/>
              <a:t>: На каждом уровне этого деления нам нужно один раз пройтись по всем </a:t>
            </a:r>
            <a:r>
              <a:rPr lang="ru-RU" b="1" dirty="0"/>
              <a:t>n</a:t>
            </a:r>
            <a:r>
              <a:rPr lang="ru-RU" dirty="0"/>
              <a:t> листам, чтобы раскидать их по двум кучам.</a:t>
            </a:r>
          </a:p>
          <a:p>
            <a:pPr marL="0" indent="0">
              <a:buNone/>
            </a:pPr>
            <a:r>
              <a:rPr lang="ru-RU" dirty="0"/>
              <a:t>Итого: Мы делаем </a:t>
            </a:r>
            <a:r>
              <a:rPr lang="ru-RU" b="1" dirty="0" err="1"/>
              <a:t>log</a:t>
            </a:r>
            <a:r>
              <a:rPr lang="ru-RU" b="1" dirty="0"/>
              <a:t> n</a:t>
            </a:r>
            <a:r>
              <a:rPr lang="ru-RU" dirty="0"/>
              <a:t> «проходов» (уровней деления), и на каждом проходе мы обрабатываем </a:t>
            </a:r>
            <a:r>
              <a:rPr lang="ru-RU" b="1" dirty="0"/>
              <a:t>n</a:t>
            </a:r>
            <a:r>
              <a:rPr lang="ru-RU" dirty="0"/>
              <a:t> элементов. Получается </a:t>
            </a:r>
            <a:r>
              <a:rPr lang="ru-RU" b="1" dirty="0"/>
              <a:t>n * </a:t>
            </a:r>
            <a:r>
              <a:rPr lang="ru-RU" b="1" dirty="0" err="1"/>
              <a:t>log</a:t>
            </a:r>
            <a:r>
              <a:rPr lang="ru-RU" b="1" dirty="0"/>
              <a:t> n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4674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</a:t>
            </a:r>
            <a:r>
              <a:rPr lang="ru-RU" dirty="0" err="1"/>
              <a:t>линеаритмич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121415B-B6BE-CBC6-2B38-A37DECEC9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989"/>
              </p:ext>
            </p:extLst>
          </p:nvPr>
        </p:nvGraphicFramePr>
        <p:xfrm>
          <a:off x="838200" y="2892584"/>
          <a:ext cx="10515600" cy="22174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899437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4215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58338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6979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Inter"/>
                        </a:rPr>
                        <a:t>N (</a:t>
                      </a:r>
                      <a:r>
                        <a:rPr lang="ru-RU" b="1" dirty="0">
                          <a:effectLst/>
                          <a:latin typeface="Inter"/>
                        </a:rPr>
                        <a:t>элементов)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DM Mono" panose="020B0509040201040103" pitchFamily="49" charset="0"/>
                        </a:rPr>
                        <a:t>n²</a:t>
                      </a:r>
                      <a:r>
                        <a:rPr lang="en-US" b="1">
                          <a:effectLst/>
                          <a:latin typeface="Inter"/>
                        </a:rPr>
                        <a:t> (</a:t>
                      </a:r>
                      <a:r>
                        <a:rPr lang="ru-RU" b="1">
                          <a:effectLst/>
                          <a:latin typeface="Inter"/>
                        </a:rPr>
                        <a:t>Пузырёк)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DM Mono" panose="020B0509040201040103" pitchFamily="49" charset="0"/>
                        </a:rPr>
                        <a:t>n * log n</a:t>
                      </a:r>
                      <a:r>
                        <a:rPr lang="ru-RU" b="1">
                          <a:effectLst/>
                          <a:latin typeface="Inter"/>
                        </a:rPr>
                        <a:t> (Быстрая сортировка)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Inter"/>
                        </a:rPr>
                        <a:t>Во сколько раз быстрее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6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~33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~3 раза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72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10 000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~664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~15 раз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41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1 000 000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~9 965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~100 раз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1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1 000 000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1 000 000 000 000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Inter"/>
                        </a:rPr>
                        <a:t>~19 931 568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Inter"/>
                        </a:rPr>
                        <a:t>~50 000 раз</a:t>
                      </a:r>
                      <a:endParaRPr lang="ru-RU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56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005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O(n) Линейная сложность</a:t>
            </a:r>
          </a:p>
          <a:p>
            <a:r>
              <a:rPr lang="ru-RU" dirty="0"/>
              <a:t>Кол-во операций растёт прямо пропорционально количеству данных. Увеличили данные в 1000 раз — алгоритм стал выполнять в 1000 раз больше операций.</a:t>
            </a:r>
          </a:p>
          <a:p>
            <a:r>
              <a:rPr lang="ru-RU" dirty="0"/>
              <a:t> Найти конкретного человека в очереди, спрашивая каждого по имени с самого начала.</a:t>
            </a:r>
          </a:p>
          <a:p>
            <a:r>
              <a:rPr lang="ru-RU" dirty="0"/>
              <a:t>Пример: </a:t>
            </a:r>
            <a:r>
              <a:rPr lang="ru-RU" dirty="0" err="1"/>
              <a:t>list.Contains</a:t>
            </a:r>
            <a:r>
              <a:rPr lang="ru-RU" dirty="0"/>
              <a:t>(), поиск в неотсортированном массиве, простой цикл </a:t>
            </a:r>
            <a:r>
              <a:rPr lang="ru-RU" dirty="0" err="1"/>
              <a:t>for</a:t>
            </a:r>
            <a:r>
              <a:rPr lang="ru-RU" dirty="0"/>
              <a:t> по коллекции.</a:t>
            </a:r>
          </a:p>
        </p:txBody>
      </p:sp>
    </p:spTree>
    <p:extLst>
      <p:ext uri="{BB962C8B-B14F-4D97-AF65-F5344CB8AC3E}">
        <p14:creationId xmlns:p14="http://schemas.microsoft.com/office/powerpoint/2010/main" val="660831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O(n²) Квадратичная сложность</a:t>
            </a:r>
          </a:p>
          <a:p>
            <a:r>
              <a:rPr lang="ru-RU" dirty="0"/>
              <a:t>Кол-во операций растёт катастрофически. Увеличили данные в 1_000 раз — кол-во работы увеличилось в 1_000_000 раз.</a:t>
            </a:r>
          </a:p>
          <a:p>
            <a:r>
              <a:rPr lang="ru-RU" dirty="0"/>
              <a:t>Рукопожатия на встрече. Каждый должен пожать руку каждому. Цикл в цикле.</a:t>
            </a:r>
          </a:p>
          <a:p>
            <a:r>
              <a:rPr lang="ru-RU" dirty="0"/>
              <a:t>Пример: Тупые алгоритмы сортировки (пузырёк, вставками), вложенный цикл </a:t>
            </a:r>
            <a:r>
              <a:rPr lang="ru-RU" dirty="0" err="1"/>
              <a:t>for</a:t>
            </a:r>
            <a:r>
              <a:rPr lang="ru-RU" dirty="0"/>
              <a:t> по одной и той же коллекции.</a:t>
            </a:r>
          </a:p>
          <a:p>
            <a:pPr marL="0" indent="0">
              <a:buNone/>
            </a:pPr>
            <a:r>
              <a:rPr lang="ru-RU" b="1" dirty="0"/>
              <a:t>O(2ⁿ)Экспоненциальная сложность</a:t>
            </a:r>
          </a:p>
          <a:p>
            <a:pPr marL="0" indent="0">
              <a:buNone/>
            </a:pPr>
            <a:r>
              <a:rPr lang="ru-RU" dirty="0"/>
              <a:t>Кол-во операций растёт так быстро, что задача становится нерешаемой уже на небольших n.</a:t>
            </a:r>
          </a:p>
          <a:p>
            <a:pPr marL="0" indent="0">
              <a:buNone/>
            </a:pPr>
            <a:r>
              <a:rPr lang="ru-RU" dirty="0"/>
              <a:t>Подбор пароля полным перебором. Каждая новая буква умножает время на количество символов в алфавите.</a:t>
            </a:r>
          </a:p>
          <a:p>
            <a:pPr marL="0" indent="0">
              <a:buNone/>
            </a:pPr>
            <a:r>
              <a:rPr lang="ru-RU" dirty="0"/>
              <a:t>Пример: Рекурсивный расчёт чисел Фибоначчи "в лоб", задача коммивояжёра.</a:t>
            </a:r>
          </a:p>
        </p:txBody>
      </p:sp>
    </p:spTree>
    <p:extLst>
      <p:ext uri="{BB962C8B-B14F-4D97-AF65-F5344CB8AC3E}">
        <p14:creationId xmlns:p14="http://schemas.microsoft.com/office/powerpoint/2010/main" val="857753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(рекурсия)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0A3138E-AFA7-935E-18D3-70D3D7ED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Числа Фибоначчи </a:t>
            </a:r>
            <a:r>
              <a:rPr lang="ru-RU" dirty="0"/>
              <a:t>— последовательность чисел, где каждое следующее число равно сумме двух предыдущих. В классическом варианте последовательность начинается с 0 и 1.</a:t>
            </a:r>
          </a:p>
          <a:p>
            <a:pPr marL="0" indent="0">
              <a:buNone/>
            </a:pPr>
            <a:r>
              <a:rPr lang="ru-RU" dirty="0"/>
              <a:t>Пример: 0, 1, 1, 2, 3, 5, 8, 13, 21, 34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Самый прямой и очевидный способ посчитать N-</a:t>
            </a:r>
            <a:r>
              <a:rPr lang="ru-RU" dirty="0" err="1"/>
              <a:t>ное</a:t>
            </a:r>
            <a:r>
              <a:rPr lang="ru-RU" dirty="0"/>
              <a:t> число Фибоначчи (F(n) = F(n-1) + F(n-2)).</a:t>
            </a:r>
          </a:p>
        </p:txBody>
      </p:sp>
    </p:spTree>
    <p:extLst>
      <p:ext uri="{BB962C8B-B14F-4D97-AF65-F5344CB8AC3E}">
        <p14:creationId xmlns:p14="http://schemas.microsoft.com/office/powerpoint/2010/main" val="3283561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(рекурсия)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01C04EC-05D2-C3CE-E809-90DE07D11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441" y="1573012"/>
            <a:ext cx="8545118" cy="337232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32B72-7F1A-1FB1-AEDC-DBA81805E252}"/>
              </a:ext>
            </a:extLst>
          </p:cNvPr>
          <p:cNvSpPr txBox="1"/>
          <p:nvPr/>
        </p:nvSpPr>
        <p:spPr>
          <a:xfrm>
            <a:off x="940904" y="4945333"/>
            <a:ext cx="10412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latin typeface="Aptos Display" panose="020B0004020202020204" pitchFamily="34" charset="0"/>
              </a:rPr>
              <a:t>Fib</a:t>
            </a:r>
            <a:r>
              <a:rPr lang="ru-RU" sz="2800" dirty="0">
                <a:latin typeface="Aptos Display" panose="020B0004020202020204" pitchFamily="34" charset="0"/>
              </a:rPr>
              <a:t>(4) мы посчитали 2 раза. </a:t>
            </a:r>
            <a:r>
              <a:rPr lang="ru-RU" sz="2800" dirty="0" err="1">
                <a:latin typeface="Aptos Display" panose="020B0004020202020204" pitchFamily="34" charset="0"/>
              </a:rPr>
              <a:t>Fib</a:t>
            </a:r>
            <a:r>
              <a:rPr lang="ru-RU" sz="2800" dirty="0">
                <a:latin typeface="Aptos Display" panose="020B0004020202020204" pitchFamily="34" charset="0"/>
              </a:rPr>
              <a:t>(3) мы посчитали 3 раза. </a:t>
            </a:r>
            <a:r>
              <a:rPr lang="ru-RU" sz="2800" dirty="0" err="1">
                <a:latin typeface="Aptos Display" panose="020B0004020202020204" pitchFamily="34" charset="0"/>
              </a:rPr>
              <a:t>Fib</a:t>
            </a:r>
            <a:r>
              <a:rPr lang="ru-RU" sz="2800" dirty="0">
                <a:latin typeface="Aptos Display" panose="020B0004020202020204" pitchFamily="34" charset="0"/>
              </a:rPr>
              <a:t>(2) мы посчитали 5 раз.</a:t>
            </a:r>
          </a:p>
        </p:txBody>
      </p:sp>
    </p:spTree>
    <p:extLst>
      <p:ext uri="{BB962C8B-B14F-4D97-AF65-F5344CB8AC3E}">
        <p14:creationId xmlns:p14="http://schemas.microsoft.com/office/powerpoint/2010/main" val="417447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ВИЗУАЛИЗАЦИЯ В ДЕЗМОСЕ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dirty="0"/>
              <a:t>https://www.desmos.com/calculator/xmtzsymmia?lang=ru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128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79570-96C9-8EB8-86A7-B307EA3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Алгоритмов (О-нотация)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F97A1-CD89-EBAF-A538-B2E27021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 забудьте посмотреть в коде (</a:t>
            </a:r>
            <a:r>
              <a:rPr lang="en-US" b="1" dirty="0" err="1"/>
              <a:t>lectionSample</a:t>
            </a:r>
            <a:r>
              <a:rPr lang="en-US" b="1" dirty="0"/>
              <a:t> </a:t>
            </a:r>
            <a:r>
              <a:rPr lang="ru-RU" b="1" dirty="0"/>
              <a:t>и </a:t>
            </a:r>
            <a:r>
              <a:rPr lang="en-US" b="1" dirty="0" err="1"/>
              <a:t>lectionSample</a:t>
            </a:r>
            <a:r>
              <a:rPr lang="ru-RU" b="1" dirty="0"/>
              <a:t>2</a:t>
            </a:r>
            <a:r>
              <a:rPr lang="en-US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6594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(</a:t>
            </a:r>
            <a:r>
              <a:rPr lang="en-US" dirty="0" err="1"/>
              <a:t>System.Array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Массив – индексированная коллекция элементов </a:t>
            </a:r>
            <a:r>
              <a:rPr lang="ru-RU" b="1" dirty="0"/>
              <a:t>одного типа</a:t>
            </a:r>
            <a:r>
              <a:rPr lang="ru-RU" dirty="0"/>
              <a:t>, расположенных в </a:t>
            </a:r>
            <a:r>
              <a:rPr lang="ru-RU" b="1" dirty="0"/>
              <a:t>непрерывной</a:t>
            </a:r>
            <a:r>
              <a:rPr lang="ru-RU" dirty="0"/>
              <a:t> области памяти.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Характеристики:</a:t>
            </a:r>
          </a:p>
          <a:p>
            <a:r>
              <a:rPr lang="ru-RU" dirty="0"/>
              <a:t>Тип: Ссылочный (объект в Куче, ссылка на Стеке)</a:t>
            </a:r>
          </a:p>
          <a:p>
            <a:r>
              <a:rPr lang="ru-RU" dirty="0"/>
              <a:t>Размер: Фиксированный, задаётся при создании</a:t>
            </a:r>
          </a:p>
          <a:p>
            <a:r>
              <a:rPr lang="ru-RU" dirty="0"/>
              <a:t>Доступ: Прямой (</a:t>
            </a:r>
            <a:r>
              <a:rPr lang="ru-RU" dirty="0" err="1"/>
              <a:t>Random</a:t>
            </a:r>
            <a:r>
              <a:rPr lang="ru-RU" dirty="0"/>
              <a:t> Access) по целочисленному индексу</a:t>
            </a:r>
          </a:p>
        </p:txBody>
      </p:sp>
    </p:spTree>
    <p:extLst>
      <p:ext uri="{BB962C8B-B14F-4D97-AF65-F5344CB8AC3E}">
        <p14:creationId xmlns:p14="http://schemas.microsoft.com/office/powerpoint/2010/main" val="2831817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(</a:t>
            </a:r>
            <a:r>
              <a:rPr lang="en-US" dirty="0" err="1"/>
              <a:t>System.Array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Массив – индексированная коллекция элементов </a:t>
            </a:r>
            <a:r>
              <a:rPr lang="ru-RU" b="1" dirty="0"/>
              <a:t>одного типа</a:t>
            </a:r>
            <a:r>
              <a:rPr lang="ru-RU" dirty="0"/>
              <a:t>, расположенных в </a:t>
            </a:r>
            <a:r>
              <a:rPr lang="ru-RU" b="1" dirty="0"/>
              <a:t>непрерывной</a:t>
            </a:r>
            <a:r>
              <a:rPr lang="ru-RU" dirty="0"/>
              <a:t> области памяти.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Временная сложность операций:</a:t>
            </a:r>
          </a:p>
          <a:p>
            <a:r>
              <a:rPr lang="ru-RU" dirty="0"/>
              <a:t>Доступ по индексу </a:t>
            </a:r>
            <a:r>
              <a:rPr lang="ru-RU" dirty="0" err="1"/>
              <a:t>array</a:t>
            </a:r>
            <a:r>
              <a:rPr lang="ru-RU" dirty="0"/>
              <a:t>[i]: O(1) — константная, очень быстрая.</a:t>
            </a:r>
          </a:p>
          <a:p>
            <a:r>
              <a:rPr lang="ru-RU" dirty="0"/>
              <a:t>Поиск элемента: O(n) — линейная, медленная (в худшем случае).</a:t>
            </a:r>
          </a:p>
          <a:p>
            <a:r>
              <a:rPr lang="ru-RU" dirty="0"/>
              <a:t>Вставка/Удаление: O(n) — линейная, очень медленная (требует сдвига элементов).</a:t>
            </a:r>
          </a:p>
        </p:txBody>
      </p:sp>
    </p:spTree>
    <p:extLst>
      <p:ext uri="{BB962C8B-B14F-4D97-AF65-F5344CB8AC3E}">
        <p14:creationId xmlns:p14="http://schemas.microsoft.com/office/powerpoint/2010/main" val="4095403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(</a:t>
            </a:r>
            <a:r>
              <a:rPr lang="en-US" dirty="0" err="1"/>
              <a:t>System.Collections.Generic.List</a:t>
            </a:r>
            <a:r>
              <a:rPr lang="en-US" dirty="0"/>
              <a:t>&lt;T&gt;)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Список - динамически изменяемая, строго типизированная, индексированная коллекция объектов. Представляет собой массив, который может «расти» и «сжиматься». </a:t>
            </a:r>
          </a:p>
          <a:p>
            <a:pPr marL="0" indent="0">
              <a:buNone/>
            </a:pPr>
            <a:r>
              <a:rPr lang="ru-RU" dirty="0"/>
              <a:t>Основан на внутреннем массиве (T[]).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i="1" dirty="0"/>
              <a:t>Внимание!!! Это про список в </a:t>
            </a:r>
            <a:r>
              <a:rPr lang="en-US" i="1" dirty="0"/>
              <a:t>C#. </a:t>
            </a:r>
            <a:r>
              <a:rPr lang="ru-RU" i="1" dirty="0"/>
              <a:t>В интернете вы можете наткнуться на определение связного списка – это другое.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9187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(</a:t>
            </a:r>
            <a:r>
              <a:rPr lang="en-US" dirty="0" err="1"/>
              <a:t>System.Collections.Generic.List</a:t>
            </a:r>
            <a:r>
              <a:rPr lang="en-US" dirty="0"/>
              <a:t>&lt;T&gt;)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Временная сложность операций:</a:t>
            </a:r>
          </a:p>
          <a:p>
            <a:r>
              <a:rPr lang="ru-RU" dirty="0"/>
              <a:t>Доступ по индексу </a:t>
            </a:r>
            <a:r>
              <a:rPr lang="ru-RU" dirty="0" err="1"/>
              <a:t>list</a:t>
            </a:r>
            <a:r>
              <a:rPr lang="ru-RU" dirty="0"/>
              <a:t>[i]: O(1) — константная (т.к. под капотом массив).</a:t>
            </a:r>
          </a:p>
          <a:p>
            <a:r>
              <a:rPr lang="ru-RU" dirty="0"/>
              <a:t>Добавление в конец </a:t>
            </a:r>
            <a:r>
              <a:rPr lang="ru-RU" dirty="0" err="1"/>
              <a:t>list.Add</a:t>
            </a:r>
            <a:r>
              <a:rPr lang="ru-RU" dirty="0"/>
              <a:t>(): O(1) (амортизированная). В большинстве случаев быстро, но иногда может быть O(n) из-за необходимости </a:t>
            </a:r>
            <a:r>
              <a:rPr lang="ru-RU" dirty="0" err="1"/>
              <a:t>переаллокации</a:t>
            </a:r>
            <a:r>
              <a:rPr lang="ru-RU" dirty="0"/>
              <a:t> внутреннего массива.</a:t>
            </a:r>
          </a:p>
          <a:p>
            <a:r>
              <a:rPr lang="ru-RU" dirty="0"/>
              <a:t>Поиск элемента: O(n) — линейная.</a:t>
            </a:r>
          </a:p>
          <a:p>
            <a:r>
              <a:rPr lang="ru-RU" dirty="0"/>
              <a:t>Вставка/Удаление: O(n) — линейная.</a:t>
            </a:r>
          </a:p>
        </p:txBody>
      </p:sp>
    </p:spTree>
    <p:extLst>
      <p:ext uri="{BB962C8B-B14F-4D97-AF65-F5344CB8AC3E}">
        <p14:creationId xmlns:p14="http://schemas.microsoft.com/office/powerpoint/2010/main" val="2032128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04" y="312117"/>
            <a:ext cx="11605591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Словарь (</a:t>
            </a:r>
            <a:r>
              <a:rPr lang="en-US" dirty="0" err="1"/>
              <a:t>System.Collections.Generic.Dictionary</a:t>
            </a:r>
            <a:r>
              <a:rPr lang="en-US" dirty="0"/>
              <a:t>&lt;</a:t>
            </a:r>
            <a:r>
              <a:rPr lang="en-US" dirty="0" err="1"/>
              <a:t>TKey</a:t>
            </a:r>
            <a:r>
              <a:rPr lang="en-US" dirty="0"/>
              <a:t>, TValue&gt;)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Словарь - коллекция пар «ключ-значение», где каждый ключ должен быть уникальным. Позволяет ассоциировать одно значение с другим. Использует хэш-функцию для преобразования ключа в индекс внутреннего массива («корзины» или «</a:t>
            </a:r>
            <a:r>
              <a:rPr lang="ru-RU" dirty="0" err="1"/>
              <a:t>buckets</a:t>
            </a:r>
            <a:r>
              <a:rPr lang="ru-RU" dirty="0"/>
              <a:t>»), что позволяет избежать последовательного перебора.</a:t>
            </a:r>
          </a:p>
          <a:p>
            <a:pPr marL="0" indent="0">
              <a:buNone/>
            </a:pPr>
            <a:r>
              <a:rPr lang="ru-RU" dirty="0"/>
              <a:t>Временная сложность операций (в среднем):</a:t>
            </a:r>
          </a:p>
          <a:p>
            <a:r>
              <a:rPr lang="ru-RU" dirty="0"/>
              <a:t>Добавление, удаление, поиск по ключу: O(1) — константная, так как используется индекс.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819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CD6EF-7CA2-AF4F-1A1B-8CA3D9C0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04" y="312117"/>
            <a:ext cx="11898796" cy="1325563"/>
          </a:xfrm>
        </p:spPr>
        <p:txBody>
          <a:bodyPr>
            <a:normAutofit/>
          </a:bodyPr>
          <a:lstStyle/>
          <a:p>
            <a:r>
              <a:rPr lang="ru-RU" dirty="0"/>
              <a:t>Множество (</a:t>
            </a:r>
            <a:r>
              <a:rPr lang="en-US" dirty="0" err="1"/>
              <a:t>System.Collections.Generic.HashSet</a:t>
            </a:r>
            <a:r>
              <a:rPr lang="en-US" dirty="0"/>
              <a:t>&lt;T&gt;)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742CB-6EBC-A85C-B4D0-2108A86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Множество - Неупорядоченная коллекция, содержащая уникальные элементы. Также основан на хэш-таблице. Аналогичен </a:t>
            </a:r>
            <a:r>
              <a:rPr lang="ru-RU" dirty="0" err="1"/>
              <a:t>Dictionary</a:t>
            </a:r>
            <a:r>
              <a:rPr lang="ru-RU" dirty="0"/>
              <a:t>, но хранит только ключи, без ассоциированных значений.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Временная сложность операций (в среднем):</a:t>
            </a:r>
          </a:p>
          <a:p>
            <a:r>
              <a:rPr lang="ru-RU" dirty="0"/>
              <a:t>Добавление, удаление, проверка наличия (</a:t>
            </a:r>
            <a:r>
              <a:rPr lang="ru-RU" dirty="0" err="1"/>
              <a:t>Contains</a:t>
            </a:r>
            <a:r>
              <a:rPr lang="ru-RU" dirty="0"/>
              <a:t>): O(1) — константная.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3752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Боль - 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86179-BCB8-27C2-9AEB-F61AB8FA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Фиксированный размер: Создал на 10 элементов — 11-й не впихнёшь. Нужно заранее знать, сколько данных у тебя будет. А мы </a:t>
            </a:r>
            <a:r>
              <a:rPr lang="ru-RU" i="1" dirty="0"/>
              <a:t>почти никогда </a:t>
            </a:r>
            <a:r>
              <a:rPr lang="ru-RU" dirty="0"/>
              <a:t>не знаем.</a:t>
            </a:r>
          </a:p>
          <a:p>
            <a:pPr marL="0" indent="0">
              <a:buNone/>
            </a:pPr>
            <a:r>
              <a:rPr lang="ru-RU" dirty="0"/>
              <a:t>Боль при изменении: Нужно вставить элемент в середину? Двигаем всю правую часть массива руками. Нужно удалить? Двигаем влево. </a:t>
            </a:r>
            <a:r>
              <a:rPr lang="ru-RU" i="1" dirty="0"/>
              <a:t>(массив непрерывный)</a:t>
            </a:r>
          </a:p>
          <a:p>
            <a:pPr marL="0" indent="0">
              <a:buNone/>
            </a:pPr>
            <a:r>
              <a:rPr lang="ru-RU" i="1" dirty="0"/>
              <a:t>Массив — это просто, быстро, но негибко. Это фундамент, но жить в подвале неудобно.</a:t>
            </a:r>
          </a:p>
        </p:txBody>
      </p:sp>
    </p:spTree>
    <p:extLst>
      <p:ext uri="{BB962C8B-B14F-4D97-AF65-F5344CB8AC3E}">
        <p14:creationId xmlns:p14="http://schemas.microsoft.com/office/powerpoint/2010/main" val="2880188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86179-BCB8-27C2-9AEB-F61AB8FA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list.Add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 — добавляй сколько влезет.</a:t>
            </a:r>
          </a:p>
          <a:p>
            <a:pPr marL="0" indent="0">
              <a:buNone/>
            </a:pPr>
            <a:r>
              <a:rPr lang="en-US" dirty="0" err="1"/>
              <a:t>list.Insert</a:t>
            </a:r>
            <a:r>
              <a:rPr lang="en-US" dirty="0"/>
              <a:t>(index, item) – </a:t>
            </a:r>
            <a:r>
              <a:rPr lang="ru-RU" dirty="0"/>
              <a:t>вставляй куда хочешь.</a:t>
            </a:r>
          </a:p>
          <a:p>
            <a:pPr marL="0" indent="0">
              <a:buNone/>
            </a:pPr>
            <a:r>
              <a:rPr lang="ru-RU" dirty="0" err="1"/>
              <a:t>list.Remove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 — удаляй и не думай о дырках. </a:t>
            </a:r>
          </a:p>
        </p:txBody>
      </p:sp>
    </p:spTree>
    <p:extLst>
      <p:ext uri="{BB962C8B-B14F-4D97-AF65-F5344CB8AC3E}">
        <p14:creationId xmlns:p14="http://schemas.microsoft.com/office/powerpoint/2010/main" val="2718824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86179-BCB8-27C2-9AEB-F61AB8FA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 капотом у List&lt;T&gt; лежит ОБЫЧНЫЙ МАССИВ!</a:t>
            </a:r>
          </a:p>
          <a:p>
            <a:pPr marL="0" indent="0">
              <a:buNone/>
            </a:pPr>
            <a:r>
              <a:rPr lang="ru-RU" dirty="0"/>
              <a:t>Переменная List&lt;T&gt; </a:t>
            </a:r>
            <a:r>
              <a:rPr lang="ru-RU" dirty="0" err="1"/>
              <a:t>myList</a:t>
            </a:r>
            <a:r>
              <a:rPr lang="ru-RU" dirty="0"/>
              <a:t> это</a:t>
            </a:r>
            <a:r>
              <a:rPr lang="en-US" dirty="0"/>
              <a:t> </a:t>
            </a:r>
            <a:r>
              <a:rPr lang="ru-RU" dirty="0"/>
              <a:t>ссылка, которая лежит на Стеке.</a:t>
            </a:r>
          </a:p>
          <a:p>
            <a:pPr marL="0" indent="0">
              <a:buNone/>
            </a:pPr>
            <a:r>
              <a:rPr lang="ru-RU" dirty="0"/>
              <a:t>Эта ссылка указывает на объект в Куче.</a:t>
            </a:r>
          </a:p>
          <a:p>
            <a:pPr marL="0" indent="0">
              <a:buNone/>
            </a:pPr>
            <a:r>
              <a:rPr lang="ru-RU" dirty="0"/>
              <a:t>А внутри этого объекта в Куче лежит приватное поле — массив T[] _</a:t>
            </a:r>
            <a:r>
              <a:rPr lang="ru-RU" dirty="0" err="1"/>
              <a:t>items</a:t>
            </a:r>
            <a:r>
              <a:rPr lang="ru-RU" dirty="0"/>
              <a:t> и счётчик </a:t>
            </a:r>
            <a:r>
              <a:rPr lang="ru-RU" dirty="0" err="1"/>
              <a:t>int</a:t>
            </a:r>
            <a:r>
              <a:rPr lang="ru-RU" dirty="0"/>
              <a:t> _</a:t>
            </a:r>
            <a:r>
              <a:rPr lang="ru-RU" dirty="0" err="1"/>
              <a:t>size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ACFCF8-6BC0-CF76-63AB-470011EE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39563"/>
            <a:ext cx="10903226" cy="23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99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86179-BCB8-27C2-9AEB-F61AB8FA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Что происходит, когда мы делаем </a:t>
            </a:r>
            <a:r>
              <a:rPr lang="ru-RU" dirty="0" err="1"/>
              <a:t>myList.Add</a:t>
            </a:r>
            <a:r>
              <a:rPr lang="ru-RU" dirty="0"/>
              <a:t>(5)?</a:t>
            </a:r>
          </a:p>
          <a:p>
            <a:pPr marL="0" indent="0">
              <a:buNone/>
            </a:pPr>
            <a:r>
              <a:rPr lang="ru-RU" dirty="0"/>
              <a:t>List смотрит: _</a:t>
            </a:r>
            <a:r>
              <a:rPr lang="ru-RU" dirty="0" err="1"/>
              <a:t>size</a:t>
            </a:r>
            <a:r>
              <a:rPr lang="ru-RU" dirty="0"/>
              <a:t> &lt; _</a:t>
            </a:r>
            <a:r>
              <a:rPr lang="ru-RU" dirty="0" err="1"/>
              <a:t>items.Length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Да — он просто кладёт элемент в массив и увеличивает счётчик _</a:t>
            </a:r>
            <a:r>
              <a:rPr lang="ru-RU" dirty="0" err="1"/>
              <a:t>size</a:t>
            </a:r>
            <a:r>
              <a:rPr lang="ru-RU" dirty="0"/>
              <a:t>. Это быстро. O(1).</a:t>
            </a:r>
          </a:p>
          <a:p>
            <a:pPr marL="0" indent="0">
              <a:buNone/>
            </a:pPr>
            <a:r>
              <a:rPr lang="ru-RU" dirty="0"/>
              <a:t>Если нет —List понимает, что элемент не влезет. Он:</a:t>
            </a:r>
          </a:p>
          <a:p>
            <a:pPr marL="0" indent="0">
              <a:buNone/>
            </a:pPr>
            <a:r>
              <a:rPr lang="ru-RU" dirty="0"/>
              <a:t>Создаёт в Куче НОВЫЙ массив, в два раза больше старого (</a:t>
            </a:r>
            <a:r>
              <a:rPr lang="ru-RU" dirty="0" err="1"/>
              <a:t>Capacity</a:t>
            </a:r>
            <a:r>
              <a:rPr lang="ru-RU" dirty="0"/>
              <a:t> * 2).</a:t>
            </a:r>
          </a:p>
          <a:p>
            <a:pPr marL="0" indent="0">
              <a:buNone/>
            </a:pPr>
            <a:r>
              <a:rPr lang="ru-RU" dirty="0"/>
              <a:t>КОПИРУЕТ туда все элементы из старого массива. Это МЕДЛЕННО. O(n).</a:t>
            </a:r>
          </a:p>
          <a:p>
            <a:pPr marL="0" indent="0">
              <a:buNone/>
            </a:pPr>
            <a:r>
              <a:rPr lang="ru-RU" dirty="0"/>
              <a:t>Выкидывает старый массив на </a:t>
            </a:r>
            <a:r>
              <a:rPr lang="ru-RU" i="1" dirty="0"/>
              <a:t>мороз</a:t>
            </a:r>
            <a:r>
              <a:rPr lang="ru-RU" dirty="0"/>
              <a:t> (GC потом подберёт).</a:t>
            </a:r>
          </a:p>
          <a:p>
            <a:pPr marL="0" indent="0">
              <a:buNone/>
            </a:pPr>
            <a:r>
              <a:rPr lang="ru-RU" dirty="0"/>
              <a:t>И только потом добавляет ваш новый элемент.</a:t>
            </a:r>
          </a:p>
          <a:p>
            <a:pPr marL="0" indent="0">
              <a:buNone/>
            </a:pPr>
            <a:r>
              <a:rPr lang="ru-RU" dirty="0"/>
              <a:t>Вывод: List — это не бесконечная лента. Это серия массивов всё большего и большего размера. Удобство «бесконечного» добавления мы оплачиваем редкими, но дорогими операциями копирования.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18123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 (пруфы)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D91E420-D715-46F0-6172-937FB4AA4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668" y="1518410"/>
            <a:ext cx="7677845" cy="4445068"/>
          </a:xfrm>
        </p:spPr>
      </p:pic>
    </p:spTree>
    <p:extLst>
      <p:ext uri="{BB962C8B-B14F-4D97-AF65-F5344CB8AC3E}">
        <p14:creationId xmlns:p14="http://schemas.microsoft.com/office/powerpoint/2010/main" val="2557433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 (пруфы)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23AF32B-9849-EEDE-F59C-3DBDA4096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4585252"/>
            <a:ext cx="8499255" cy="1749287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7678C2-0BCA-1CF0-DB98-0DCE2A2D3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0929"/>
            <a:ext cx="8204283" cy="310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06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 (пруфы)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AF186C0-72A2-EDEB-EA58-3132E1FD5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11" y="1881809"/>
            <a:ext cx="11629969" cy="4161182"/>
          </a:xfrm>
        </p:spPr>
      </p:pic>
    </p:spTree>
    <p:extLst>
      <p:ext uri="{BB962C8B-B14F-4D97-AF65-F5344CB8AC3E}">
        <p14:creationId xmlns:p14="http://schemas.microsoft.com/office/powerpoint/2010/main" val="1647185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Иллюзия бесконечности (пруфы)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EA704C-BF21-1A8B-022A-7E018C12D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DC321E-4EC6-3BEE-12BB-64DE613F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1589940"/>
            <a:ext cx="12012701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20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0E888-54F0-F7AB-3658-28EF486E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List&lt;T&gt; </a:t>
            </a:r>
            <a:r>
              <a:rPr lang="ru-RU" dirty="0"/>
              <a:t>вор оперативки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39CA158-053F-496B-3B1E-E154D3C7C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0787"/>
            <a:ext cx="5375101" cy="165973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CFD6FE-1723-FC16-83D9-7051CAA52E09}"/>
              </a:ext>
            </a:extLst>
          </p:cNvPr>
          <p:cNvSpPr txBox="1"/>
          <p:nvPr/>
        </p:nvSpPr>
        <p:spPr>
          <a:xfrm>
            <a:off x="1166191" y="4161183"/>
            <a:ext cx="153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MyListProject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766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1927</Words>
  <Application>Microsoft Office PowerPoint</Application>
  <PresentationFormat>Широкоэкранный</PresentationFormat>
  <Paragraphs>169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DM Mono</vt:lpstr>
      <vt:lpstr>Inter</vt:lpstr>
      <vt:lpstr>YS Text</vt:lpstr>
      <vt:lpstr>Тема Office</vt:lpstr>
      <vt:lpstr>Структуры Данных</vt:lpstr>
      <vt:lpstr>Что такое Структура Данных</vt:lpstr>
      <vt:lpstr>Классификация Структур Данных</vt:lpstr>
      <vt:lpstr>Классификация Структур Данных (стек)</vt:lpstr>
      <vt:lpstr>Классификация Структур Данных (очередь)</vt:lpstr>
      <vt:lpstr>Классификация Структур Данных</vt:lpstr>
      <vt:lpstr>Классификация Структур Данных (дерево)</vt:lpstr>
      <vt:lpstr>Классификация Структур Данных (граф)</vt:lpstr>
      <vt:lpstr>Классификация Структур Данных</vt:lpstr>
      <vt:lpstr>Классификация Структур Данных</vt:lpstr>
      <vt:lpstr>Классификация Структур Данных</vt:lpstr>
      <vt:lpstr>Сложность Алгоритмов (О-нотация)</vt:lpstr>
      <vt:lpstr>Сложность Алгоритмов (О-нотация)</vt:lpstr>
      <vt:lpstr>Сложность Алгоритмов (О-нотация)</vt:lpstr>
      <vt:lpstr>Сложность Алгоритмов (О-нотация)</vt:lpstr>
      <vt:lpstr>Сложность Алгоритмов (О-нотация)</vt:lpstr>
      <vt:lpstr>Сложность Алгоритмов линеаритмич</vt:lpstr>
      <vt:lpstr>Сложность Алгоритмов линеаритмич</vt:lpstr>
      <vt:lpstr>Сложность Алгоритмов (О-нотация)</vt:lpstr>
      <vt:lpstr>Сложность Алгоритмов (О-нотация)</vt:lpstr>
      <vt:lpstr>Сложность Алгоритмов (рекурсия)</vt:lpstr>
      <vt:lpstr>Сложность Алгоритмов (рекурсия)</vt:lpstr>
      <vt:lpstr>Сложность Алгоритмов (О-нотация)</vt:lpstr>
      <vt:lpstr>Сложность Алгоритмов (О-нотация)</vt:lpstr>
      <vt:lpstr>Массив (System.Array)</vt:lpstr>
      <vt:lpstr>Массив (System.Array)</vt:lpstr>
      <vt:lpstr>Список (System.Collections.Generic.List&lt;T&gt;)</vt:lpstr>
      <vt:lpstr>Список (System.Collections.Generic.List&lt;T&gt;)</vt:lpstr>
      <vt:lpstr>Словарь (System.Collections.Generic.Dictionary&lt;TKey, TValue&gt;)</vt:lpstr>
      <vt:lpstr>Множество (System.Collections.Generic.HashSet&lt;T&gt;)</vt:lpstr>
      <vt:lpstr>Боль - массивы</vt:lpstr>
      <vt:lpstr>List&lt;T&gt; Иллюзия бесконечности</vt:lpstr>
      <vt:lpstr>List&lt;T&gt; Иллюзия бесконечности</vt:lpstr>
      <vt:lpstr>List&lt;T&gt; Иллюзия бесконечности</vt:lpstr>
      <vt:lpstr>List&lt;T&gt; Иллюзия бесконечности (пруфы)</vt:lpstr>
      <vt:lpstr>List&lt;T&gt; Иллюзия бесконечности (пруфы)</vt:lpstr>
      <vt:lpstr>List&lt;T&gt; Иллюзия бесконечности (пруфы)</vt:lpstr>
      <vt:lpstr>List&lt;T&gt; Иллюзия бесконечности (пруфы)</vt:lpstr>
      <vt:lpstr>List&lt;T&gt; вор оперативки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2</cp:revision>
  <dcterms:created xsi:type="dcterms:W3CDTF">2025-10-05T14:54:32Z</dcterms:created>
  <dcterms:modified xsi:type="dcterms:W3CDTF">2025-10-05T18:30:40Z</dcterms:modified>
</cp:coreProperties>
</file>