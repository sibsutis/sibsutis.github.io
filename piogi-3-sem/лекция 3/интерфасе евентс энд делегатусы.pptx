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63" r:id="rId10"/>
    <p:sldId id="265" r:id="rId11"/>
    <p:sldId id="266" r:id="rId12"/>
    <p:sldId id="267" r:id="rId13"/>
    <p:sldId id="264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7" r:id="rId30"/>
    <p:sldId id="284" r:id="rId31"/>
    <p:sldId id="285" r:id="rId32"/>
    <p:sldId id="286" r:id="rId33"/>
    <p:sldId id="288" r:id="rId34"/>
    <p:sldId id="289" r:id="rId35"/>
    <p:sldId id="290" r:id="rId36"/>
    <p:sldId id="292" r:id="rId37"/>
    <p:sldId id="291" r:id="rId38"/>
    <p:sldId id="293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4660"/>
  </p:normalViewPr>
  <p:slideViewPr>
    <p:cSldViewPr snapToGrid="0">
      <p:cViewPr>
        <p:scale>
          <a:sx n="66" d="100"/>
          <a:sy n="66" d="100"/>
        </p:scale>
        <p:origin x="402" y="2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DB3DEB-4F22-7CC4-901C-318C70AB4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360C44-CC1C-EDA4-7090-EE1995A5C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AEA817-7ECD-9369-4B62-2DDCAF53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1622-2408-4C1C-A2FC-639A992FF44A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C7DF05-636A-CE69-EF67-9A71AB1C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173D9F-8FC6-81B1-3799-75B76D38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2F3-9C7F-43C0-8242-B1D0F1FD4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812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0DEEC5-5349-B18B-6FA7-22BAE5F5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ED0F00-D7DE-A5E5-7FD6-80C133F21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0CC7FD-7930-A2A1-0472-09C931A69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1622-2408-4C1C-A2FC-639A992FF44A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BC5F87-F138-00A9-87B4-11B7770A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0585ED-8E52-2653-18C3-D2145A1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2F3-9C7F-43C0-8242-B1D0F1FD4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377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3F9DD-C50A-3FC8-2A10-D9BCF8C4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EF8CFD-33DE-AC60-B422-8D1D15AC9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02B71A-E1C9-B0CB-F6E7-F20AB174D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1622-2408-4C1C-A2FC-639A992FF44A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7B5D6A-7226-9234-F3BE-633E3046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62B948-10C3-03AC-8E29-F963C6ECC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2F3-9C7F-43C0-8242-B1D0F1FD4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726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1E210-DEEB-D37B-2A09-8309BC5DD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22B70E-5408-0C3C-15AF-44DC77AB4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BF721D-55BC-5CA5-4B68-5F0ED0597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7A5606-9B4B-9EB0-F96B-15AB0B20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1622-2408-4C1C-A2FC-639A992FF44A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D9D71E-7029-A229-1CB7-4D743B486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A6984A-7EDD-45E5-35E8-0B60B55BB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2F3-9C7F-43C0-8242-B1D0F1FD4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72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3F7952-B93B-9021-E472-212878E38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0AA490-8408-5552-7AC0-FA2FC31D2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AA6BFE-4EE8-3044-8DCB-6F6EF5F1D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2801DE-9E90-4656-87D8-4165E68CA0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64E710A-138A-27F4-0103-E2E54BA47C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6B9890-3D85-D403-7AB5-4515B8009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1622-2408-4C1C-A2FC-639A992FF44A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56AC0F2-49BF-4F12-8C59-5654A93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526AD64-D8BD-322B-8490-4A6D2B44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2F3-9C7F-43C0-8242-B1D0F1FD4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30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60532-BC88-E2D8-ADB0-A911018B3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1383259-9486-5712-900C-D75781E94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1622-2408-4C1C-A2FC-639A992FF44A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D338E8-7533-3DB8-37C1-E3A9C72A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3600F1-6FA9-86A7-D4F3-D97E2EF0F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2F3-9C7F-43C0-8242-B1D0F1FD4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77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41B159-B69C-D4CC-5E1F-FD0FFB574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1622-2408-4C1C-A2FC-639A992FF44A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7353DA4-CE2D-81E8-B0A1-5CC42213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C1AF62-6FDF-BA82-B553-F9C7C79E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2F3-9C7F-43C0-8242-B1D0F1FD4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567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E7032-0A2C-926D-0561-A8CF54ED9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8E0930-FC78-1400-2388-0FA25D5C2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D0532D-9DF2-970B-FF58-D9FA25F3E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7D1B42-28F9-03CA-53FC-3576C4003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1622-2408-4C1C-A2FC-639A992FF44A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1907A0-DDF8-C22D-B13E-5B48800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A911BA-3E7B-9914-318E-4DB2CF40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2F3-9C7F-43C0-8242-B1D0F1FD4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61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5C1D9-66CD-18E4-9BBF-2CC82CEDF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57E2621-9470-092B-E189-01425DA84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0230FD-3AD7-4E03-8117-5BF402C5B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8FF8BFF-2A16-9729-098B-8C25D23B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1622-2408-4C1C-A2FC-639A992FF44A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78636F-B68F-1944-4D66-86040902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7BE5F0-B0C3-2D54-B3FA-4983421B0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2F3-9C7F-43C0-8242-B1D0F1FD4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889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3C41E5-2738-71DD-E1D8-5B4C56F7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E57AF3-B6E3-41CA-C5AF-51E5F2819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444B0B-EA60-BF50-3AF7-F343F778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1622-2408-4C1C-A2FC-639A992FF44A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F48BDE-C133-4835-E83C-B3C0604D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C1DE4B-AEC8-A5DD-B8B2-EBBCAC3F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2F3-9C7F-43C0-8242-B1D0F1FD4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029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96C624D-25B8-42EF-9BF2-0E684B8A1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5633E9-2641-FA5E-13F0-1CE90ECAF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CEB2F1-34B9-C157-F8CE-C1F7A970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81622-2408-4C1C-A2FC-639A992FF44A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BF49D7-F73B-0F7B-1E7A-1A8AF0D29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7BBBB0-7C5C-08B9-4840-3A6C7D15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2F3-9C7F-43C0-8242-B1D0F1FD4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262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F0A52-5D90-8133-F557-D7FF5241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6745E4-1CD1-8DEA-A541-3D697C7C8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0386BF-E403-8A40-07C9-C6D4E5796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81622-2408-4C1C-A2FC-639A992FF44A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BB93E0-194C-3B50-F5CE-10FEAA979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A8AF0F-B8B4-9E28-87D1-FB3146C1A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072F3-9C7F-43C0-8242-B1D0F1FD41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42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F3CE6C-A414-6B42-A7F2-3E326DB55A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Программирование и обработка графического интерфейса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D6DE2C-CA85-664F-4A16-26F5E862C3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№</a:t>
            </a:r>
            <a:r>
              <a:rPr lang="en-US" dirty="0"/>
              <a:t>3</a:t>
            </a:r>
            <a:r>
              <a:rPr lang="ru-RU" dirty="0"/>
              <a:t>: Интерфейсы, делегаты, события, </a:t>
            </a:r>
            <a:r>
              <a:rPr lang="en-US" dirty="0"/>
              <a:t>async, await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6224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1F6DF-7756-70DA-CE7E-C6FE7CEE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Dispatcher Thread</a:t>
            </a:r>
            <a:r>
              <a:rPr lang="ru-RU" dirty="0"/>
              <a:t> – поток </a:t>
            </a:r>
            <a:r>
              <a:rPr lang="en-US" dirty="0"/>
              <a:t>UI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922011-4A68-18C5-5E14-21B114A48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52617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WPF есть ОДИН главный поток</a:t>
            </a:r>
          </a:p>
          <a:p>
            <a:pPr marL="0" indent="0">
              <a:buNone/>
            </a:pPr>
            <a:r>
              <a:rPr lang="ru-RU" dirty="0"/>
              <a:t>Только этот поток может менять элементы интерфейса</a:t>
            </a:r>
          </a:p>
        </p:txBody>
      </p:sp>
      <p:pic>
        <p:nvPicPr>
          <p:cNvPr id="1026" name="Picture 2" descr="Modèle de thread - WPF | Microsoft Learn">
            <a:extLst>
              <a:ext uri="{FF2B5EF4-FFF2-40B4-BE49-F238E27FC236}">
                <a16:creationId xmlns:a16="http://schemas.microsoft.com/office/drawing/2014/main" id="{EF7A582A-4005-9423-406B-2A51AACA7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817" y="1825625"/>
            <a:ext cx="6962983" cy="375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02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1F6DF-7756-70DA-CE7E-C6FE7CEE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Dispatcher Thread</a:t>
            </a:r>
            <a:r>
              <a:rPr lang="ru-RU" dirty="0"/>
              <a:t> – поток </a:t>
            </a:r>
            <a:r>
              <a:rPr lang="en-US" dirty="0"/>
              <a:t>UI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4389B15-400E-BEEE-C674-1A5B6EFF3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12" y="1558236"/>
            <a:ext cx="11641175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740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08CE5-33F3-CB89-ACAD-4EF14343E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Dispatcher Thread</a:t>
            </a:r>
            <a:r>
              <a:rPr lang="ru-RU" dirty="0"/>
              <a:t> – поток </a:t>
            </a:r>
            <a:r>
              <a:rPr lang="en-US" dirty="0"/>
              <a:t>UI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382156-E5E6-A2B8-54E8-1791A7B08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Когда мы запускаем «сложную логику» (имитация </a:t>
            </a:r>
            <a:r>
              <a:rPr lang="en-US" dirty="0"/>
              <a:t>Sleep(20000)), </a:t>
            </a:r>
            <a:r>
              <a:rPr lang="ru-RU" dirty="0"/>
              <a:t>наш главный поток ждет выполнения этой логики. </a:t>
            </a:r>
          </a:p>
          <a:p>
            <a:r>
              <a:rPr lang="ru-RU" dirty="0"/>
              <a:t>Наш поток ждет завершения этого блока кода.</a:t>
            </a:r>
          </a:p>
          <a:p>
            <a:r>
              <a:rPr lang="ru-RU" dirty="0"/>
              <a:t>Результат: окно не перерисовывается, не отвечает на клики, висит и показывает «Не отвечает».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4730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81EAD-0A1B-8B13-3A02-2FEB234F2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Интерфейс – абстрактный тип данных, описывающий методы, которые должны быть реализованы классом или структурой. Может содержать свойства и поля.</a:t>
            </a:r>
          </a:p>
          <a:p>
            <a:pPr marL="0" indent="0">
              <a:buNone/>
            </a:pPr>
            <a:r>
              <a:rPr lang="ru-RU" dirty="0"/>
              <a:t> Он определяет, что класс должен делать, но не содержит реализации методов. </a:t>
            </a:r>
          </a:p>
        </p:txBody>
      </p:sp>
    </p:spTree>
    <p:extLst>
      <p:ext uri="{BB962C8B-B14F-4D97-AF65-F5344CB8AC3E}">
        <p14:creationId xmlns:p14="http://schemas.microsoft.com/office/powerpoint/2010/main" val="792035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81EAD-0A1B-8B13-3A02-2FEB234F2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Интерфейс определяется с помощью ключевого слова </a:t>
            </a:r>
            <a:r>
              <a:rPr lang="ru-RU" b="1" dirty="0"/>
              <a:t>Interface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E6D982-7B5D-40B8-4146-EC5F5890F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46356"/>
            <a:ext cx="6592910" cy="319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6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81EAD-0A1B-8B13-3A02-2FEB234F2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Интерфейсы могут наследоваться от других интерфейсов.</a:t>
            </a:r>
            <a:endParaRPr lang="ru-RU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8340BF5-DAF8-7C9A-87B6-99748225C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015" y="2633168"/>
            <a:ext cx="6563641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02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Интерфейсы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B52BCD0C-D845-C034-4A2D-E69AC3D4D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1229" y="738333"/>
            <a:ext cx="9191171" cy="5603830"/>
          </a:xfrm>
        </p:spPr>
      </p:pic>
    </p:spTree>
    <p:extLst>
      <p:ext uri="{BB962C8B-B14F-4D97-AF65-F5344CB8AC3E}">
        <p14:creationId xmlns:p14="http://schemas.microsoft.com/office/powerpoint/2010/main" val="465583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Делегаты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81EAD-0A1B-8B13-3A02-2FEB234F2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i="0" dirty="0">
                <a:effectLst/>
                <a:latin typeface="+mj-lt"/>
              </a:rPr>
              <a:t>Делегаты - типы, которые представляют ссылки на методы. Они позволяют хранить и вызывать методы как объекты. Делегат может ссылаться на любой метод с подходящей сигнатурой.</a:t>
            </a:r>
          </a:p>
          <a:p>
            <a:pPr marL="0" indent="0">
              <a:buNone/>
            </a:pPr>
            <a:r>
              <a:rPr lang="ru-RU" dirty="0">
                <a:latin typeface="+mj-lt"/>
              </a:rPr>
              <a:t>Для объявления делегата используется ключевое слово </a:t>
            </a:r>
            <a:r>
              <a:rPr lang="ru-RU" dirty="0" err="1">
                <a:latin typeface="+mj-lt"/>
              </a:rPr>
              <a:t>delegate</a:t>
            </a:r>
            <a:r>
              <a:rPr lang="ru-RU" dirty="0">
                <a:latin typeface="+mj-lt"/>
              </a:rPr>
              <a:t>, после которого идет возвращаемый тип, название и параметры:</a:t>
            </a:r>
          </a:p>
          <a:p>
            <a:pPr marL="0" indent="0">
              <a:buNone/>
            </a:pPr>
            <a:endParaRPr lang="ru-RU" dirty="0"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4349A3-8257-85D2-3D4D-CA6069CF7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110" y="4006528"/>
            <a:ext cx="9154803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64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Делегаты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81EAD-0A1B-8B13-3A02-2FEB234F2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+mj-lt"/>
              </a:rPr>
              <a:t>Делегаты могут хранить ссылки на несколько методов.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62E2E5-D9D8-CE53-1FE0-46FA3E530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50" y="2385410"/>
            <a:ext cx="8097380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71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Делегаты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81EAD-0A1B-8B13-3A02-2FEB234F2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4718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err="1">
                <a:latin typeface="+mj-lt"/>
              </a:rPr>
              <a:t>Invoke</a:t>
            </a:r>
            <a:r>
              <a:rPr lang="ru-RU" dirty="0">
                <a:latin typeface="+mj-lt"/>
              </a:rPr>
              <a:t> </a:t>
            </a:r>
            <a:r>
              <a:rPr lang="en-US" dirty="0">
                <a:latin typeface="+mj-lt"/>
              </a:rPr>
              <a:t>- </a:t>
            </a:r>
            <a:r>
              <a:rPr lang="ru-RU" dirty="0">
                <a:latin typeface="+mj-lt"/>
              </a:rPr>
              <a:t>метод, который используется для синхронного вызова методов, поддерживаемых объектом делегата. </a:t>
            </a:r>
          </a:p>
          <a:p>
            <a:pPr marL="0" indent="0">
              <a:buNone/>
            </a:pPr>
            <a:r>
              <a:rPr lang="ru-RU" dirty="0">
                <a:latin typeface="+mj-lt"/>
              </a:rPr>
              <a:t>Вызывающий код должен ожидать завершения вызова, прежде чем продолжить свою работу.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5AF3D4-FB53-CED1-AA17-9C4B2A3D3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951" y="-4718"/>
            <a:ext cx="67891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77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Делегаты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81EAD-0A1B-8B13-3A02-2FEB234F2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80008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+mj-lt"/>
              </a:rPr>
              <a:t>Делегаты могут быть переданы в метод в качестве аргумента.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535F13-E86D-9DAE-23F4-91CA40918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146" y="118600"/>
            <a:ext cx="7573432" cy="66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81EAD-0A1B-8B13-3A02-2FEB234F2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effectLst/>
                <a:latin typeface="+mj-lt"/>
              </a:rPr>
              <a:t>События - сообщение, которое возникает в различных точках исполняемого кода при выполнении определённых условий. События предназначены для того, чтобы предусмотреть реакцию программного обеспечения.</a:t>
            </a:r>
          </a:p>
          <a:p>
            <a:pPr marL="0" indent="0">
              <a:buNone/>
            </a:pPr>
            <a:r>
              <a:rPr lang="ru-RU" dirty="0">
                <a:latin typeface="+mj-lt"/>
              </a:rPr>
              <a:t>Событие - тип делегата, предназначенный для реализации событийной модели. События позволяют объектам оповещать других о том, что произошло определенное действие, например, нажатие кнопки, завершение процесса или изменение состояния.</a:t>
            </a:r>
          </a:p>
          <a:p>
            <a:pPr marL="0" indent="0">
              <a:buNone/>
            </a:pP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71774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81EAD-0A1B-8B13-3A02-2FEB234F2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6943" cy="4351338"/>
          </a:xfrm>
        </p:spPr>
        <p:txBody>
          <a:bodyPr/>
          <a:lstStyle/>
          <a:p>
            <a:pPr marL="0" indent="0">
              <a:buNone/>
            </a:pPr>
            <a:r>
              <a:rPr lang="ru-RU" b="0" i="0" dirty="0">
                <a:effectLst/>
                <a:latin typeface="+mj-lt"/>
              </a:rPr>
              <a:t>Событие объявляется с помощью ключевого слова </a:t>
            </a:r>
            <a:r>
              <a:rPr lang="ru-RU" b="0" i="0" dirty="0" err="1">
                <a:effectLst/>
                <a:latin typeface="+mj-lt"/>
              </a:rPr>
              <a:t>event</a:t>
            </a:r>
            <a:r>
              <a:rPr lang="ru-RU" b="0" i="0" dirty="0">
                <a:effectLst/>
                <a:latin typeface="+mj-lt"/>
              </a:rPr>
              <a:t>:</a:t>
            </a:r>
            <a:endParaRPr lang="ru-RU" dirty="0"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415A80-9C86-62B4-ADAD-2E06FA801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060" y="690180"/>
            <a:ext cx="6163535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143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81EAD-0A1B-8B13-3A02-2FEB234F2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6943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+mj-lt"/>
              </a:rPr>
              <a:t>Добавление и удаление </a:t>
            </a:r>
            <a:r>
              <a:rPr lang="ru-RU" b="0" i="0" dirty="0">
                <a:effectLst/>
                <a:latin typeface="+mj-lt"/>
              </a:rPr>
              <a:t>обработчика события через оператор += и -=</a:t>
            </a:r>
            <a:endParaRPr lang="ru-RU" dirty="0">
              <a:latin typeface="+mj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A9B129-9463-63D2-E75A-3F1A5B510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2" y="790206"/>
            <a:ext cx="6128657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0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 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81EAD-0A1B-8B13-3A02-2FEB234F2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8714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+mj-lt"/>
              </a:rPr>
              <a:t>Делегаты представляют собой типы, которые хранят ссылки на методы. Они полезны в ситуациях, когда требуется передать метод в качестве аргумента или сохранить метод для последующего вызова.</a:t>
            </a:r>
          </a:p>
          <a:p>
            <a:pPr marL="0" indent="0">
              <a:buNone/>
            </a:pPr>
            <a:r>
              <a:rPr lang="ru-RU" dirty="0">
                <a:latin typeface="+mj-lt"/>
              </a:rPr>
              <a:t>Пример: Когда нужно передать метод в качестве параметра, чтобы другой метод мог вызвать его.</a:t>
            </a:r>
          </a:p>
        </p:txBody>
      </p:sp>
    </p:spTree>
    <p:extLst>
      <p:ext uri="{BB962C8B-B14F-4D97-AF65-F5344CB8AC3E}">
        <p14:creationId xmlns:p14="http://schemas.microsoft.com/office/powerpoint/2010/main" val="2143722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 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81EAD-0A1B-8B13-3A02-2FEB234F2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87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+mj-lt"/>
              </a:rPr>
              <a:t>События создаются на основе делегатов, но предназначены для других целей. События обеспечивают механизм подписки и уведомления, часто используются в контексте взаимодействия между объектами:</a:t>
            </a:r>
          </a:p>
          <a:p>
            <a:pPr marL="0" indent="0">
              <a:buNone/>
            </a:pPr>
            <a:r>
              <a:rPr lang="ru-RU" dirty="0">
                <a:latin typeface="+mj-lt"/>
              </a:rPr>
              <a:t>Если нужно уведомить другие части программы об изменении состояния или завершении какого-либо действия.</a:t>
            </a:r>
          </a:p>
          <a:p>
            <a:pPr marL="0" indent="0">
              <a:buNone/>
            </a:pPr>
            <a:r>
              <a:rPr lang="ru-RU" dirty="0">
                <a:latin typeface="+mj-lt"/>
              </a:rPr>
              <a:t>Используется в пользовательских интерфейсах (UI). Например, нажатие кнопки, изменение текста, перемещение мыши и т. д.</a:t>
            </a:r>
          </a:p>
        </p:txBody>
      </p:sp>
    </p:spTree>
    <p:extLst>
      <p:ext uri="{BB962C8B-B14F-4D97-AF65-F5344CB8AC3E}">
        <p14:creationId xmlns:p14="http://schemas.microsoft.com/office/powerpoint/2010/main" val="254900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21070-AC46-7DB8-B375-FE98A06C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 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81EAD-0A1B-8B13-3A02-2FEB234F2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87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Используйте делегаты, когда вам нужно передавать или сохранять методы для вызова в будущем. </a:t>
            </a:r>
          </a:p>
          <a:p>
            <a:pPr marL="0" indent="0">
              <a:buNone/>
            </a:pPr>
            <a:r>
              <a:rPr lang="ru-RU" dirty="0"/>
              <a:t>Используйте события, когда нужно уведомлять другие объекты о произошедших изменениях или действиях. </a:t>
            </a:r>
          </a:p>
          <a:p>
            <a:pPr marL="0" indent="0">
              <a:buNone/>
            </a:pPr>
            <a:endParaRPr lang="ru-RU" dirty="0">
              <a:latin typeface="+mj-lt"/>
            </a:endParaRPr>
          </a:p>
          <a:p>
            <a:pPr marL="0" indent="0">
              <a:buNone/>
            </a:pPr>
            <a:endParaRPr lang="ru-RU" dirty="0">
              <a:latin typeface="+mj-lt"/>
            </a:endParaRPr>
          </a:p>
          <a:p>
            <a:pPr marL="0" indent="0">
              <a:buNone/>
            </a:pPr>
            <a:r>
              <a:rPr lang="ru-RU" dirty="0">
                <a:latin typeface="+mj-lt"/>
              </a:rPr>
              <a:t>ВАЖНО: Вызвать срабатывания события может только объект владелец события.</a:t>
            </a:r>
          </a:p>
        </p:txBody>
      </p:sp>
    </p:spTree>
    <p:extLst>
      <p:ext uri="{BB962C8B-B14F-4D97-AF65-F5344CB8AC3E}">
        <p14:creationId xmlns:p14="http://schemas.microsoft.com/office/powerpoint/2010/main" val="4135043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793EC-8A7F-D6A3-9E5D-EA5CECC3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Часть 2 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25D3C8-23CF-23DE-C20E-CF8345F68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Проблема: Жестко связанный код и зависший интерфейс.</a:t>
            </a:r>
          </a:p>
          <a:p>
            <a:pPr marL="0" indent="0">
              <a:buNone/>
            </a:pPr>
            <a:r>
              <a:rPr lang="ru-RU" dirty="0"/>
              <a:t>Решение №1: Интерфейсы (гибкость).</a:t>
            </a:r>
          </a:p>
          <a:p>
            <a:pPr marL="0" indent="0">
              <a:buNone/>
            </a:pPr>
            <a:r>
              <a:rPr lang="ru-RU" dirty="0"/>
              <a:t>Решение №2: События (независимость).</a:t>
            </a:r>
          </a:p>
          <a:p>
            <a:pPr marL="0" indent="0">
              <a:buNone/>
            </a:pPr>
            <a:r>
              <a:rPr lang="ru-RU" dirty="0"/>
              <a:t>Решение №3: </a:t>
            </a:r>
            <a:r>
              <a:rPr lang="ru-RU" dirty="0" err="1"/>
              <a:t>async</a:t>
            </a:r>
            <a:r>
              <a:rPr lang="ru-RU" dirty="0"/>
              <a:t>/</a:t>
            </a:r>
            <a:r>
              <a:rPr lang="ru-RU" dirty="0" err="1"/>
              <a:t>await</a:t>
            </a:r>
            <a:r>
              <a:rPr lang="ru-RU" dirty="0"/>
              <a:t> (отзывчивость).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Цель: </a:t>
            </a:r>
            <a:r>
              <a:rPr lang="ru-RU" dirty="0"/>
              <a:t>Заставить кнопку «Запустить» выполнять долгий процесс и в реальном времени показывать прогресс на </a:t>
            </a:r>
            <a:r>
              <a:rPr lang="ru-RU" dirty="0" err="1"/>
              <a:t>ProgressBar</a:t>
            </a:r>
            <a:r>
              <a:rPr lang="ru-RU" dirty="0"/>
              <a:t> и в логе.</a:t>
            </a:r>
          </a:p>
        </p:txBody>
      </p:sp>
    </p:spTree>
    <p:extLst>
      <p:ext uri="{BB962C8B-B14F-4D97-AF65-F5344CB8AC3E}">
        <p14:creationId xmlns:p14="http://schemas.microsoft.com/office/powerpoint/2010/main" val="2716871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793EC-8A7F-D6A3-9E5D-EA5CECC3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 1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E4E4760-95CD-78D7-046B-547A45B49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2634" y="1690688"/>
            <a:ext cx="6226731" cy="5045091"/>
          </a:xfrm>
        </p:spPr>
      </p:pic>
    </p:spTree>
    <p:extLst>
      <p:ext uri="{BB962C8B-B14F-4D97-AF65-F5344CB8AC3E}">
        <p14:creationId xmlns:p14="http://schemas.microsoft.com/office/powerpoint/2010/main" val="598713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B03E8FCB-D33E-572D-22A8-DE63EF03C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485" y="352321"/>
            <a:ext cx="8229601" cy="6067860"/>
          </a:xfrm>
        </p:spPr>
      </p:pic>
    </p:spTree>
    <p:extLst>
      <p:ext uri="{BB962C8B-B14F-4D97-AF65-F5344CB8AC3E}">
        <p14:creationId xmlns:p14="http://schemas.microsoft.com/office/powerpoint/2010/main" val="3835308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C4FDF699-2675-C933-07B2-68645CC44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0459" y="1973249"/>
            <a:ext cx="8471082" cy="2911501"/>
          </a:xfrm>
        </p:spPr>
      </p:pic>
    </p:spTree>
    <p:extLst>
      <p:ext uri="{BB962C8B-B14F-4D97-AF65-F5344CB8AC3E}">
        <p14:creationId xmlns:p14="http://schemas.microsoft.com/office/powerpoint/2010/main" val="3755911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 descr="Изображение выглядит как текст, снимок экрана, программное обеспечение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5F39F8DA-F2F3-B86A-6590-055158DE4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038" y="1579396"/>
            <a:ext cx="7295923" cy="4897263"/>
          </a:xfr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1</a:t>
            </a:r>
          </a:p>
        </p:txBody>
      </p:sp>
    </p:spTree>
    <p:extLst>
      <p:ext uri="{BB962C8B-B14F-4D97-AF65-F5344CB8AC3E}">
        <p14:creationId xmlns:p14="http://schemas.microsoft.com/office/powerpoint/2010/main" val="2286173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1 - 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B882D4-0797-D30D-D5C1-ABA56A995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Наш код плохо спроектирован, а для пользователя он неработоспособен. Мы заблокировали поток UI и заставили ждать пользователя, не объяснив ему что случилось и не сломалась ли программа.</a:t>
            </a:r>
          </a:p>
        </p:txBody>
      </p:sp>
    </p:spTree>
    <p:extLst>
      <p:ext uri="{BB962C8B-B14F-4D97-AF65-F5344CB8AC3E}">
        <p14:creationId xmlns:p14="http://schemas.microsoft.com/office/powerpoint/2010/main" val="486405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B882D4-0797-D30D-D5C1-ABA56A995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Проблема: Наш </a:t>
            </a:r>
            <a:r>
              <a:rPr lang="ru-RU" b="1" dirty="0" err="1"/>
              <a:t>DataProcessor</a:t>
            </a:r>
            <a:r>
              <a:rPr lang="ru-RU" dirty="0"/>
              <a:t> прибит гвоздями к </a:t>
            </a:r>
            <a:r>
              <a:rPr lang="ru-RU" b="1" dirty="0" err="1"/>
              <a:t>ProgressBar</a:t>
            </a:r>
            <a:r>
              <a:rPr lang="ru-RU" dirty="0"/>
              <a:t>.</a:t>
            </a:r>
          </a:p>
          <a:p>
            <a:r>
              <a:rPr lang="ru-RU" dirty="0"/>
              <a:t>Решение: Заставить его говорить не с конкретным классом, а с абстрактной ролью «Тот, кто умеет сообщать о прогрессе».</a:t>
            </a:r>
          </a:p>
          <a:p>
            <a:r>
              <a:rPr lang="ru-RU" dirty="0"/>
              <a:t>Суть: Интерфейс — это контракт. Не важно кто ты, главное  подпишись здесь и выполняй обещания</a:t>
            </a:r>
          </a:p>
        </p:txBody>
      </p:sp>
    </p:spTree>
    <p:extLst>
      <p:ext uri="{BB962C8B-B14F-4D97-AF65-F5344CB8AC3E}">
        <p14:creationId xmlns:p14="http://schemas.microsoft.com/office/powerpoint/2010/main" val="669371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2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17A458E-16D1-D4AB-5ABC-2AD89AE5B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443" y="1579395"/>
            <a:ext cx="8460723" cy="3065175"/>
          </a:xfrm>
        </p:spPr>
      </p:pic>
    </p:spTree>
    <p:extLst>
      <p:ext uri="{BB962C8B-B14F-4D97-AF65-F5344CB8AC3E}">
        <p14:creationId xmlns:p14="http://schemas.microsoft.com/office/powerpoint/2010/main" val="2384188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2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2ED8695-BB3D-1DC4-171E-49B64E8638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772" y="1579396"/>
            <a:ext cx="11123552" cy="4647233"/>
          </a:xfrm>
        </p:spPr>
      </p:pic>
    </p:spTree>
    <p:extLst>
      <p:ext uri="{BB962C8B-B14F-4D97-AF65-F5344CB8AC3E}">
        <p14:creationId xmlns:p14="http://schemas.microsoft.com/office/powerpoint/2010/main" val="3523150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2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97D8223-D9BA-43E3-5E12-CEE2D34EC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609" y="1579396"/>
            <a:ext cx="10611401" cy="4734318"/>
          </a:xfrm>
        </p:spPr>
      </p:pic>
    </p:spTree>
    <p:extLst>
      <p:ext uri="{BB962C8B-B14F-4D97-AF65-F5344CB8AC3E}">
        <p14:creationId xmlns:p14="http://schemas.microsoft.com/office/powerpoint/2010/main" val="804565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2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F9F3308-E62E-B6A1-056A-12CA7C087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3628" y="1262911"/>
            <a:ext cx="10338838" cy="5341256"/>
          </a:xfrm>
        </p:spPr>
      </p:pic>
    </p:spTree>
    <p:extLst>
      <p:ext uri="{BB962C8B-B14F-4D97-AF65-F5344CB8AC3E}">
        <p14:creationId xmlns:p14="http://schemas.microsoft.com/office/powerpoint/2010/main" val="622362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2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AB605B5-6C69-3A1F-BF87-A83B57986E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2315" y="374138"/>
            <a:ext cx="9586914" cy="6230029"/>
          </a:xfrm>
        </p:spPr>
      </p:pic>
    </p:spTree>
    <p:extLst>
      <p:ext uri="{BB962C8B-B14F-4D97-AF65-F5344CB8AC3E}">
        <p14:creationId xmlns:p14="http://schemas.microsoft.com/office/powerpoint/2010/main" val="11935299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2</a:t>
            </a:r>
          </a:p>
        </p:txBody>
      </p:sp>
      <p:pic>
        <p:nvPicPr>
          <p:cNvPr id="11" name="Объект 10" descr="Изображение выглядит как текст, снимок экрана, программное обеспечение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F51CCC3B-0E0C-4045-9F74-CAE8D46E0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956" y="501989"/>
            <a:ext cx="8639044" cy="6119916"/>
          </a:xfrm>
        </p:spPr>
      </p:pic>
    </p:spTree>
    <p:extLst>
      <p:ext uri="{BB962C8B-B14F-4D97-AF65-F5344CB8AC3E}">
        <p14:creationId xmlns:p14="http://schemas.microsoft.com/office/powerpoint/2010/main" val="2603099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2 ввод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6DBF4-6B89-1257-3E22-84CA55225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Мы сделали код более гибким и тестируемым. Наш процессор больше не знает про WPF. Это огромная победа для архитектуры. </a:t>
            </a:r>
          </a:p>
          <a:p>
            <a:r>
              <a:rPr lang="ru-RU" dirty="0"/>
              <a:t>Но проблему пользователя мы не решили. Интерфейсы отвечают за структуру, а не за поведение во времени. Нам нужен другой инструмент</a:t>
            </a:r>
          </a:p>
        </p:txBody>
      </p:sp>
    </p:spTree>
    <p:extLst>
      <p:ext uri="{BB962C8B-B14F-4D97-AF65-F5344CB8AC3E}">
        <p14:creationId xmlns:p14="http://schemas.microsoft.com/office/powerpoint/2010/main" val="8392186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6DBF4-6B89-1257-3E22-84CA55225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Проблема: </a:t>
            </a:r>
            <a:r>
              <a:rPr lang="ru-RU" b="1" dirty="0" err="1"/>
              <a:t>DataProcessor</a:t>
            </a:r>
            <a:r>
              <a:rPr lang="ru-RU" dirty="0"/>
              <a:t> всё ещё сам решает, кому и когда сообщать. Он активно вызывает метод репортера.</a:t>
            </a:r>
          </a:p>
          <a:p>
            <a:r>
              <a:rPr lang="ru-RU" dirty="0"/>
              <a:t>Решение: Сделать процессор полностью независимым. Он должен просто «кричать в пустоту» о своих успехах, а кому интересно — пусть слушают.</a:t>
            </a:r>
          </a:p>
          <a:p>
            <a:r>
              <a:rPr lang="ru-RU" dirty="0"/>
              <a:t>Суть: Событие — это система оповещений. Издатель (</a:t>
            </a:r>
            <a:r>
              <a:rPr lang="ru-RU" dirty="0" err="1"/>
              <a:t>DataProcessor</a:t>
            </a:r>
            <a:r>
              <a:rPr lang="ru-RU" dirty="0"/>
              <a:t>) генерирует новость. Подписчики (</a:t>
            </a:r>
            <a:r>
              <a:rPr lang="ru-RU" dirty="0" err="1"/>
              <a:t>ProgressBar</a:t>
            </a:r>
            <a:r>
              <a:rPr lang="ru-RU" dirty="0"/>
              <a:t>, Логгер) её получают. Они ничего не знают друг о друге.</a:t>
            </a:r>
          </a:p>
        </p:txBody>
      </p:sp>
    </p:spTree>
    <p:extLst>
      <p:ext uri="{BB962C8B-B14F-4D97-AF65-F5344CB8AC3E}">
        <p14:creationId xmlns:p14="http://schemas.microsoft.com/office/powerpoint/2010/main" val="33941807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3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F8B8697-06B4-A3BF-F571-A12DC20BE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3942" y="57898"/>
            <a:ext cx="7512687" cy="6800102"/>
          </a:xfrm>
        </p:spPr>
      </p:pic>
    </p:spTree>
    <p:extLst>
      <p:ext uri="{BB962C8B-B14F-4D97-AF65-F5344CB8AC3E}">
        <p14:creationId xmlns:p14="http://schemas.microsoft.com/office/powerpoint/2010/main" val="42284870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3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75F2784-5FF7-8F61-5D83-D0CBC43EE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0442" y="123235"/>
            <a:ext cx="9388786" cy="6611530"/>
          </a:xfrm>
        </p:spPr>
      </p:pic>
    </p:spTree>
    <p:extLst>
      <p:ext uri="{BB962C8B-B14F-4D97-AF65-F5344CB8AC3E}">
        <p14:creationId xmlns:p14="http://schemas.microsoft.com/office/powerpoint/2010/main" val="3416941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3</a:t>
            </a:r>
          </a:p>
        </p:txBody>
      </p:sp>
      <p:pic>
        <p:nvPicPr>
          <p:cNvPr id="6" name="Объект 5" descr="Изображение выглядит как текст, снимок экрана, программное обеспечение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9E05FFCA-4633-4731-0B81-B93974699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02" y="447585"/>
            <a:ext cx="8827826" cy="6156582"/>
          </a:xfrm>
        </p:spPr>
      </p:pic>
    </p:spTree>
    <p:extLst>
      <p:ext uri="{BB962C8B-B14F-4D97-AF65-F5344CB8AC3E}">
        <p14:creationId xmlns:p14="http://schemas.microsoft.com/office/powerpoint/2010/main" val="4083871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560E495-562E-8C88-47BF-1B83A4592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253833"/>
            <a:ext cx="10515600" cy="1325563"/>
          </a:xfrm>
        </p:spPr>
        <p:txBody>
          <a:bodyPr/>
          <a:lstStyle/>
          <a:p>
            <a:r>
              <a:rPr lang="ru-RU" dirty="0"/>
              <a:t>Акт 3</a:t>
            </a:r>
            <a:r>
              <a:rPr lang="en-US" dirty="0"/>
              <a:t> </a:t>
            </a:r>
            <a:r>
              <a:rPr lang="en-US" dirty="0" err="1"/>
              <a:t>Vihod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9B6039-4AA6-FBAC-F8A7-184FD9A28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Наш процессор полностью отвязан от UI. А еще мы решили главную проблему — блокировку потока UI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7797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A573E-D308-DB6B-9C22-1D61E772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F56F14-CBF3-4B3B-9E18-62D4E9FCA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ru-RU" dirty="0"/>
              <a:t>Спасибо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</a:t>
            </a:r>
            <a:r>
              <a:rPr lang="ru-RU" dirty="0" err="1"/>
              <a:t>вниманиеСпасибо</a:t>
            </a:r>
            <a:r>
              <a:rPr lang="ru-RU" dirty="0"/>
              <a:t>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4846930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1068</Words>
  <Application>Microsoft Office PowerPoint</Application>
  <PresentationFormat>Широкоэкранный</PresentationFormat>
  <Paragraphs>83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2" baseType="lpstr">
      <vt:lpstr>Aptos</vt:lpstr>
      <vt:lpstr>Aptos Display</vt:lpstr>
      <vt:lpstr>Arial</vt:lpstr>
      <vt:lpstr>Тема Office</vt:lpstr>
      <vt:lpstr>Программирование и обработка графического интерфейса </vt:lpstr>
      <vt:lpstr>Dispatcher Thread – поток UI</vt:lpstr>
      <vt:lpstr>Dispatcher Thread – поток UI</vt:lpstr>
      <vt:lpstr>Dispatcher Thread – поток UI</vt:lpstr>
      <vt:lpstr>Интерфейсы</vt:lpstr>
      <vt:lpstr>Интерфейсы</vt:lpstr>
      <vt:lpstr>Интерфейсы</vt:lpstr>
      <vt:lpstr>Интерфейсы</vt:lpstr>
      <vt:lpstr>Делегаты</vt:lpstr>
      <vt:lpstr>Делегаты</vt:lpstr>
      <vt:lpstr>Делегаты</vt:lpstr>
      <vt:lpstr>Делегаты</vt:lpstr>
      <vt:lpstr>События</vt:lpstr>
      <vt:lpstr>События</vt:lpstr>
      <vt:lpstr>События</vt:lpstr>
      <vt:lpstr>Мини итог</vt:lpstr>
      <vt:lpstr>Мини итог</vt:lpstr>
      <vt:lpstr>Мини итог</vt:lpstr>
      <vt:lpstr>Часть 2 пример</vt:lpstr>
      <vt:lpstr>Акт 1</vt:lpstr>
      <vt:lpstr>Презентация PowerPoint</vt:lpstr>
      <vt:lpstr>Презентация PowerPoint</vt:lpstr>
      <vt:lpstr>Акт 1</vt:lpstr>
      <vt:lpstr>Акт 1 - вывод</vt:lpstr>
      <vt:lpstr>Акт 2</vt:lpstr>
      <vt:lpstr>Акт 2</vt:lpstr>
      <vt:lpstr>Акт 2</vt:lpstr>
      <vt:lpstr>Акт 2</vt:lpstr>
      <vt:lpstr>Акт 2</vt:lpstr>
      <vt:lpstr>Акт 2</vt:lpstr>
      <vt:lpstr>Акт 2</vt:lpstr>
      <vt:lpstr>Акт 2 ввод</vt:lpstr>
      <vt:lpstr>Акт 3</vt:lpstr>
      <vt:lpstr>Акт 3</vt:lpstr>
      <vt:lpstr>Акт 3</vt:lpstr>
      <vt:lpstr>Акт 3</vt:lpstr>
      <vt:lpstr>Акт 3 Vihod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Фоменко</dc:creator>
  <cp:lastModifiedBy>Алексей Фоменко</cp:lastModifiedBy>
  <cp:revision>2</cp:revision>
  <dcterms:created xsi:type="dcterms:W3CDTF">2025-09-29T18:09:23Z</dcterms:created>
  <dcterms:modified xsi:type="dcterms:W3CDTF">2025-09-29T19:36:10Z</dcterms:modified>
</cp:coreProperties>
</file>